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sldIdLst>
    <p:sldId id="256" r:id="rId2"/>
    <p:sldId id="257" r:id="rId3"/>
    <p:sldId id="265" r:id="rId4"/>
    <p:sldId id="266" r:id="rId5"/>
    <p:sldId id="267" r:id="rId6"/>
    <p:sldId id="268" r:id="rId7"/>
    <p:sldId id="258" r:id="rId8"/>
    <p:sldId id="259" r:id="rId9"/>
    <p:sldId id="260" r:id="rId10"/>
    <p:sldId id="261" r:id="rId11"/>
    <p:sldId id="262" r:id="rId12"/>
    <p:sldId id="263" r:id="rId13"/>
    <p:sldId id="26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9D02E85-3EA6-4DDD-9513-CF84AECEE58D}" type="datetimeFigureOut">
              <a:rPr lang="en-IN" smtClean="0"/>
              <a:t>13-01-2022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633DCA-A749-4874-AE03-0B21238B02E2}" type="slidenum">
              <a:rPr lang="en-IN" smtClean="0"/>
              <a:t>‹#›</a:t>
            </a:fld>
            <a:endParaRPr lang="en-IN"/>
          </a:p>
        </p:txBody>
      </p:sp>
    </p:spTree>
    <p:extLst>
      <p:ext uri="{BB962C8B-B14F-4D97-AF65-F5344CB8AC3E}">
        <p14:creationId xmlns:p14="http://schemas.microsoft.com/office/powerpoint/2010/main" val="2209645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D02E85-3EA6-4DDD-9513-CF84AECEE58D}" type="datetimeFigureOut">
              <a:rPr lang="en-IN" smtClean="0"/>
              <a:t>13-01-2022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633DCA-A749-4874-AE03-0B21238B02E2}" type="slidenum">
              <a:rPr lang="en-IN" smtClean="0"/>
              <a:t>‹#›</a:t>
            </a:fld>
            <a:endParaRPr lang="en-IN"/>
          </a:p>
        </p:txBody>
      </p:sp>
    </p:spTree>
    <p:extLst>
      <p:ext uri="{BB962C8B-B14F-4D97-AF65-F5344CB8AC3E}">
        <p14:creationId xmlns:p14="http://schemas.microsoft.com/office/powerpoint/2010/main" val="3493779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D02E85-3EA6-4DDD-9513-CF84AECEE58D}" type="datetimeFigureOut">
              <a:rPr lang="en-IN" smtClean="0"/>
              <a:t>13-01-2022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633DCA-A749-4874-AE03-0B21238B02E2}" type="slidenum">
              <a:rPr lang="en-IN" smtClean="0"/>
              <a:t>‹#›</a:t>
            </a:fld>
            <a:endParaRPr lang="en-IN"/>
          </a:p>
        </p:txBody>
      </p:sp>
    </p:spTree>
    <p:extLst>
      <p:ext uri="{BB962C8B-B14F-4D97-AF65-F5344CB8AC3E}">
        <p14:creationId xmlns:p14="http://schemas.microsoft.com/office/powerpoint/2010/main" val="1787365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9D02E85-3EA6-4DDD-9513-CF84AECEE58D}" type="datetimeFigureOut">
              <a:rPr lang="en-IN" smtClean="0"/>
              <a:t>13-01-2022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7633DCA-A749-4874-AE03-0B21238B02E2}" type="slidenum">
              <a:rPr lang="en-IN" smtClean="0"/>
              <a:t>‹#›</a:t>
            </a:fld>
            <a:endParaRPr lang="en-IN"/>
          </a:p>
        </p:txBody>
      </p:sp>
    </p:spTree>
    <p:extLst>
      <p:ext uri="{BB962C8B-B14F-4D97-AF65-F5344CB8AC3E}">
        <p14:creationId xmlns:p14="http://schemas.microsoft.com/office/powerpoint/2010/main" val="3597546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D02E85-3EA6-4DDD-9513-CF84AECEE58D}" type="datetimeFigureOut">
              <a:rPr lang="en-IN" smtClean="0"/>
              <a:t>13-01-2022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7633DCA-A749-4874-AE03-0B21238B02E2}" type="slidenum">
              <a:rPr lang="en-IN" smtClean="0"/>
              <a:t>‹#›</a:t>
            </a:fld>
            <a:endParaRPr lang="en-IN"/>
          </a:p>
        </p:txBody>
      </p:sp>
    </p:spTree>
    <p:extLst>
      <p:ext uri="{BB962C8B-B14F-4D97-AF65-F5344CB8AC3E}">
        <p14:creationId xmlns:p14="http://schemas.microsoft.com/office/powerpoint/2010/main" val="329260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D02E85-3EA6-4DDD-9513-CF84AECEE58D}" type="datetimeFigureOut">
              <a:rPr lang="en-IN" smtClean="0"/>
              <a:t>13-01-2022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7633DCA-A749-4874-AE03-0B21238B02E2}" type="slidenum">
              <a:rPr lang="en-IN" smtClean="0"/>
              <a:t>‹#›</a:t>
            </a:fld>
            <a:endParaRPr lang="en-IN"/>
          </a:p>
        </p:txBody>
      </p:sp>
    </p:spTree>
    <p:extLst>
      <p:ext uri="{BB962C8B-B14F-4D97-AF65-F5344CB8AC3E}">
        <p14:creationId xmlns:p14="http://schemas.microsoft.com/office/powerpoint/2010/main" val="3000024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D02E85-3EA6-4DDD-9513-CF84AECEE58D}" type="datetimeFigureOut">
              <a:rPr lang="en-IN" smtClean="0"/>
              <a:t>13-01-2022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7633DCA-A749-4874-AE03-0B21238B02E2}" type="slidenum">
              <a:rPr lang="en-IN" smtClean="0"/>
              <a:t>‹#›</a:t>
            </a:fld>
            <a:endParaRPr lang="en-IN"/>
          </a:p>
        </p:txBody>
      </p:sp>
    </p:spTree>
    <p:extLst>
      <p:ext uri="{BB962C8B-B14F-4D97-AF65-F5344CB8AC3E}">
        <p14:creationId xmlns:p14="http://schemas.microsoft.com/office/powerpoint/2010/main" val="1190615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D02E85-3EA6-4DDD-9513-CF84AECEE58D}" type="datetimeFigureOut">
              <a:rPr lang="en-IN" smtClean="0"/>
              <a:t>13-01-2022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7633DCA-A749-4874-AE03-0B21238B02E2}" type="slidenum">
              <a:rPr lang="en-IN" smtClean="0"/>
              <a:t>‹#›</a:t>
            </a:fld>
            <a:endParaRPr lang="en-IN"/>
          </a:p>
        </p:txBody>
      </p:sp>
    </p:spTree>
    <p:extLst>
      <p:ext uri="{BB962C8B-B14F-4D97-AF65-F5344CB8AC3E}">
        <p14:creationId xmlns:p14="http://schemas.microsoft.com/office/powerpoint/2010/main" val="3067695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D02E85-3EA6-4DDD-9513-CF84AECEE58D}" type="datetimeFigureOut">
              <a:rPr lang="en-IN" smtClean="0"/>
              <a:t>13-01-2022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7633DCA-A749-4874-AE03-0B21238B02E2}" type="slidenum">
              <a:rPr lang="en-IN" smtClean="0"/>
              <a:t>‹#›</a:t>
            </a:fld>
            <a:endParaRPr lang="en-IN"/>
          </a:p>
        </p:txBody>
      </p:sp>
    </p:spTree>
    <p:extLst>
      <p:ext uri="{BB962C8B-B14F-4D97-AF65-F5344CB8AC3E}">
        <p14:creationId xmlns:p14="http://schemas.microsoft.com/office/powerpoint/2010/main" val="2722700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D02E85-3EA6-4DDD-9513-CF84AECEE58D}" type="datetimeFigureOut">
              <a:rPr lang="en-IN" smtClean="0"/>
              <a:t>13-01-2022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7633DCA-A749-4874-AE03-0B21238B02E2}" type="slidenum">
              <a:rPr lang="en-IN" smtClean="0"/>
              <a:t>‹#›</a:t>
            </a:fld>
            <a:endParaRPr lang="en-IN"/>
          </a:p>
        </p:txBody>
      </p:sp>
    </p:spTree>
    <p:extLst>
      <p:ext uri="{BB962C8B-B14F-4D97-AF65-F5344CB8AC3E}">
        <p14:creationId xmlns:p14="http://schemas.microsoft.com/office/powerpoint/2010/main" val="3320209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D02E85-3EA6-4DDD-9513-CF84AECEE58D}" type="datetimeFigureOut">
              <a:rPr lang="en-IN" smtClean="0"/>
              <a:t>13-01-2022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7633DCA-A749-4874-AE03-0B21238B02E2}" type="slidenum">
              <a:rPr lang="en-IN" smtClean="0"/>
              <a:t>‹#›</a:t>
            </a:fld>
            <a:endParaRPr lang="en-IN"/>
          </a:p>
        </p:txBody>
      </p:sp>
    </p:spTree>
    <p:extLst>
      <p:ext uri="{BB962C8B-B14F-4D97-AF65-F5344CB8AC3E}">
        <p14:creationId xmlns:p14="http://schemas.microsoft.com/office/powerpoint/2010/main" val="18010809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D02E85-3EA6-4DDD-9513-CF84AECEE58D}" type="datetimeFigureOut">
              <a:rPr lang="en-IN" smtClean="0"/>
              <a:t>13-01-2022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7633DCA-A749-4874-AE03-0B21238B02E2}"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514700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D02E85-3EA6-4DDD-9513-CF84AECEE58D}" type="datetimeFigureOut">
              <a:rPr lang="en-IN" smtClean="0"/>
              <a:t>13-01-2022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7633DCA-A749-4874-AE03-0B21238B02E2}" type="slidenum">
              <a:rPr lang="en-IN" smtClean="0"/>
              <a:t>‹#›</a:t>
            </a:fld>
            <a:endParaRPr lang="en-IN"/>
          </a:p>
        </p:txBody>
      </p:sp>
    </p:spTree>
    <p:extLst>
      <p:ext uri="{BB962C8B-B14F-4D97-AF65-F5344CB8AC3E}">
        <p14:creationId xmlns:p14="http://schemas.microsoft.com/office/powerpoint/2010/main" val="37902982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9D02E85-3EA6-4DDD-9513-CF84AECEE58D}" type="datetimeFigureOut">
              <a:rPr lang="en-IN" smtClean="0"/>
              <a:t>13-01-2022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7633DCA-A749-4874-AE03-0B21238B02E2}" type="slidenum">
              <a:rPr lang="en-IN" smtClean="0"/>
              <a:t>‹#›</a:t>
            </a:fld>
            <a:endParaRPr lang="en-IN"/>
          </a:p>
        </p:txBody>
      </p:sp>
    </p:spTree>
    <p:extLst>
      <p:ext uri="{BB962C8B-B14F-4D97-AF65-F5344CB8AC3E}">
        <p14:creationId xmlns:p14="http://schemas.microsoft.com/office/powerpoint/2010/main" val="5363323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9D02E85-3EA6-4DDD-9513-CF84AECEE58D}" type="datetimeFigureOut">
              <a:rPr lang="en-IN" smtClean="0"/>
              <a:t>13-01-2022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7633DCA-A749-4874-AE03-0B21238B02E2}" type="slidenum">
              <a:rPr lang="en-IN" smtClean="0"/>
              <a:t>‹#›</a:t>
            </a:fld>
            <a:endParaRPr lang="en-IN"/>
          </a:p>
        </p:txBody>
      </p:sp>
    </p:spTree>
    <p:extLst>
      <p:ext uri="{BB962C8B-B14F-4D97-AF65-F5344CB8AC3E}">
        <p14:creationId xmlns:p14="http://schemas.microsoft.com/office/powerpoint/2010/main" val="3079945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D02E85-3EA6-4DDD-9513-CF84AECEE58D}" type="datetimeFigureOut">
              <a:rPr lang="en-IN" smtClean="0"/>
              <a:t>13-01-2022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633DCA-A749-4874-AE03-0B21238B02E2}" type="slidenum">
              <a:rPr lang="en-IN" smtClean="0"/>
              <a:t>‹#›</a:t>
            </a:fld>
            <a:endParaRPr lang="en-IN"/>
          </a:p>
        </p:txBody>
      </p:sp>
    </p:spTree>
    <p:extLst>
      <p:ext uri="{BB962C8B-B14F-4D97-AF65-F5344CB8AC3E}">
        <p14:creationId xmlns:p14="http://schemas.microsoft.com/office/powerpoint/2010/main" val="3662479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D02E85-3EA6-4DDD-9513-CF84AECEE58D}" type="datetimeFigureOut">
              <a:rPr lang="en-IN" smtClean="0"/>
              <a:t>13-01-2022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633DCA-A749-4874-AE03-0B21238B02E2}" type="slidenum">
              <a:rPr lang="en-IN" smtClean="0"/>
              <a:t>‹#›</a:t>
            </a:fld>
            <a:endParaRPr lang="en-IN"/>
          </a:p>
        </p:txBody>
      </p:sp>
    </p:spTree>
    <p:extLst>
      <p:ext uri="{BB962C8B-B14F-4D97-AF65-F5344CB8AC3E}">
        <p14:creationId xmlns:p14="http://schemas.microsoft.com/office/powerpoint/2010/main" val="876459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89D02E85-3EA6-4DDD-9513-CF84AECEE58D}" type="datetimeFigureOut">
              <a:rPr lang="en-IN" smtClean="0"/>
              <a:t>13-01-2022</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87633DCA-A749-4874-AE03-0B21238B02E2}" type="slidenum">
              <a:rPr lang="en-IN" smtClean="0"/>
              <a:t>‹#›</a:t>
            </a:fld>
            <a:endParaRPr lang="en-IN"/>
          </a:p>
        </p:txBody>
      </p:sp>
    </p:spTree>
    <p:extLst>
      <p:ext uri="{BB962C8B-B14F-4D97-AF65-F5344CB8AC3E}">
        <p14:creationId xmlns:p14="http://schemas.microsoft.com/office/powerpoint/2010/main" val="2744811068"/>
      </p:ext>
    </p:extLst>
  </p:cSld>
  <p:clrMap bg1="dk1" tx1="lt1" bg2="dk2" tx2="lt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7FEE-588C-4CC6-AD7B-435414D86B11}"/>
              </a:ext>
            </a:extLst>
          </p:cNvPr>
          <p:cNvSpPr>
            <a:spLocks noGrp="1"/>
          </p:cNvSpPr>
          <p:nvPr>
            <p:ph type="ctrTitle"/>
          </p:nvPr>
        </p:nvSpPr>
        <p:spPr/>
        <p:txBody>
          <a:bodyPr/>
          <a:lstStyle/>
          <a:p>
            <a:r>
              <a:rPr lang="en-US" dirty="0"/>
              <a:t>Java 8 Features</a:t>
            </a:r>
            <a:endParaRPr lang="en-IN" dirty="0"/>
          </a:p>
        </p:txBody>
      </p:sp>
    </p:spTree>
    <p:extLst>
      <p:ext uri="{BB962C8B-B14F-4D97-AF65-F5344CB8AC3E}">
        <p14:creationId xmlns:p14="http://schemas.microsoft.com/office/powerpoint/2010/main" val="2676782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CB8D8E7-68C9-4AC8-BFEC-804D18645B9E}"/>
              </a:ext>
            </a:extLst>
          </p:cNvPr>
          <p:cNvSpPr txBox="1"/>
          <p:nvPr/>
        </p:nvSpPr>
        <p:spPr>
          <a:xfrm>
            <a:off x="1731819" y="706582"/>
            <a:ext cx="7855527" cy="2031325"/>
          </a:xfrm>
          <a:prstGeom prst="rect">
            <a:avLst/>
          </a:prstGeom>
          <a:noFill/>
        </p:spPr>
        <p:txBody>
          <a:bodyPr wrap="square" rtlCol="0">
            <a:spAutoFit/>
          </a:bodyPr>
          <a:lstStyle/>
          <a:p>
            <a:r>
              <a:rPr lang="en-US" dirty="0">
                <a:solidFill>
                  <a:srgbClr val="FFFF00"/>
                </a:solidFill>
              </a:rPr>
              <a:t>Java 8 Features</a:t>
            </a:r>
          </a:p>
          <a:p>
            <a:endParaRPr lang="en-US" dirty="0"/>
          </a:p>
          <a:p>
            <a:r>
              <a:rPr lang="en-US" dirty="0">
                <a:solidFill>
                  <a:srgbClr val="FFC000"/>
                </a:solidFill>
                <a:latin typeface="Arial" panose="020B0604020202020204" pitchFamily="34" charset="0"/>
                <a:cs typeface="Arial" panose="020B0604020202020204" pitchFamily="34" charset="0"/>
              </a:rPr>
              <a:t>Oracle released a new version of Java as Java 8 in March 18, 2014. It was a revolutionary release of the Java for software development platform. It includes various upgrades to the Java programming, JVM, Tools and libraries</a:t>
            </a:r>
            <a:r>
              <a:rPr lang="en-US" dirty="0">
                <a:latin typeface="Arial" panose="020B0604020202020204" pitchFamily="34" charset="0"/>
                <a:cs typeface="Arial" panose="020B0604020202020204" pitchFamily="34" charset="0"/>
              </a:rPr>
              <a:t>.</a:t>
            </a:r>
          </a:p>
          <a:p>
            <a:endParaRPr lang="en-IN" dirty="0"/>
          </a:p>
        </p:txBody>
      </p:sp>
      <p:sp>
        <p:nvSpPr>
          <p:cNvPr id="5" name="TextBox 4">
            <a:extLst>
              <a:ext uri="{FF2B5EF4-FFF2-40B4-BE49-F238E27FC236}">
                <a16:creationId xmlns:a16="http://schemas.microsoft.com/office/drawing/2014/main" id="{8613624C-14D2-40D7-955B-E1BAAA89A09F}"/>
              </a:ext>
            </a:extLst>
          </p:cNvPr>
          <p:cNvSpPr txBox="1"/>
          <p:nvPr/>
        </p:nvSpPr>
        <p:spPr>
          <a:xfrm>
            <a:off x="762000" y="2556163"/>
            <a:ext cx="5846618" cy="3416320"/>
          </a:xfrm>
          <a:prstGeom prst="rect">
            <a:avLst/>
          </a:prstGeom>
          <a:noFill/>
        </p:spPr>
        <p:txBody>
          <a:bodyPr wrap="square" rtlCol="0">
            <a:spAutoFit/>
          </a:bodyPr>
          <a:lstStyle/>
          <a:p>
            <a:r>
              <a:rPr lang="en-IN" dirty="0">
                <a:solidFill>
                  <a:srgbClr val="FFFF00"/>
                </a:solidFill>
                <a:latin typeface="Arial" panose="020B0604020202020204" pitchFamily="34" charset="0"/>
                <a:cs typeface="Arial" panose="020B0604020202020204" pitchFamily="34" charset="0"/>
              </a:rPr>
              <a:t>Java 8 provides following features for Java Programming:</a:t>
            </a:r>
          </a:p>
          <a:p>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Lambda expressions,                                         </a:t>
            </a: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Method references,</a:t>
            </a: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Functional interfaces,</a:t>
            </a: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Stream API,</a:t>
            </a: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Default methods,</a:t>
            </a: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Base64 Encode Decode,</a:t>
            </a: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Static methods in interface,</a:t>
            </a:r>
          </a:p>
          <a:p>
            <a:endParaRPr lang="en-IN"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3498C576-93F3-41E7-BCCC-2EE172938AD9}"/>
              </a:ext>
            </a:extLst>
          </p:cNvPr>
          <p:cNvSpPr txBox="1"/>
          <p:nvPr/>
        </p:nvSpPr>
        <p:spPr>
          <a:xfrm>
            <a:off x="6816437" y="3768253"/>
            <a:ext cx="4849090" cy="2585323"/>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Optional class,</a:t>
            </a: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Collectors class,</a:t>
            </a:r>
          </a:p>
          <a:p>
            <a:pPr marL="285750" indent="-285750">
              <a:buFont typeface="Arial" panose="020B0604020202020204" pitchFamily="34" charset="0"/>
              <a:buChar char="•"/>
            </a:pPr>
            <a:r>
              <a:rPr lang="en-IN" dirty="0" err="1">
                <a:latin typeface="Arial" panose="020B0604020202020204" pitchFamily="34" charset="0"/>
                <a:cs typeface="Arial" panose="020B0604020202020204" pitchFamily="34" charset="0"/>
              </a:rPr>
              <a:t>ForEach</a:t>
            </a:r>
            <a:r>
              <a:rPr lang="en-IN" dirty="0">
                <a:latin typeface="Arial" panose="020B0604020202020204" pitchFamily="34" charset="0"/>
                <a:cs typeface="Arial" panose="020B0604020202020204" pitchFamily="34" charset="0"/>
              </a:rPr>
              <a:t>() method,</a:t>
            </a:r>
          </a:p>
          <a:p>
            <a:pPr marL="285750" indent="-285750">
              <a:buFont typeface="Arial" panose="020B0604020202020204" pitchFamily="34" charset="0"/>
              <a:buChar char="•"/>
            </a:pPr>
            <a:r>
              <a:rPr lang="en-IN" dirty="0" err="1">
                <a:latin typeface="Arial" panose="020B0604020202020204" pitchFamily="34" charset="0"/>
                <a:cs typeface="Arial" panose="020B0604020202020204" pitchFamily="34" charset="0"/>
              </a:rPr>
              <a:t>Nashorn</a:t>
            </a:r>
            <a:r>
              <a:rPr lang="en-IN" dirty="0">
                <a:latin typeface="Arial" panose="020B0604020202020204" pitchFamily="34" charset="0"/>
                <a:cs typeface="Arial" panose="020B0604020202020204" pitchFamily="34" charset="0"/>
              </a:rPr>
              <a:t> JavaScript Engine,</a:t>
            </a: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Parallel Array Sorting,</a:t>
            </a: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Type and </a:t>
            </a:r>
            <a:r>
              <a:rPr lang="en-IN" dirty="0" err="1">
                <a:latin typeface="Arial" panose="020B0604020202020204" pitchFamily="34" charset="0"/>
                <a:cs typeface="Arial" panose="020B0604020202020204" pitchFamily="34" charset="0"/>
              </a:rPr>
              <a:t>Repating</a:t>
            </a:r>
            <a:r>
              <a:rPr lang="en-IN" dirty="0">
                <a:latin typeface="Arial" panose="020B0604020202020204" pitchFamily="34" charset="0"/>
                <a:cs typeface="Arial" panose="020B0604020202020204" pitchFamily="34" charset="0"/>
              </a:rPr>
              <a:t> Annotations,</a:t>
            </a: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IO Enhancements,</a:t>
            </a: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Concurrency Enhancements,</a:t>
            </a: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JDBC Enhancements etc</a:t>
            </a:r>
            <a:endParaRPr lang="en-IN" dirty="0"/>
          </a:p>
        </p:txBody>
      </p:sp>
    </p:spTree>
    <p:extLst>
      <p:ext uri="{BB962C8B-B14F-4D97-AF65-F5344CB8AC3E}">
        <p14:creationId xmlns:p14="http://schemas.microsoft.com/office/powerpoint/2010/main" val="4289676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23016DA-5EEC-4C6B-9A5F-82DD8C210E3E}"/>
              </a:ext>
            </a:extLst>
          </p:cNvPr>
          <p:cNvSpPr txBox="1"/>
          <p:nvPr/>
        </p:nvSpPr>
        <p:spPr>
          <a:xfrm>
            <a:off x="1454727" y="678874"/>
            <a:ext cx="9005455" cy="1477328"/>
          </a:xfrm>
          <a:prstGeom prst="rect">
            <a:avLst/>
          </a:prstGeom>
          <a:noFill/>
        </p:spPr>
        <p:txBody>
          <a:bodyPr wrap="square" rtlCol="0">
            <a:spAutoFit/>
          </a:bodyPr>
          <a:lstStyle/>
          <a:p>
            <a:r>
              <a:rPr lang="en-US" dirty="0">
                <a:solidFill>
                  <a:srgbClr val="FFFF00"/>
                </a:solidFill>
                <a:latin typeface="Arial" panose="020B0604020202020204" pitchFamily="34" charset="0"/>
                <a:cs typeface="Arial" panose="020B0604020202020204" pitchFamily="34" charset="0"/>
              </a:rPr>
              <a:t>Lambda Expressions</a:t>
            </a:r>
          </a:p>
          <a:p>
            <a:r>
              <a:rPr lang="en-US" dirty="0">
                <a:latin typeface="Arial" panose="020B0604020202020204" pitchFamily="34" charset="0"/>
                <a:cs typeface="Arial" panose="020B0604020202020204" pitchFamily="34" charset="0"/>
              </a:rPr>
              <a:t>Lambda expression helps us to write our code in functional style. It provides a clear and concise way to implement SAM interface(Single Abstract Method) by using an expression. It is very useful in collection library in which it helps to iterate, filter and extract data</a:t>
            </a:r>
            <a:r>
              <a:rPr lang="en-US" dirty="0"/>
              <a:t>.</a:t>
            </a:r>
            <a:endParaRPr lang="en-IN" dirty="0"/>
          </a:p>
        </p:txBody>
      </p:sp>
      <p:sp>
        <p:nvSpPr>
          <p:cNvPr id="5" name="TextBox 4">
            <a:extLst>
              <a:ext uri="{FF2B5EF4-FFF2-40B4-BE49-F238E27FC236}">
                <a16:creationId xmlns:a16="http://schemas.microsoft.com/office/drawing/2014/main" id="{5473DE06-CD21-423A-BA9A-2011F12A876E}"/>
              </a:ext>
            </a:extLst>
          </p:cNvPr>
          <p:cNvSpPr txBox="1"/>
          <p:nvPr/>
        </p:nvSpPr>
        <p:spPr>
          <a:xfrm>
            <a:off x="1454727" y="2563092"/>
            <a:ext cx="8728364" cy="1477328"/>
          </a:xfrm>
          <a:prstGeom prst="rect">
            <a:avLst/>
          </a:prstGeom>
          <a:noFill/>
        </p:spPr>
        <p:txBody>
          <a:bodyPr wrap="square" rtlCol="0">
            <a:spAutoFit/>
          </a:bodyPr>
          <a:lstStyle/>
          <a:p>
            <a:r>
              <a:rPr lang="en-US" dirty="0">
                <a:solidFill>
                  <a:srgbClr val="FFFF00"/>
                </a:solidFill>
                <a:latin typeface="Arial" panose="020B0604020202020204" pitchFamily="34" charset="0"/>
                <a:cs typeface="Arial" panose="020B0604020202020204" pitchFamily="34" charset="0"/>
              </a:rPr>
              <a:t>Method References</a:t>
            </a:r>
          </a:p>
          <a:p>
            <a:r>
              <a:rPr lang="en-US" dirty="0">
                <a:latin typeface="Arial" panose="020B0604020202020204" pitchFamily="34" charset="0"/>
                <a:cs typeface="Arial" panose="020B0604020202020204" pitchFamily="34" charset="0"/>
              </a:rPr>
              <a:t>Java 8 Method reference is used to refer method of functional interface . It is compact and easy form of lambda expression. Each time when you are using lambda expression to just referring a method, you can replace your lambda expression with method reference.</a:t>
            </a:r>
            <a:endParaRPr lang="en-IN"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3256D24-5787-4924-8DFB-30D0466EA876}"/>
              </a:ext>
            </a:extLst>
          </p:cNvPr>
          <p:cNvSpPr txBox="1"/>
          <p:nvPr/>
        </p:nvSpPr>
        <p:spPr>
          <a:xfrm>
            <a:off x="1454727" y="4627418"/>
            <a:ext cx="9795164" cy="1200329"/>
          </a:xfrm>
          <a:prstGeom prst="rect">
            <a:avLst/>
          </a:prstGeom>
          <a:noFill/>
        </p:spPr>
        <p:txBody>
          <a:bodyPr wrap="square" rtlCol="0">
            <a:spAutoFit/>
          </a:bodyPr>
          <a:lstStyle/>
          <a:p>
            <a:r>
              <a:rPr lang="en-US" dirty="0">
                <a:solidFill>
                  <a:srgbClr val="FFFF00"/>
                </a:solidFill>
                <a:latin typeface="Arial" panose="020B0604020202020204" pitchFamily="34" charset="0"/>
                <a:cs typeface="Arial" panose="020B0604020202020204" pitchFamily="34" charset="0"/>
              </a:rPr>
              <a:t>Functional Interface</a:t>
            </a:r>
          </a:p>
          <a:p>
            <a:r>
              <a:rPr lang="en-US" dirty="0">
                <a:latin typeface="Arial" panose="020B0604020202020204" pitchFamily="34" charset="0"/>
                <a:cs typeface="Arial" panose="020B0604020202020204" pitchFamily="34" charset="0"/>
              </a:rPr>
              <a:t>An Interface that contains only one abstract method is known as functional interface. It can have any number of default and static methods. It can also declare methods of object class.</a:t>
            </a:r>
          </a:p>
          <a:p>
            <a:r>
              <a:rPr lang="en-US" dirty="0">
                <a:latin typeface="Arial" panose="020B0604020202020204" pitchFamily="34" charset="0"/>
                <a:cs typeface="Arial" panose="020B0604020202020204" pitchFamily="34" charset="0"/>
              </a:rPr>
              <a:t>Functional interfaces are also known as Single Abstract Method Interfaces (SAM Interfaces).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60274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0F48DF-F903-4EC7-B9E9-CEAB69458861}"/>
              </a:ext>
            </a:extLst>
          </p:cNvPr>
          <p:cNvSpPr txBox="1"/>
          <p:nvPr/>
        </p:nvSpPr>
        <p:spPr>
          <a:xfrm>
            <a:off x="1440873" y="581891"/>
            <a:ext cx="7633854" cy="1323439"/>
          </a:xfrm>
          <a:prstGeom prst="rect">
            <a:avLst/>
          </a:prstGeom>
          <a:noFill/>
        </p:spPr>
        <p:txBody>
          <a:bodyPr wrap="square" rtlCol="0">
            <a:spAutoFit/>
          </a:bodyPr>
          <a:lstStyle/>
          <a:p>
            <a:r>
              <a:rPr lang="en-US" sz="1600" dirty="0">
                <a:solidFill>
                  <a:srgbClr val="FFFF00"/>
                </a:solidFill>
                <a:latin typeface="Arial" panose="020B0604020202020204" pitchFamily="34" charset="0"/>
                <a:cs typeface="Arial" panose="020B0604020202020204" pitchFamily="34" charset="0"/>
              </a:rPr>
              <a:t>Optional</a:t>
            </a:r>
          </a:p>
          <a:p>
            <a:r>
              <a:rPr lang="en-US" sz="1600" dirty="0">
                <a:latin typeface="Arial" panose="020B0604020202020204" pitchFamily="34" charset="0"/>
                <a:cs typeface="Arial" panose="020B0604020202020204" pitchFamily="34" charset="0"/>
              </a:rPr>
              <a:t>Java introduced a new class Optional in Java 8. It is a public final class which is used to deal with </a:t>
            </a:r>
            <a:r>
              <a:rPr lang="en-US" sz="1600" dirty="0" err="1">
                <a:latin typeface="Arial" panose="020B0604020202020204" pitchFamily="34" charset="0"/>
                <a:cs typeface="Arial" panose="020B0604020202020204" pitchFamily="34" charset="0"/>
              </a:rPr>
              <a:t>NullPointerException</a:t>
            </a:r>
            <a:r>
              <a:rPr lang="en-US" sz="1600" dirty="0">
                <a:latin typeface="Arial" panose="020B0604020202020204" pitchFamily="34" charset="0"/>
                <a:cs typeface="Arial" panose="020B0604020202020204" pitchFamily="34" charset="0"/>
              </a:rPr>
              <a:t> in Java application. We must import </a:t>
            </a:r>
            <a:r>
              <a:rPr lang="en-US" sz="1600" dirty="0" err="1">
                <a:latin typeface="Arial" panose="020B0604020202020204" pitchFamily="34" charset="0"/>
                <a:cs typeface="Arial" panose="020B0604020202020204" pitchFamily="34" charset="0"/>
              </a:rPr>
              <a:t>java.util</a:t>
            </a:r>
            <a:r>
              <a:rPr lang="en-US" sz="1600" dirty="0">
                <a:latin typeface="Arial" panose="020B0604020202020204" pitchFamily="34" charset="0"/>
                <a:cs typeface="Arial" panose="020B0604020202020204" pitchFamily="34" charset="0"/>
              </a:rPr>
              <a:t> package to use this class. It provides methods to check the presence of value for particular variable.</a:t>
            </a:r>
            <a:endParaRPr lang="en-IN" sz="16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D114A2C-181A-4F62-97EA-DE7DEFE348E3}"/>
              </a:ext>
            </a:extLst>
          </p:cNvPr>
          <p:cNvSpPr txBox="1"/>
          <p:nvPr/>
        </p:nvSpPr>
        <p:spPr>
          <a:xfrm>
            <a:off x="1440873" y="2205941"/>
            <a:ext cx="7633854" cy="2031325"/>
          </a:xfrm>
          <a:prstGeom prst="rect">
            <a:avLst/>
          </a:prstGeom>
          <a:noFill/>
        </p:spPr>
        <p:txBody>
          <a:bodyPr wrap="square" rtlCol="0">
            <a:spAutoFit/>
          </a:bodyPr>
          <a:lstStyle/>
          <a:p>
            <a:r>
              <a:rPr lang="en-US" dirty="0" err="1">
                <a:solidFill>
                  <a:srgbClr val="FFFF00"/>
                </a:solidFill>
                <a:latin typeface="Arial" panose="020B0604020202020204" pitchFamily="34" charset="0"/>
                <a:cs typeface="Arial" panose="020B0604020202020204" pitchFamily="34" charset="0"/>
              </a:rPr>
              <a:t>forEach</a:t>
            </a:r>
            <a:endParaRPr lang="en-US" dirty="0">
              <a:solidFill>
                <a:srgbClr val="FFFF00"/>
              </a:solidFill>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Java provides a new method </a:t>
            </a:r>
            <a:r>
              <a:rPr lang="en-US" dirty="0" err="1">
                <a:latin typeface="Arial" panose="020B0604020202020204" pitchFamily="34" charset="0"/>
                <a:cs typeface="Arial" panose="020B0604020202020204" pitchFamily="34" charset="0"/>
              </a:rPr>
              <a:t>forEach</a:t>
            </a:r>
            <a:r>
              <a:rPr lang="en-US" dirty="0">
                <a:latin typeface="Arial" panose="020B0604020202020204" pitchFamily="34" charset="0"/>
                <a:cs typeface="Arial" panose="020B0604020202020204" pitchFamily="34" charset="0"/>
              </a:rPr>
              <a:t>() to iterate the elements. It is defined in </a:t>
            </a:r>
            <a:r>
              <a:rPr lang="en-US" dirty="0" err="1">
                <a:latin typeface="Arial" panose="020B0604020202020204" pitchFamily="34" charset="0"/>
                <a:cs typeface="Arial" panose="020B0604020202020204" pitchFamily="34" charset="0"/>
              </a:rPr>
              <a:t>Iterable</a:t>
            </a:r>
            <a:r>
              <a:rPr lang="en-US" dirty="0">
                <a:latin typeface="Arial" panose="020B0604020202020204" pitchFamily="34" charset="0"/>
                <a:cs typeface="Arial" panose="020B0604020202020204" pitchFamily="34" charset="0"/>
              </a:rPr>
              <a:t> and Stream interfaces.</a:t>
            </a:r>
          </a:p>
          <a:p>
            <a:r>
              <a:rPr lang="en-US" dirty="0">
                <a:latin typeface="Arial" panose="020B0604020202020204" pitchFamily="34" charset="0"/>
                <a:cs typeface="Arial" panose="020B0604020202020204" pitchFamily="34" charset="0"/>
              </a:rPr>
              <a:t>It is a default method defined in the </a:t>
            </a:r>
            <a:r>
              <a:rPr lang="en-US" dirty="0" err="1">
                <a:latin typeface="Arial" panose="020B0604020202020204" pitchFamily="34" charset="0"/>
                <a:cs typeface="Arial" panose="020B0604020202020204" pitchFamily="34" charset="0"/>
              </a:rPr>
              <a:t>Iterable</a:t>
            </a:r>
            <a:r>
              <a:rPr lang="en-US" dirty="0">
                <a:latin typeface="Arial" panose="020B0604020202020204" pitchFamily="34" charset="0"/>
                <a:cs typeface="Arial" panose="020B0604020202020204" pitchFamily="34" charset="0"/>
              </a:rPr>
              <a:t> interface. Collection classes which extends </a:t>
            </a:r>
            <a:r>
              <a:rPr lang="en-US" dirty="0" err="1">
                <a:latin typeface="Arial" panose="020B0604020202020204" pitchFamily="34" charset="0"/>
                <a:cs typeface="Arial" panose="020B0604020202020204" pitchFamily="34" charset="0"/>
              </a:rPr>
              <a:t>Iterable</a:t>
            </a:r>
            <a:r>
              <a:rPr lang="en-US" dirty="0">
                <a:latin typeface="Arial" panose="020B0604020202020204" pitchFamily="34" charset="0"/>
                <a:cs typeface="Arial" panose="020B0604020202020204" pitchFamily="34" charset="0"/>
              </a:rPr>
              <a:t> interface can use </a:t>
            </a:r>
            <a:r>
              <a:rPr lang="en-US" dirty="0" err="1">
                <a:latin typeface="Arial" panose="020B0604020202020204" pitchFamily="34" charset="0"/>
                <a:cs typeface="Arial" panose="020B0604020202020204" pitchFamily="34" charset="0"/>
              </a:rPr>
              <a:t>forEach</a:t>
            </a:r>
            <a:r>
              <a:rPr lang="en-US" dirty="0">
                <a:latin typeface="Arial" panose="020B0604020202020204" pitchFamily="34" charset="0"/>
                <a:cs typeface="Arial" panose="020B0604020202020204" pitchFamily="34" charset="0"/>
              </a:rPr>
              <a:t>() method to iterate elements.</a:t>
            </a:r>
          </a:p>
          <a:p>
            <a:endParaRPr lang="en-US"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7B14D2F-C9B5-434B-8252-48D3C6404026}"/>
              </a:ext>
            </a:extLst>
          </p:cNvPr>
          <p:cNvSpPr txBox="1"/>
          <p:nvPr/>
        </p:nvSpPr>
        <p:spPr>
          <a:xfrm>
            <a:off x="1440873" y="4452525"/>
            <a:ext cx="5167745" cy="1200329"/>
          </a:xfrm>
          <a:prstGeom prst="rect">
            <a:avLst/>
          </a:prstGeom>
          <a:noFill/>
        </p:spPr>
        <p:txBody>
          <a:bodyPr wrap="square" rtlCol="0">
            <a:spAutoFit/>
          </a:bodyPr>
          <a:lstStyle/>
          <a:p>
            <a:r>
              <a:rPr lang="en-US" dirty="0">
                <a:solidFill>
                  <a:srgbClr val="FFFF00"/>
                </a:solidFill>
                <a:latin typeface="Arial" panose="020B0604020202020204" pitchFamily="34" charset="0"/>
                <a:cs typeface="Arial" panose="020B0604020202020204" pitchFamily="34" charset="0"/>
              </a:rPr>
              <a:t>Date/Time API</a:t>
            </a:r>
          </a:p>
          <a:p>
            <a:r>
              <a:rPr lang="en-US" dirty="0">
                <a:latin typeface="Arial" panose="020B0604020202020204" pitchFamily="34" charset="0"/>
                <a:cs typeface="Arial" panose="020B0604020202020204" pitchFamily="34" charset="0"/>
              </a:rPr>
              <a:t>Java has introduced a new Date and Time API since Java 8. The </a:t>
            </a:r>
            <a:r>
              <a:rPr lang="en-US" dirty="0" err="1">
                <a:latin typeface="Arial" panose="020B0604020202020204" pitchFamily="34" charset="0"/>
                <a:cs typeface="Arial" panose="020B0604020202020204" pitchFamily="34" charset="0"/>
              </a:rPr>
              <a:t>java.time</a:t>
            </a:r>
            <a:r>
              <a:rPr lang="en-US" dirty="0">
                <a:latin typeface="Arial" panose="020B0604020202020204" pitchFamily="34" charset="0"/>
                <a:cs typeface="Arial" panose="020B0604020202020204" pitchFamily="34" charset="0"/>
              </a:rPr>
              <a:t> package contains Java 8 Date and Time classes.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2472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59B8F4-192E-4DB7-898D-84902DB7EC30}"/>
              </a:ext>
            </a:extLst>
          </p:cNvPr>
          <p:cNvSpPr txBox="1"/>
          <p:nvPr/>
        </p:nvSpPr>
        <p:spPr>
          <a:xfrm>
            <a:off x="1842655" y="623456"/>
            <a:ext cx="7578436" cy="1477328"/>
          </a:xfrm>
          <a:prstGeom prst="rect">
            <a:avLst/>
          </a:prstGeom>
          <a:noFill/>
        </p:spPr>
        <p:txBody>
          <a:bodyPr wrap="square" rtlCol="0">
            <a:spAutoFit/>
          </a:bodyPr>
          <a:lstStyle/>
          <a:p>
            <a:r>
              <a:rPr lang="en-US" dirty="0">
                <a:solidFill>
                  <a:srgbClr val="FFFF00"/>
                </a:solidFill>
                <a:latin typeface="Arial" panose="020B0604020202020204" pitchFamily="34" charset="0"/>
                <a:cs typeface="Arial" panose="020B0604020202020204" pitchFamily="34" charset="0"/>
              </a:rPr>
              <a:t>Default Methods</a:t>
            </a:r>
          </a:p>
          <a:p>
            <a:r>
              <a:rPr lang="en-US" dirty="0">
                <a:latin typeface="Arial" panose="020B0604020202020204" pitchFamily="34" charset="0"/>
                <a:cs typeface="Arial" panose="020B0604020202020204" pitchFamily="34" charset="0"/>
              </a:rPr>
              <a:t>Java provides a facility to create default methods inside the interface. Methods which are defined inside the interface and tagged with default keyword are known as default methods. These methods are non-abstract methods and can have method body.</a:t>
            </a:r>
            <a:endParaRPr lang="en-IN"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FE715AAB-5317-4995-8DEC-3C73A960A6EB}"/>
              </a:ext>
            </a:extLst>
          </p:cNvPr>
          <p:cNvSpPr txBox="1"/>
          <p:nvPr/>
        </p:nvSpPr>
        <p:spPr>
          <a:xfrm>
            <a:off x="1884218" y="2632364"/>
            <a:ext cx="7716981" cy="1477328"/>
          </a:xfrm>
          <a:prstGeom prst="rect">
            <a:avLst/>
          </a:prstGeom>
          <a:noFill/>
        </p:spPr>
        <p:txBody>
          <a:bodyPr wrap="square" rtlCol="0">
            <a:spAutoFit/>
          </a:bodyPr>
          <a:lstStyle/>
          <a:p>
            <a:r>
              <a:rPr lang="en-IN" dirty="0" err="1">
                <a:solidFill>
                  <a:srgbClr val="FFFF00"/>
                </a:solidFill>
                <a:latin typeface="Arial" panose="020B0604020202020204" pitchFamily="34" charset="0"/>
                <a:cs typeface="Arial" panose="020B0604020202020204" pitchFamily="34" charset="0"/>
              </a:rPr>
              <a:t>Nashorn</a:t>
            </a:r>
            <a:r>
              <a:rPr lang="en-IN" dirty="0">
                <a:solidFill>
                  <a:srgbClr val="FFFF00"/>
                </a:solidFill>
                <a:latin typeface="Arial" panose="020B0604020202020204" pitchFamily="34" charset="0"/>
                <a:cs typeface="Arial" panose="020B0604020202020204" pitchFamily="34" charset="0"/>
              </a:rPr>
              <a:t> JavaScript Engine</a:t>
            </a:r>
          </a:p>
          <a:p>
            <a:r>
              <a:rPr lang="en-IN" dirty="0" err="1">
                <a:latin typeface="Arial" panose="020B0604020202020204" pitchFamily="34" charset="0"/>
                <a:cs typeface="Arial" panose="020B0604020202020204" pitchFamily="34" charset="0"/>
              </a:rPr>
              <a:t>Nashorn</a:t>
            </a:r>
            <a:r>
              <a:rPr lang="en-IN" dirty="0">
                <a:latin typeface="Arial" panose="020B0604020202020204" pitchFamily="34" charset="0"/>
                <a:cs typeface="Arial" panose="020B0604020202020204" pitchFamily="34" charset="0"/>
              </a:rPr>
              <a:t> is a JavaScript engine. It is used to execute JavaScript code dynamically at JVM (Java Virtual Machine). Java provides a command-line tool </a:t>
            </a:r>
            <a:r>
              <a:rPr lang="en-IN" dirty="0" err="1">
                <a:latin typeface="Arial" panose="020B0604020202020204" pitchFamily="34" charset="0"/>
                <a:cs typeface="Arial" panose="020B0604020202020204" pitchFamily="34" charset="0"/>
              </a:rPr>
              <a:t>jjs</a:t>
            </a:r>
            <a:r>
              <a:rPr lang="en-IN" dirty="0">
                <a:latin typeface="Arial" panose="020B0604020202020204" pitchFamily="34" charset="0"/>
                <a:cs typeface="Arial" panose="020B0604020202020204" pitchFamily="34" charset="0"/>
              </a:rPr>
              <a:t> which is used to execute JavaScript code.</a:t>
            </a:r>
          </a:p>
          <a:p>
            <a:endParaRPr lang="en-IN" dirty="0"/>
          </a:p>
        </p:txBody>
      </p:sp>
      <p:sp>
        <p:nvSpPr>
          <p:cNvPr id="6" name="TextBox 5">
            <a:extLst>
              <a:ext uri="{FF2B5EF4-FFF2-40B4-BE49-F238E27FC236}">
                <a16:creationId xmlns:a16="http://schemas.microsoft.com/office/drawing/2014/main" id="{084D9858-00D3-485D-B637-8A01A37A05CA}"/>
              </a:ext>
            </a:extLst>
          </p:cNvPr>
          <p:cNvSpPr txBox="1"/>
          <p:nvPr/>
        </p:nvSpPr>
        <p:spPr>
          <a:xfrm>
            <a:off x="1884218" y="4308764"/>
            <a:ext cx="8534400" cy="1754326"/>
          </a:xfrm>
          <a:prstGeom prst="rect">
            <a:avLst/>
          </a:prstGeom>
          <a:noFill/>
        </p:spPr>
        <p:txBody>
          <a:bodyPr wrap="square" rtlCol="0">
            <a:spAutoFit/>
          </a:bodyPr>
          <a:lstStyle/>
          <a:p>
            <a:r>
              <a:rPr lang="en-US" dirty="0">
                <a:solidFill>
                  <a:srgbClr val="FFFF00"/>
                </a:solidFill>
                <a:latin typeface="Arial" panose="020B0604020202020204" pitchFamily="34" charset="0"/>
                <a:cs typeface="Arial" panose="020B0604020202020204" pitchFamily="34" charset="0"/>
              </a:rPr>
              <a:t>Collectors</a:t>
            </a:r>
          </a:p>
          <a:p>
            <a:r>
              <a:rPr lang="en-US" dirty="0">
                <a:latin typeface="Arial" panose="020B0604020202020204" pitchFamily="34" charset="0"/>
                <a:cs typeface="Arial" panose="020B0604020202020204" pitchFamily="34" charset="0"/>
              </a:rPr>
              <a:t>Collectors is a final class that extends Object class. It provides reduction operations, such as accumulating elements into collections, summarizing elements according to various criteria etc.</a:t>
            </a:r>
          </a:p>
          <a:p>
            <a:endParaRPr lang="en-US"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92291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22532BF-74D8-4A2F-B8E7-53301FBD00C8}"/>
              </a:ext>
            </a:extLst>
          </p:cNvPr>
          <p:cNvSpPr txBox="1"/>
          <p:nvPr/>
        </p:nvSpPr>
        <p:spPr>
          <a:xfrm>
            <a:off x="1704108" y="609600"/>
            <a:ext cx="5652655" cy="1477328"/>
          </a:xfrm>
          <a:prstGeom prst="rect">
            <a:avLst/>
          </a:prstGeom>
          <a:noFill/>
        </p:spPr>
        <p:txBody>
          <a:bodyPr wrap="square" rtlCol="0">
            <a:spAutoFit/>
          </a:bodyPr>
          <a:lstStyle/>
          <a:p>
            <a:r>
              <a:rPr lang="en-US" dirty="0">
                <a:solidFill>
                  <a:srgbClr val="FFFF00"/>
                </a:solidFill>
                <a:latin typeface="Arial" panose="020B0604020202020204" pitchFamily="34" charset="0"/>
                <a:cs typeface="Arial" panose="020B0604020202020204" pitchFamily="34" charset="0"/>
              </a:rPr>
              <a:t>Stream API</a:t>
            </a:r>
          </a:p>
          <a:p>
            <a:r>
              <a:rPr lang="en-US" dirty="0">
                <a:latin typeface="Arial" panose="020B0604020202020204" pitchFamily="34" charset="0"/>
                <a:cs typeface="Arial" panose="020B0604020202020204" pitchFamily="34" charset="0"/>
              </a:rPr>
              <a:t>Java 8 </a:t>
            </a:r>
            <a:r>
              <a:rPr lang="en-US" dirty="0" err="1">
                <a:latin typeface="Arial" panose="020B0604020202020204" pitchFamily="34" charset="0"/>
                <a:cs typeface="Arial" panose="020B0604020202020204" pitchFamily="34" charset="0"/>
              </a:rPr>
              <a:t>java.util.stream</a:t>
            </a:r>
            <a:r>
              <a:rPr lang="en-US" dirty="0">
                <a:latin typeface="Arial" panose="020B0604020202020204" pitchFamily="34" charset="0"/>
                <a:cs typeface="Arial" panose="020B0604020202020204" pitchFamily="34" charset="0"/>
              </a:rPr>
              <a:t> package consists of classes, interfaces and an </a:t>
            </a:r>
            <a:r>
              <a:rPr lang="en-US" dirty="0" err="1">
                <a:latin typeface="Arial" panose="020B0604020202020204" pitchFamily="34" charset="0"/>
                <a:cs typeface="Arial" panose="020B0604020202020204" pitchFamily="34" charset="0"/>
              </a:rPr>
              <a:t>enum</a:t>
            </a:r>
            <a:r>
              <a:rPr lang="en-US" dirty="0">
                <a:latin typeface="Arial" panose="020B0604020202020204" pitchFamily="34" charset="0"/>
                <a:cs typeface="Arial" panose="020B0604020202020204" pitchFamily="34" charset="0"/>
              </a:rPr>
              <a:t> to allow functional-style operations on the elements. It performs lazy computation. So, it executes only when it requires.</a:t>
            </a:r>
            <a:endParaRPr lang="en-IN"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60AC869-A9AF-47A6-97F7-65EF8E09C64C}"/>
              </a:ext>
            </a:extLst>
          </p:cNvPr>
          <p:cNvSpPr txBox="1"/>
          <p:nvPr/>
        </p:nvSpPr>
        <p:spPr>
          <a:xfrm>
            <a:off x="1856509" y="2687782"/>
            <a:ext cx="6941127" cy="1754326"/>
          </a:xfrm>
          <a:prstGeom prst="rect">
            <a:avLst/>
          </a:prstGeom>
          <a:noFill/>
        </p:spPr>
        <p:txBody>
          <a:bodyPr wrap="square" rtlCol="0">
            <a:spAutoFit/>
          </a:bodyPr>
          <a:lstStyle/>
          <a:p>
            <a:r>
              <a:rPr lang="en-US" dirty="0">
                <a:solidFill>
                  <a:srgbClr val="FFFF00"/>
                </a:solidFill>
                <a:latin typeface="Arial" panose="020B0604020202020204" pitchFamily="34" charset="0"/>
                <a:cs typeface="Arial" panose="020B0604020202020204" pitchFamily="34" charset="0"/>
              </a:rPr>
              <a:t>Stream Filter</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Java stream provides a method filter() to filter stream elements on the basis of given predicate. Suppose, you want to get only even elements of your list, you can do this easily with the help of filter() method.</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2880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9EC268D-0585-45E3-9D60-61CC12E2DA28}"/>
              </a:ext>
            </a:extLst>
          </p:cNvPr>
          <p:cNvSpPr txBox="1"/>
          <p:nvPr/>
        </p:nvSpPr>
        <p:spPr>
          <a:xfrm>
            <a:off x="1981200" y="595745"/>
            <a:ext cx="3699164" cy="646331"/>
          </a:xfrm>
          <a:prstGeom prst="rect">
            <a:avLst/>
          </a:prstGeom>
          <a:noFill/>
        </p:spPr>
        <p:txBody>
          <a:bodyPr wrap="square" rtlCol="0">
            <a:spAutoFit/>
          </a:bodyPr>
          <a:lstStyle/>
          <a:p>
            <a:r>
              <a:rPr lang="en-US" dirty="0">
                <a:solidFill>
                  <a:srgbClr val="FFFF00"/>
                </a:solidFill>
                <a:latin typeface="Arial" panose="020B0604020202020204" pitchFamily="34" charset="0"/>
                <a:cs typeface="Arial" panose="020B0604020202020204" pitchFamily="34" charset="0"/>
              </a:rPr>
              <a:t>Java Lambda Expressions</a:t>
            </a:r>
          </a:p>
          <a:p>
            <a:endParaRPr lang="en-IN" dirty="0"/>
          </a:p>
        </p:txBody>
      </p:sp>
      <p:sp>
        <p:nvSpPr>
          <p:cNvPr id="5" name="TextBox 4">
            <a:extLst>
              <a:ext uri="{FF2B5EF4-FFF2-40B4-BE49-F238E27FC236}">
                <a16:creationId xmlns:a16="http://schemas.microsoft.com/office/drawing/2014/main" id="{FED6FFD1-4F76-41D1-BE96-00D5B1114F41}"/>
              </a:ext>
            </a:extLst>
          </p:cNvPr>
          <p:cNvSpPr txBox="1"/>
          <p:nvPr/>
        </p:nvSpPr>
        <p:spPr>
          <a:xfrm>
            <a:off x="1981200" y="1242076"/>
            <a:ext cx="8506691" cy="2585323"/>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Lambda expression is a new and important feature of Java which was included in Java SE 8. It provides a clear and concise way to represent one method interface using an expression. It is very useful in collection library. It helps to iterate, filter and extract data from collection.</a:t>
            </a:r>
          </a:p>
          <a:p>
            <a:r>
              <a:rPr lang="en-US" dirty="0">
                <a:latin typeface="Arial" panose="020B0604020202020204" pitchFamily="34" charset="0"/>
                <a:cs typeface="Arial" panose="020B0604020202020204" pitchFamily="34" charset="0"/>
              </a:rPr>
              <a:t>The Lambda expression is used to provide the implementation of an interface which has functional interface. It saves a lot of code. In case of lambda expression, we don't need to define the method again for providing the implementation. Here, we just write the implementation code.</a:t>
            </a:r>
          </a:p>
          <a:p>
            <a:endParaRPr lang="en-IN" dirty="0">
              <a:solidFill>
                <a:srgbClr val="FFFF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4971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1F53C-3EDA-403C-9FA3-B9116C7A51E0}"/>
              </a:ext>
            </a:extLst>
          </p:cNvPr>
          <p:cNvSpPr txBox="1"/>
          <p:nvPr/>
        </p:nvSpPr>
        <p:spPr>
          <a:xfrm>
            <a:off x="1413162" y="914400"/>
            <a:ext cx="8437419" cy="2031325"/>
          </a:xfrm>
          <a:prstGeom prst="rect">
            <a:avLst/>
          </a:prstGeom>
          <a:noFill/>
        </p:spPr>
        <p:txBody>
          <a:bodyPr wrap="square" rtlCol="0">
            <a:spAutoFit/>
          </a:bodyPr>
          <a:lstStyle/>
          <a:p>
            <a:r>
              <a:rPr lang="en-US" dirty="0">
                <a:solidFill>
                  <a:srgbClr val="FFFF00"/>
                </a:solidFill>
              </a:rPr>
              <a:t>Functional Interface</a:t>
            </a:r>
          </a:p>
          <a:p>
            <a:endParaRPr lang="en-US" dirty="0">
              <a:solidFill>
                <a:srgbClr val="FFFF00"/>
              </a:solidFill>
            </a:endParaRPr>
          </a:p>
          <a:p>
            <a:r>
              <a:rPr lang="en-US" dirty="0">
                <a:latin typeface="Arial" panose="020B0604020202020204" pitchFamily="34" charset="0"/>
                <a:cs typeface="Arial" panose="020B0604020202020204" pitchFamily="34" charset="0"/>
              </a:rPr>
              <a:t>Lambda expression provides implementation of </a:t>
            </a:r>
            <a:r>
              <a:rPr lang="en-US" i="1" dirty="0">
                <a:latin typeface="Arial" panose="020B0604020202020204" pitchFamily="34" charset="0"/>
                <a:cs typeface="Arial" panose="020B0604020202020204" pitchFamily="34" charset="0"/>
              </a:rPr>
              <a:t>functional interface</a:t>
            </a:r>
            <a:r>
              <a:rPr lang="en-US" dirty="0">
                <a:latin typeface="Arial" panose="020B0604020202020204" pitchFamily="34" charset="0"/>
                <a:cs typeface="Arial" panose="020B0604020202020204" pitchFamily="34" charset="0"/>
              </a:rPr>
              <a:t>. An interface which has only one abstract method is called functional interface. Java provides an </a:t>
            </a:r>
            <a:r>
              <a:rPr lang="en-US" dirty="0" err="1">
                <a:latin typeface="Arial" panose="020B0604020202020204" pitchFamily="34" charset="0"/>
                <a:cs typeface="Arial" panose="020B0604020202020204" pitchFamily="34" charset="0"/>
              </a:rPr>
              <a:t>anotation</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FunctionalInterface</a:t>
            </a:r>
            <a:r>
              <a:rPr lang="en-US" dirty="0">
                <a:latin typeface="Arial" panose="020B0604020202020204" pitchFamily="34" charset="0"/>
                <a:cs typeface="Arial" panose="020B0604020202020204" pitchFamily="34" charset="0"/>
              </a:rPr>
              <a:t>, which is used to declare an interface as functional interface</a:t>
            </a:r>
          </a:p>
          <a:p>
            <a:endParaRPr lang="en-IN" dirty="0"/>
          </a:p>
        </p:txBody>
      </p:sp>
    </p:spTree>
    <p:extLst>
      <p:ext uri="{BB962C8B-B14F-4D97-AF65-F5344CB8AC3E}">
        <p14:creationId xmlns:p14="http://schemas.microsoft.com/office/powerpoint/2010/main" val="4101288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59A4B40-C0CB-4BB9-A93E-65903BCAAB30}"/>
              </a:ext>
            </a:extLst>
          </p:cNvPr>
          <p:cNvSpPr txBox="1"/>
          <p:nvPr/>
        </p:nvSpPr>
        <p:spPr>
          <a:xfrm>
            <a:off x="2812472" y="831273"/>
            <a:ext cx="7135091" cy="4678204"/>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Java Lambda Expression Syntax</a:t>
            </a:r>
          </a:p>
          <a:p>
            <a:endParaRPr lang="en-US" dirty="0"/>
          </a:p>
          <a:p>
            <a:endParaRPr lang="en-US" dirty="0"/>
          </a:p>
          <a:p>
            <a:r>
              <a:rPr lang="en-US" sz="2800" dirty="0">
                <a:latin typeface="Arial" panose="020B0604020202020204" pitchFamily="34" charset="0"/>
                <a:cs typeface="Arial" panose="020B0604020202020204" pitchFamily="34" charset="0"/>
              </a:rPr>
              <a:t>(argument-list) -&gt; {body}  </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Java lambda expression is consisted of three components.</a:t>
            </a:r>
          </a:p>
          <a:p>
            <a:endParaRPr lang="en-US" dirty="0">
              <a:latin typeface="Arial" panose="020B0604020202020204" pitchFamily="34" charset="0"/>
              <a:cs typeface="Arial" panose="020B0604020202020204" pitchFamily="34" charset="0"/>
            </a:endParaRPr>
          </a:p>
          <a:p>
            <a:pPr marL="342900" indent="-342900">
              <a:buAutoNum type="arabicParenR"/>
            </a:pPr>
            <a:r>
              <a:rPr lang="en-US" b="1" dirty="0">
                <a:latin typeface="Arial" panose="020B0604020202020204" pitchFamily="34" charset="0"/>
                <a:cs typeface="Arial" panose="020B0604020202020204" pitchFamily="34" charset="0"/>
              </a:rPr>
              <a:t>Argument-list:</a:t>
            </a:r>
            <a:r>
              <a:rPr lang="en-US" dirty="0">
                <a:latin typeface="Arial" panose="020B0604020202020204" pitchFamily="34" charset="0"/>
                <a:cs typeface="Arial" panose="020B0604020202020204" pitchFamily="34" charset="0"/>
              </a:rPr>
              <a:t> It can be empty or non-empty as well.</a:t>
            </a:r>
          </a:p>
          <a:p>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2) Arrow-token:</a:t>
            </a:r>
            <a:r>
              <a:rPr lang="en-US" dirty="0">
                <a:latin typeface="Arial" panose="020B0604020202020204" pitchFamily="34" charset="0"/>
                <a:cs typeface="Arial" panose="020B0604020202020204" pitchFamily="34" charset="0"/>
              </a:rPr>
              <a:t> It is used to link arguments-list and body of expression.</a:t>
            </a:r>
          </a:p>
          <a:p>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3) Body:</a:t>
            </a:r>
            <a:r>
              <a:rPr lang="en-US" dirty="0">
                <a:latin typeface="Arial" panose="020B0604020202020204" pitchFamily="34" charset="0"/>
                <a:cs typeface="Arial" panose="020B0604020202020204" pitchFamily="34" charset="0"/>
              </a:rPr>
              <a:t> It contains expressions and statements for lambda expression.</a:t>
            </a:r>
          </a:p>
          <a:p>
            <a:endParaRPr lang="en-IN" dirty="0"/>
          </a:p>
        </p:txBody>
      </p:sp>
    </p:spTree>
    <p:extLst>
      <p:ext uri="{BB962C8B-B14F-4D97-AF65-F5344CB8AC3E}">
        <p14:creationId xmlns:p14="http://schemas.microsoft.com/office/powerpoint/2010/main" val="197175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12C761D-7A8D-4B56-87A4-CBE998CA2387}"/>
              </a:ext>
            </a:extLst>
          </p:cNvPr>
          <p:cNvSpPr txBox="1"/>
          <p:nvPr/>
        </p:nvSpPr>
        <p:spPr>
          <a:xfrm>
            <a:off x="3006436" y="540327"/>
            <a:ext cx="5805055" cy="4247317"/>
          </a:xfrm>
          <a:prstGeom prst="rect">
            <a:avLst/>
          </a:prstGeom>
          <a:noFill/>
        </p:spPr>
        <p:txBody>
          <a:bodyPr wrap="square" rtlCol="0">
            <a:spAutoFit/>
          </a:bodyPr>
          <a:lstStyle/>
          <a:p>
            <a:r>
              <a:rPr lang="en-IN" b="1" dirty="0">
                <a:solidFill>
                  <a:srgbClr val="FFFF00"/>
                </a:solidFill>
                <a:latin typeface="Arial" panose="020B0604020202020204" pitchFamily="34" charset="0"/>
                <a:cs typeface="Arial" panose="020B0604020202020204" pitchFamily="34" charset="0"/>
              </a:rPr>
              <a:t>No Parameter Syntax</a:t>
            </a:r>
            <a:endParaRPr lang="en-IN" dirty="0">
              <a:solidFill>
                <a:srgbClr val="FFFF00"/>
              </a:solidFill>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 -&gt; {  </a:t>
            </a:r>
          </a:p>
          <a:p>
            <a:r>
              <a:rPr lang="en-IN" dirty="0">
                <a:latin typeface="Arial" panose="020B0604020202020204" pitchFamily="34" charset="0"/>
                <a:cs typeface="Arial" panose="020B0604020202020204" pitchFamily="34" charset="0"/>
              </a:rPr>
              <a:t>//Body of no parameter lambda  </a:t>
            </a:r>
          </a:p>
          <a:p>
            <a:r>
              <a:rPr lang="en-IN" dirty="0">
                <a:latin typeface="Arial" panose="020B0604020202020204" pitchFamily="34" charset="0"/>
                <a:cs typeface="Arial" panose="020B0604020202020204" pitchFamily="34" charset="0"/>
              </a:rPr>
              <a:t>}  </a:t>
            </a:r>
          </a:p>
          <a:p>
            <a:endParaRPr lang="en-IN" dirty="0">
              <a:latin typeface="Arial" panose="020B0604020202020204" pitchFamily="34" charset="0"/>
              <a:cs typeface="Arial" panose="020B0604020202020204" pitchFamily="34" charset="0"/>
            </a:endParaRPr>
          </a:p>
          <a:p>
            <a:r>
              <a:rPr lang="en-IN" b="1" dirty="0">
                <a:solidFill>
                  <a:srgbClr val="FFFF00"/>
                </a:solidFill>
                <a:latin typeface="Arial" panose="020B0604020202020204" pitchFamily="34" charset="0"/>
                <a:cs typeface="Arial" panose="020B0604020202020204" pitchFamily="34" charset="0"/>
              </a:rPr>
              <a:t>One Parameter Syntax</a:t>
            </a:r>
            <a:endParaRPr lang="en-IN" dirty="0">
              <a:solidFill>
                <a:srgbClr val="FFFF00"/>
              </a:solidFill>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(p1) -&gt; {  </a:t>
            </a:r>
          </a:p>
          <a:p>
            <a:r>
              <a:rPr lang="en-IN" dirty="0">
                <a:latin typeface="Arial" panose="020B0604020202020204" pitchFamily="34" charset="0"/>
                <a:cs typeface="Arial" panose="020B0604020202020204" pitchFamily="34" charset="0"/>
              </a:rPr>
              <a:t>//Body of single parameter lambda  </a:t>
            </a:r>
          </a:p>
          <a:p>
            <a:r>
              <a:rPr lang="en-IN" dirty="0">
                <a:latin typeface="Arial" panose="020B0604020202020204" pitchFamily="34" charset="0"/>
                <a:cs typeface="Arial" panose="020B0604020202020204" pitchFamily="34" charset="0"/>
              </a:rPr>
              <a:t>}  </a:t>
            </a:r>
          </a:p>
          <a:p>
            <a:endParaRPr lang="en-IN" dirty="0">
              <a:latin typeface="Arial" panose="020B0604020202020204" pitchFamily="34" charset="0"/>
              <a:cs typeface="Arial" panose="020B0604020202020204" pitchFamily="34" charset="0"/>
            </a:endParaRPr>
          </a:p>
          <a:p>
            <a:r>
              <a:rPr lang="en-IN" b="1" dirty="0">
                <a:solidFill>
                  <a:srgbClr val="FFFF00"/>
                </a:solidFill>
                <a:latin typeface="Arial" panose="020B0604020202020204" pitchFamily="34" charset="0"/>
                <a:cs typeface="Arial" panose="020B0604020202020204" pitchFamily="34" charset="0"/>
              </a:rPr>
              <a:t>Two Parameter Syntax</a:t>
            </a:r>
            <a:endParaRPr lang="en-IN" dirty="0">
              <a:solidFill>
                <a:srgbClr val="FFFF00"/>
              </a:solidFill>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(p1,p2) -&gt; {  </a:t>
            </a:r>
          </a:p>
          <a:p>
            <a:r>
              <a:rPr lang="en-IN" dirty="0">
                <a:latin typeface="Arial" panose="020B0604020202020204" pitchFamily="34" charset="0"/>
                <a:cs typeface="Arial" panose="020B0604020202020204" pitchFamily="34" charset="0"/>
              </a:rPr>
              <a:t>//Body of multiple parameter lambda  </a:t>
            </a:r>
          </a:p>
          <a:p>
            <a:r>
              <a:rPr lang="en-IN" dirty="0">
                <a:latin typeface="Arial" panose="020B0604020202020204" pitchFamily="34" charset="0"/>
                <a:cs typeface="Arial" panose="020B0604020202020204" pitchFamily="34" charset="0"/>
              </a:rPr>
              <a:t>}  </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0281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E67C55-87C9-4130-B01C-6C980E9B37D8}"/>
              </a:ext>
            </a:extLst>
          </p:cNvPr>
          <p:cNvSpPr txBox="1"/>
          <p:nvPr/>
        </p:nvSpPr>
        <p:spPr>
          <a:xfrm>
            <a:off x="983673" y="197346"/>
            <a:ext cx="9947563" cy="6463308"/>
          </a:xfrm>
          <a:prstGeom prst="rect">
            <a:avLst/>
          </a:prstGeom>
          <a:noFill/>
        </p:spPr>
        <p:txBody>
          <a:bodyPr wrap="square" rtlCol="0">
            <a:spAutoFit/>
          </a:bodyPr>
          <a:lstStyle/>
          <a:p>
            <a:r>
              <a:rPr lang="en-IN" dirty="0">
                <a:latin typeface="Calibri" panose="020F0502020204030204" pitchFamily="34" charset="0"/>
                <a:cs typeface="Calibri" panose="020F0502020204030204" pitchFamily="34" charset="0"/>
              </a:rPr>
              <a:t>package </a:t>
            </a:r>
            <a:r>
              <a:rPr lang="en-IN" dirty="0" err="1">
                <a:latin typeface="Calibri" panose="020F0502020204030204" pitchFamily="34" charset="0"/>
                <a:cs typeface="Calibri" panose="020F0502020204030204" pitchFamily="34" charset="0"/>
              </a:rPr>
              <a:t>javaprogram</a:t>
            </a:r>
            <a:r>
              <a:rPr lang="en-IN" dirty="0">
                <a:latin typeface="Calibri" panose="020F0502020204030204" pitchFamily="34" charset="0"/>
                <a:cs typeface="Calibri" panose="020F0502020204030204" pitchFamily="34" charset="0"/>
              </a:rPr>
              <a:t>;</a:t>
            </a:r>
          </a:p>
          <a:p>
            <a:r>
              <a:rPr lang="en-IN" dirty="0">
                <a:solidFill>
                  <a:srgbClr val="FFFF00"/>
                </a:solidFill>
                <a:latin typeface="Calibri" panose="020F0502020204030204" pitchFamily="34" charset="0"/>
                <a:cs typeface="Calibri" panose="020F0502020204030204" pitchFamily="34" charset="0"/>
              </a:rPr>
              <a:t>/* </a:t>
            </a:r>
            <a:r>
              <a:rPr lang="en-IN" dirty="0" err="1">
                <a:solidFill>
                  <a:srgbClr val="FFFF00"/>
                </a:solidFill>
                <a:latin typeface="Calibri" panose="020F0502020204030204" pitchFamily="34" charset="0"/>
                <a:cs typeface="Calibri" panose="020F0502020204030204" pitchFamily="34" charset="0"/>
              </a:rPr>
              <a:t>Title:LambdaEx.java</a:t>
            </a:r>
            <a:endParaRPr lang="en-IN" dirty="0">
              <a:solidFill>
                <a:srgbClr val="FFFF00"/>
              </a:solidFill>
              <a:latin typeface="Calibri" panose="020F0502020204030204" pitchFamily="34" charset="0"/>
              <a:cs typeface="Calibri" panose="020F0502020204030204" pitchFamily="34" charset="0"/>
            </a:endParaRPr>
          </a:p>
          <a:p>
            <a:r>
              <a:rPr lang="en-IN" dirty="0">
                <a:solidFill>
                  <a:srgbClr val="FFFF00"/>
                </a:solidFill>
                <a:latin typeface="Calibri" panose="020F0502020204030204" pitchFamily="34" charset="0"/>
                <a:cs typeface="Calibri" panose="020F0502020204030204" pitchFamily="34" charset="0"/>
              </a:rPr>
              <a:t> * </a:t>
            </a:r>
            <a:r>
              <a:rPr lang="en-IN" dirty="0" err="1">
                <a:solidFill>
                  <a:srgbClr val="FFFF00"/>
                </a:solidFill>
                <a:latin typeface="Calibri" panose="020F0502020204030204" pitchFamily="34" charset="0"/>
                <a:cs typeface="Calibri" panose="020F0502020204030204" pitchFamily="34" charset="0"/>
              </a:rPr>
              <a:t>Author:Rajiv</a:t>
            </a:r>
            <a:r>
              <a:rPr lang="en-IN" dirty="0">
                <a:solidFill>
                  <a:srgbClr val="FFFF00"/>
                </a:solidFill>
                <a:latin typeface="Calibri" panose="020F0502020204030204" pitchFamily="34" charset="0"/>
                <a:cs typeface="Calibri" panose="020F0502020204030204" pitchFamily="34" charset="0"/>
              </a:rPr>
              <a:t> Ranjan</a:t>
            </a:r>
          </a:p>
          <a:p>
            <a:r>
              <a:rPr lang="en-IN" dirty="0">
                <a:solidFill>
                  <a:srgbClr val="FFFF00"/>
                </a:solidFill>
                <a:latin typeface="Calibri" panose="020F0502020204030204" pitchFamily="34" charset="0"/>
                <a:cs typeface="Calibri" panose="020F0502020204030204" pitchFamily="34" charset="0"/>
              </a:rPr>
              <a:t> * </a:t>
            </a:r>
            <a:r>
              <a:rPr lang="en-IN" dirty="0" err="1">
                <a:solidFill>
                  <a:srgbClr val="FFFF00"/>
                </a:solidFill>
                <a:latin typeface="Calibri" panose="020F0502020204030204" pitchFamily="34" charset="0"/>
                <a:cs typeface="Calibri" panose="020F0502020204030204" pitchFamily="34" charset="0"/>
              </a:rPr>
              <a:t>Description:Program</a:t>
            </a:r>
            <a:r>
              <a:rPr lang="en-IN" dirty="0">
                <a:solidFill>
                  <a:srgbClr val="FFFF00"/>
                </a:solidFill>
                <a:latin typeface="Calibri" panose="020F0502020204030204" pitchFamily="34" charset="0"/>
                <a:cs typeface="Calibri" panose="020F0502020204030204" pitchFamily="34" charset="0"/>
              </a:rPr>
              <a:t> to demonstrate Lambda expression</a:t>
            </a:r>
          </a:p>
          <a:p>
            <a:r>
              <a:rPr lang="en-IN" dirty="0">
                <a:solidFill>
                  <a:srgbClr val="FFFF00"/>
                </a:solidFill>
                <a:latin typeface="Calibri" panose="020F0502020204030204" pitchFamily="34" charset="0"/>
                <a:cs typeface="Calibri" panose="020F0502020204030204" pitchFamily="34" charset="0"/>
              </a:rPr>
              <a:t> * Date:7-1-2022</a:t>
            </a:r>
          </a:p>
          <a:p>
            <a:r>
              <a:rPr lang="en-IN" dirty="0">
                <a:solidFill>
                  <a:srgbClr val="FFFF00"/>
                </a:solidFill>
                <a:latin typeface="Calibri" panose="020F0502020204030204" pitchFamily="34" charset="0"/>
                <a:cs typeface="Calibri" panose="020F0502020204030204" pitchFamily="34" charset="0"/>
              </a:rPr>
              <a:t> */</a:t>
            </a:r>
            <a:endParaRPr lang="en-IN" dirty="0">
              <a:latin typeface="Calibri" panose="020F0502020204030204" pitchFamily="34" charset="0"/>
              <a:cs typeface="Calibri" panose="020F0502020204030204" pitchFamily="34" charset="0"/>
            </a:endParaRPr>
          </a:p>
          <a:p>
            <a:r>
              <a:rPr lang="en-IN" dirty="0">
                <a:latin typeface="Calibri" panose="020F0502020204030204" pitchFamily="34" charset="0"/>
                <a:cs typeface="Calibri" panose="020F0502020204030204" pitchFamily="34" charset="0"/>
              </a:rPr>
              <a:t>//Function Interface</a:t>
            </a:r>
          </a:p>
          <a:p>
            <a:r>
              <a:rPr lang="en-IN" dirty="0">
                <a:latin typeface="Calibri" panose="020F0502020204030204" pitchFamily="34" charset="0"/>
                <a:cs typeface="Calibri" panose="020F0502020204030204" pitchFamily="34" charset="0"/>
              </a:rPr>
              <a:t>@FunctionalInterface</a:t>
            </a:r>
          </a:p>
          <a:p>
            <a:r>
              <a:rPr lang="en-IN" dirty="0">
                <a:latin typeface="Calibri" panose="020F0502020204030204" pitchFamily="34" charset="0"/>
                <a:cs typeface="Calibri" panose="020F0502020204030204" pitchFamily="34" charset="0"/>
              </a:rPr>
              <a:t>interface Drawable</a:t>
            </a:r>
          </a:p>
          <a:p>
            <a:r>
              <a:rPr lang="en-IN" dirty="0">
                <a:latin typeface="Calibri" panose="020F0502020204030204" pitchFamily="34" charset="0"/>
                <a:cs typeface="Calibri" panose="020F0502020204030204" pitchFamily="34" charset="0"/>
              </a:rPr>
              <a:t>{</a:t>
            </a:r>
          </a:p>
          <a:p>
            <a:r>
              <a:rPr lang="en-IN" dirty="0">
                <a:latin typeface="Calibri" panose="020F0502020204030204" pitchFamily="34" charset="0"/>
                <a:cs typeface="Calibri" panose="020F0502020204030204" pitchFamily="34" charset="0"/>
              </a:rPr>
              <a:t>public void draw();</a:t>
            </a:r>
          </a:p>
          <a:p>
            <a:r>
              <a:rPr lang="en-IN" dirty="0">
                <a:latin typeface="Calibri" panose="020F0502020204030204" pitchFamily="34" charset="0"/>
                <a:cs typeface="Calibri" panose="020F0502020204030204" pitchFamily="34" charset="0"/>
              </a:rPr>
              <a:t>}</a:t>
            </a:r>
          </a:p>
          <a:p>
            <a:endParaRPr lang="en-IN" dirty="0">
              <a:latin typeface="Calibri" panose="020F0502020204030204" pitchFamily="34" charset="0"/>
              <a:cs typeface="Calibri" panose="020F0502020204030204" pitchFamily="34" charset="0"/>
            </a:endParaRPr>
          </a:p>
          <a:p>
            <a:r>
              <a:rPr lang="en-IN" dirty="0">
                <a:latin typeface="Calibri" panose="020F0502020204030204" pitchFamily="34" charset="0"/>
                <a:cs typeface="Calibri" panose="020F0502020204030204" pitchFamily="34" charset="0"/>
              </a:rPr>
              <a:t>class </a:t>
            </a:r>
            <a:r>
              <a:rPr lang="en-IN" dirty="0" err="1">
                <a:latin typeface="Calibri" panose="020F0502020204030204" pitchFamily="34" charset="0"/>
                <a:cs typeface="Calibri" panose="020F0502020204030204" pitchFamily="34" charset="0"/>
              </a:rPr>
              <a:t>LmbdaEx</a:t>
            </a:r>
            <a:endParaRPr lang="en-IN" dirty="0">
              <a:latin typeface="Calibri" panose="020F0502020204030204" pitchFamily="34" charset="0"/>
              <a:cs typeface="Calibri" panose="020F0502020204030204" pitchFamily="34" charset="0"/>
            </a:endParaRPr>
          </a:p>
          <a:p>
            <a:r>
              <a:rPr lang="en-IN" dirty="0">
                <a:latin typeface="Calibri" panose="020F0502020204030204" pitchFamily="34" charset="0"/>
                <a:cs typeface="Calibri" panose="020F0502020204030204" pitchFamily="34" charset="0"/>
              </a:rPr>
              <a:t>{</a:t>
            </a:r>
          </a:p>
          <a:p>
            <a:r>
              <a:rPr lang="en-IN" dirty="0">
                <a:latin typeface="Calibri" panose="020F0502020204030204" pitchFamily="34" charset="0"/>
                <a:cs typeface="Calibri" panose="020F0502020204030204" pitchFamily="34" charset="0"/>
              </a:rPr>
              <a:t>	</a:t>
            </a:r>
          </a:p>
          <a:p>
            <a:r>
              <a:rPr lang="en-IN" dirty="0">
                <a:latin typeface="Calibri" panose="020F0502020204030204" pitchFamily="34" charset="0"/>
                <a:cs typeface="Calibri" panose="020F0502020204030204" pitchFamily="34" charset="0"/>
              </a:rPr>
              <a:t>public static void main(String </a:t>
            </a:r>
            <a:r>
              <a:rPr lang="en-IN" dirty="0" err="1">
                <a:latin typeface="Calibri" panose="020F0502020204030204" pitchFamily="34" charset="0"/>
                <a:cs typeface="Calibri" panose="020F0502020204030204" pitchFamily="34" charset="0"/>
              </a:rPr>
              <a:t>ar</a:t>
            </a:r>
            <a:r>
              <a:rPr lang="en-IN" dirty="0">
                <a:latin typeface="Calibri" panose="020F0502020204030204" pitchFamily="34" charset="0"/>
                <a:cs typeface="Calibri" panose="020F0502020204030204" pitchFamily="34" charset="0"/>
              </a:rPr>
              <a:t>[])</a:t>
            </a:r>
          </a:p>
          <a:p>
            <a:r>
              <a:rPr lang="en-IN" dirty="0">
                <a:latin typeface="Calibri" panose="020F0502020204030204" pitchFamily="34" charset="0"/>
                <a:cs typeface="Calibri" panose="020F0502020204030204" pitchFamily="34" charset="0"/>
              </a:rPr>
              <a:t>{</a:t>
            </a:r>
          </a:p>
          <a:p>
            <a:r>
              <a:rPr lang="en-IN" dirty="0">
                <a:latin typeface="Calibri" panose="020F0502020204030204" pitchFamily="34" charset="0"/>
                <a:cs typeface="Calibri" panose="020F0502020204030204" pitchFamily="34" charset="0"/>
              </a:rPr>
              <a:t>int </a:t>
            </a:r>
            <a:r>
              <a:rPr lang="en-IN" dirty="0" err="1">
                <a:latin typeface="Calibri" panose="020F0502020204030204" pitchFamily="34" charset="0"/>
                <a:cs typeface="Calibri" panose="020F0502020204030204" pitchFamily="34" charset="0"/>
              </a:rPr>
              <a:t>iwidth</a:t>
            </a:r>
            <a:r>
              <a:rPr lang="en-IN" dirty="0">
                <a:latin typeface="Calibri" panose="020F0502020204030204" pitchFamily="34" charset="0"/>
                <a:cs typeface="Calibri" panose="020F0502020204030204" pitchFamily="34" charset="0"/>
              </a:rPr>
              <a:t>=10;</a:t>
            </a:r>
          </a:p>
          <a:p>
            <a:r>
              <a:rPr lang="en-IN" dirty="0">
                <a:latin typeface="Calibri" panose="020F0502020204030204" pitchFamily="34" charset="0"/>
                <a:cs typeface="Calibri" panose="020F0502020204030204" pitchFamily="34" charset="0"/>
              </a:rPr>
              <a:t>Drawable </a:t>
            </a:r>
            <a:r>
              <a:rPr lang="en-IN" dirty="0" err="1">
                <a:latin typeface="Calibri" panose="020F0502020204030204" pitchFamily="34" charset="0"/>
                <a:cs typeface="Calibri" panose="020F0502020204030204" pitchFamily="34" charset="0"/>
              </a:rPr>
              <a:t>ob</a:t>
            </a:r>
            <a:r>
              <a:rPr lang="en-IN" dirty="0">
                <a:latin typeface="Calibri" panose="020F0502020204030204" pitchFamily="34" charset="0"/>
                <a:cs typeface="Calibri" panose="020F0502020204030204" pitchFamily="34" charset="0"/>
              </a:rPr>
              <a:t>=()-&gt;{</a:t>
            </a:r>
            <a:r>
              <a:rPr lang="en-IN" dirty="0" err="1">
                <a:latin typeface="Calibri" panose="020F0502020204030204" pitchFamily="34" charset="0"/>
                <a:cs typeface="Calibri" panose="020F0502020204030204" pitchFamily="34" charset="0"/>
              </a:rPr>
              <a:t>System.out.println</a:t>
            </a:r>
            <a:r>
              <a:rPr lang="en-IN" dirty="0">
                <a:latin typeface="Calibri" panose="020F0502020204030204" pitchFamily="34" charset="0"/>
                <a:cs typeface="Calibri" panose="020F0502020204030204" pitchFamily="34" charset="0"/>
              </a:rPr>
              <a:t>("Drawing width.."+</a:t>
            </a:r>
            <a:r>
              <a:rPr lang="en-IN" dirty="0" err="1">
                <a:latin typeface="Calibri" panose="020F0502020204030204" pitchFamily="34" charset="0"/>
                <a:cs typeface="Calibri" panose="020F0502020204030204" pitchFamily="34" charset="0"/>
              </a:rPr>
              <a:t>iwidth</a:t>
            </a:r>
            <a:r>
              <a:rPr lang="en-IN" dirty="0">
                <a:latin typeface="Calibri" panose="020F0502020204030204" pitchFamily="34" charset="0"/>
                <a:cs typeface="Calibri" panose="020F0502020204030204" pitchFamily="34" charset="0"/>
              </a:rPr>
              <a:t>);};//lambda expression</a:t>
            </a:r>
          </a:p>
          <a:p>
            <a:r>
              <a:rPr lang="en-IN" dirty="0" err="1">
                <a:latin typeface="Calibri" panose="020F0502020204030204" pitchFamily="34" charset="0"/>
                <a:cs typeface="Calibri" panose="020F0502020204030204" pitchFamily="34" charset="0"/>
              </a:rPr>
              <a:t>ob.draw</a:t>
            </a:r>
            <a:r>
              <a:rPr lang="en-IN" dirty="0">
                <a:latin typeface="Calibri" panose="020F0502020204030204" pitchFamily="34" charset="0"/>
                <a:cs typeface="Calibri" panose="020F0502020204030204" pitchFamily="34" charset="0"/>
              </a:rPr>
              <a:t>();</a:t>
            </a:r>
          </a:p>
          <a:p>
            <a:r>
              <a:rPr lang="en-IN" dirty="0">
                <a:latin typeface="Calibri" panose="020F0502020204030204" pitchFamily="34" charset="0"/>
                <a:cs typeface="Calibri" panose="020F0502020204030204" pitchFamily="34" charset="0"/>
              </a:rPr>
              <a:t>}</a:t>
            </a:r>
          </a:p>
          <a:p>
            <a:r>
              <a:rPr lang="en-IN" dirty="0">
                <a:latin typeface="Calibri" panose="020F0502020204030204" pitchFamily="34" charset="0"/>
                <a:cs typeface="Calibri" panose="020F0502020204030204" pitchFamily="34" charset="0"/>
              </a:rPr>
              <a:t>}</a:t>
            </a:r>
          </a:p>
        </p:txBody>
      </p:sp>
      <p:sp>
        <p:nvSpPr>
          <p:cNvPr id="5" name="TextBox 4">
            <a:extLst>
              <a:ext uri="{FF2B5EF4-FFF2-40B4-BE49-F238E27FC236}">
                <a16:creationId xmlns:a16="http://schemas.microsoft.com/office/drawing/2014/main" id="{704C62EC-5368-4E97-913B-F6AE18C7D8A3}"/>
              </a:ext>
            </a:extLst>
          </p:cNvPr>
          <p:cNvSpPr txBox="1"/>
          <p:nvPr/>
        </p:nvSpPr>
        <p:spPr>
          <a:xfrm>
            <a:off x="9213273" y="6012873"/>
            <a:ext cx="1717963" cy="647781"/>
          </a:xfrm>
          <a:prstGeom prst="rect">
            <a:avLst/>
          </a:prstGeom>
          <a:noFill/>
        </p:spPr>
        <p:txBody>
          <a:bodyPr wrap="square" rtlCol="0">
            <a:spAutoFit/>
          </a:bodyPr>
          <a:lstStyle/>
          <a:p>
            <a:r>
              <a:rPr lang="en-IN" sz="1800" dirty="0">
                <a:solidFill>
                  <a:srgbClr val="FFFF00"/>
                </a:solidFill>
                <a:latin typeface="Consolas" panose="020B0609020204030204" pitchFamily="49" charset="0"/>
              </a:rPr>
              <a:t>Drawing width..10</a:t>
            </a:r>
            <a:endParaRPr lang="en-IN" dirty="0">
              <a:solidFill>
                <a:srgbClr val="FFFF00"/>
              </a:solidFill>
            </a:endParaRPr>
          </a:p>
        </p:txBody>
      </p:sp>
    </p:spTree>
    <p:extLst>
      <p:ext uri="{BB962C8B-B14F-4D97-AF65-F5344CB8AC3E}">
        <p14:creationId xmlns:p14="http://schemas.microsoft.com/office/powerpoint/2010/main" val="10734703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99D5722-1740-4421-B902-FE68DA04D2E9}"/>
              </a:ext>
            </a:extLst>
          </p:cNvPr>
          <p:cNvSpPr txBox="1"/>
          <p:nvPr/>
        </p:nvSpPr>
        <p:spPr>
          <a:xfrm>
            <a:off x="1205346" y="335845"/>
            <a:ext cx="8326582" cy="6186309"/>
          </a:xfrm>
          <a:prstGeom prst="rect">
            <a:avLst/>
          </a:prstGeom>
          <a:noFill/>
        </p:spPr>
        <p:txBody>
          <a:bodyPr wrap="square" rtlCol="0">
            <a:spAutoFit/>
          </a:bodyPr>
          <a:lstStyle/>
          <a:p>
            <a:r>
              <a:rPr lang="en-IN" dirty="0">
                <a:latin typeface="Calibri" panose="020F0502020204030204" pitchFamily="34" charset="0"/>
                <a:cs typeface="Calibri" panose="020F0502020204030204" pitchFamily="34" charset="0"/>
              </a:rPr>
              <a:t>package </a:t>
            </a:r>
            <a:r>
              <a:rPr lang="en-IN" dirty="0" err="1">
                <a:latin typeface="Calibri" panose="020F0502020204030204" pitchFamily="34" charset="0"/>
                <a:cs typeface="Calibri" panose="020F0502020204030204" pitchFamily="34" charset="0"/>
              </a:rPr>
              <a:t>javaprogram</a:t>
            </a:r>
            <a:r>
              <a:rPr lang="en-IN" dirty="0">
                <a:latin typeface="Calibri" panose="020F0502020204030204" pitchFamily="34" charset="0"/>
                <a:cs typeface="Calibri" panose="020F0502020204030204" pitchFamily="34" charset="0"/>
              </a:rPr>
              <a:t>;</a:t>
            </a:r>
          </a:p>
          <a:p>
            <a:r>
              <a:rPr lang="en-IN" dirty="0">
                <a:solidFill>
                  <a:srgbClr val="FFFF00"/>
                </a:solidFill>
                <a:latin typeface="Calibri" panose="020F0502020204030204" pitchFamily="34" charset="0"/>
                <a:cs typeface="Calibri" panose="020F0502020204030204" pitchFamily="34" charset="0"/>
              </a:rPr>
              <a:t>/* </a:t>
            </a:r>
            <a:r>
              <a:rPr lang="en-IN" dirty="0" err="1">
                <a:solidFill>
                  <a:srgbClr val="FFFF00"/>
                </a:solidFill>
                <a:latin typeface="Calibri" panose="020F0502020204030204" pitchFamily="34" charset="0"/>
                <a:cs typeface="Calibri" panose="020F0502020204030204" pitchFamily="34" charset="0"/>
              </a:rPr>
              <a:t>Title:LambdaSingleEx.java</a:t>
            </a:r>
            <a:endParaRPr lang="en-IN" dirty="0">
              <a:solidFill>
                <a:srgbClr val="FFFF00"/>
              </a:solidFill>
              <a:latin typeface="Calibri" panose="020F0502020204030204" pitchFamily="34" charset="0"/>
              <a:cs typeface="Calibri" panose="020F0502020204030204" pitchFamily="34" charset="0"/>
            </a:endParaRPr>
          </a:p>
          <a:p>
            <a:r>
              <a:rPr lang="en-IN" dirty="0">
                <a:solidFill>
                  <a:srgbClr val="FFFF00"/>
                </a:solidFill>
                <a:latin typeface="Calibri" panose="020F0502020204030204" pitchFamily="34" charset="0"/>
                <a:cs typeface="Calibri" panose="020F0502020204030204" pitchFamily="34" charset="0"/>
              </a:rPr>
              <a:t> * </a:t>
            </a:r>
            <a:r>
              <a:rPr lang="en-IN" dirty="0" err="1">
                <a:solidFill>
                  <a:srgbClr val="FFFF00"/>
                </a:solidFill>
                <a:latin typeface="Calibri" panose="020F0502020204030204" pitchFamily="34" charset="0"/>
                <a:cs typeface="Calibri" panose="020F0502020204030204" pitchFamily="34" charset="0"/>
              </a:rPr>
              <a:t>Author:Rajiv</a:t>
            </a:r>
            <a:r>
              <a:rPr lang="en-IN" dirty="0">
                <a:solidFill>
                  <a:srgbClr val="FFFF00"/>
                </a:solidFill>
                <a:latin typeface="Calibri" panose="020F0502020204030204" pitchFamily="34" charset="0"/>
                <a:cs typeface="Calibri" panose="020F0502020204030204" pitchFamily="34" charset="0"/>
              </a:rPr>
              <a:t> Ranjan</a:t>
            </a:r>
          </a:p>
          <a:p>
            <a:r>
              <a:rPr lang="en-IN" dirty="0">
                <a:solidFill>
                  <a:srgbClr val="FFFF00"/>
                </a:solidFill>
                <a:latin typeface="Calibri" panose="020F0502020204030204" pitchFamily="34" charset="0"/>
                <a:cs typeface="Calibri" panose="020F0502020204030204" pitchFamily="34" charset="0"/>
              </a:rPr>
              <a:t> * </a:t>
            </a:r>
            <a:r>
              <a:rPr lang="en-IN" dirty="0" err="1">
                <a:solidFill>
                  <a:srgbClr val="FFFF00"/>
                </a:solidFill>
                <a:latin typeface="Calibri" panose="020F0502020204030204" pitchFamily="34" charset="0"/>
                <a:cs typeface="Calibri" panose="020F0502020204030204" pitchFamily="34" charset="0"/>
              </a:rPr>
              <a:t>Description:Program</a:t>
            </a:r>
            <a:r>
              <a:rPr lang="en-IN" dirty="0">
                <a:solidFill>
                  <a:srgbClr val="FFFF00"/>
                </a:solidFill>
                <a:latin typeface="Calibri" panose="020F0502020204030204" pitchFamily="34" charset="0"/>
                <a:cs typeface="Calibri" panose="020F0502020204030204" pitchFamily="34" charset="0"/>
              </a:rPr>
              <a:t> to demonstrate Lambda expression Single parameter</a:t>
            </a:r>
          </a:p>
          <a:p>
            <a:r>
              <a:rPr lang="en-IN" dirty="0">
                <a:solidFill>
                  <a:srgbClr val="FFFF00"/>
                </a:solidFill>
                <a:latin typeface="Calibri" panose="020F0502020204030204" pitchFamily="34" charset="0"/>
                <a:cs typeface="Calibri" panose="020F0502020204030204" pitchFamily="34" charset="0"/>
              </a:rPr>
              <a:t> * Date:7-1-2022</a:t>
            </a:r>
          </a:p>
          <a:p>
            <a:r>
              <a:rPr lang="en-IN" dirty="0">
                <a:solidFill>
                  <a:srgbClr val="FFFF00"/>
                </a:solidFill>
                <a:latin typeface="Calibri" panose="020F0502020204030204" pitchFamily="34" charset="0"/>
                <a:cs typeface="Calibri" panose="020F0502020204030204" pitchFamily="34" charset="0"/>
              </a:rPr>
              <a:t> */</a:t>
            </a:r>
          </a:p>
          <a:p>
            <a:r>
              <a:rPr lang="en-IN" dirty="0">
                <a:latin typeface="Calibri" panose="020F0502020204030204" pitchFamily="34" charset="0"/>
                <a:cs typeface="Calibri" panose="020F0502020204030204" pitchFamily="34" charset="0"/>
              </a:rPr>
              <a:t>@FunctionalInterface</a:t>
            </a:r>
          </a:p>
          <a:p>
            <a:r>
              <a:rPr lang="en-IN" dirty="0">
                <a:latin typeface="Calibri" panose="020F0502020204030204" pitchFamily="34" charset="0"/>
                <a:cs typeface="Calibri" panose="020F0502020204030204" pitchFamily="34" charset="0"/>
              </a:rPr>
              <a:t>interface </a:t>
            </a:r>
            <a:r>
              <a:rPr lang="en-IN" dirty="0" err="1">
                <a:latin typeface="Calibri" panose="020F0502020204030204" pitchFamily="34" charset="0"/>
                <a:cs typeface="Calibri" panose="020F0502020204030204" pitchFamily="34" charset="0"/>
              </a:rPr>
              <a:t>HelloI</a:t>
            </a:r>
            <a:endParaRPr lang="en-IN" dirty="0">
              <a:latin typeface="Calibri" panose="020F0502020204030204" pitchFamily="34" charset="0"/>
              <a:cs typeface="Calibri" panose="020F0502020204030204" pitchFamily="34" charset="0"/>
            </a:endParaRPr>
          </a:p>
          <a:p>
            <a:r>
              <a:rPr lang="en-IN" dirty="0">
                <a:latin typeface="Calibri" panose="020F0502020204030204" pitchFamily="34" charset="0"/>
                <a:cs typeface="Calibri" panose="020F0502020204030204" pitchFamily="34" charset="0"/>
              </a:rPr>
              <a:t>{</a:t>
            </a:r>
          </a:p>
          <a:p>
            <a:r>
              <a:rPr lang="en-IN" dirty="0">
                <a:latin typeface="Calibri" panose="020F0502020204030204" pitchFamily="34" charset="0"/>
                <a:cs typeface="Calibri" panose="020F0502020204030204" pitchFamily="34" charset="0"/>
              </a:rPr>
              <a:t>public String say(String name);	</a:t>
            </a:r>
          </a:p>
          <a:p>
            <a:r>
              <a:rPr lang="en-IN" dirty="0">
                <a:latin typeface="Calibri" panose="020F0502020204030204" pitchFamily="34" charset="0"/>
                <a:cs typeface="Calibri" panose="020F0502020204030204" pitchFamily="34" charset="0"/>
              </a:rPr>
              <a:t>}</a:t>
            </a:r>
          </a:p>
          <a:p>
            <a:r>
              <a:rPr lang="en-IN" dirty="0">
                <a:latin typeface="Calibri" panose="020F0502020204030204" pitchFamily="34" charset="0"/>
                <a:cs typeface="Calibri" panose="020F0502020204030204" pitchFamily="34" charset="0"/>
              </a:rPr>
              <a:t>public class </a:t>
            </a:r>
            <a:r>
              <a:rPr lang="en-IN" dirty="0" err="1">
                <a:latin typeface="Calibri" panose="020F0502020204030204" pitchFamily="34" charset="0"/>
                <a:cs typeface="Calibri" panose="020F0502020204030204" pitchFamily="34" charset="0"/>
              </a:rPr>
              <a:t>LambdaSingleEx</a:t>
            </a:r>
            <a:r>
              <a:rPr lang="en-IN" dirty="0">
                <a:latin typeface="Calibri" panose="020F0502020204030204" pitchFamily="34" charset="0"/>
                <a:cs typeface="Calibri" panose="020F0502020204030204" pitchFamily="34" charset="0"/>
              </a:rPr>
              <a:t> {</a:t>
            </a:r>
          </a:p>
          <a:p>
            <a:r>
              <a:rPr lang="en-IN" dirty="0">
                <a:latin typeface="Calibri" panose="020F0502020204030204" pitchFamily="34" charset="0"/>
                <a:cs typeface="Calibri" panose="020F0502020204030204" pitchFamily="34" charset="0"/>
              </a:rPr>
              <a:t>	public static void main(String </a:t>
            </a:r>
            <a:r>
              <a:rPr lang="en-IN" dirty="0" err="1">
                <a:latin typeface="Calibri" panose="020F0502020204030204" pitchFamily="34" charset="0"/>
                <a:cs typeface="Calibri" panose="020F0502020204030204" pitchFamily="34" charset="0"/>
              </a:rPr>
              <a:t>ar</a:t>
            </a:r>
            <a:r>
              <a:rPr lang="en-IN" dirty="0">
                <a:latin typeface="Calibri" panose="020F0502020204030204" pitchFamily="34" charset="0"/>
                <a:cs typeface="Calibri" panose="020F0502020204030204" pitchFamily="34" charset="0"/>
              </a:rPr>
              <a:t>[])</a:t>
            </a:r>
          </a:p>
          <a:p>
            <a:r>
              <a:rPr lang="en-IN" dirty="0">
                <a:latin typeface="Calibri" panose="020F0502020204030204" pitchFamily="34" charset="0"/>
                <a:cs typeface="Calibri" panose="020F0502020204030204" pitchFamily="34" charset="0"/>
              </a:rPr>
              <a:t>	{</a:t>
            </a:r>
          </a:p>
          <a:p>
            <a:r>
              <a:rPr lang="en-IN" dirty="0">
                <a:latin typeface="Calibri" panose="020F0502020204030204" pitchFamily="34" charset="0"/>
                <a:cs typeface="Calibri" panose="020F0502020204030204" pitchFamily="34" charset="0"/>
              </a:rPr>
              <a:t>   String </a:t>
            </a:r>
            <a:r>
              <a:rPr lang="en-IN" dirty="0" err="1">
                <a:latin typeface="Calibri" panose="020F0502020204030204" pitchFamily="34" charset="0"/>
                <a:cs typeface="Calibri" panose="020F0502020204030204" pitchFamily="34" charset="0"/>
              </a:rPr>
              <a:t>strF</a:t>
            </a:r>
            <a:r>
              <a:rPr lang="en-IN" dirty="0">
                <a:latin typeface="Calibri" panose="020F0502020204030204" pitchFamily="34" charset="0"/>
                <a:cs typeface="Calibri" panose="020F0502020204030204" pitchFamily="34" charset="0"/>
              </a:rPr>
              <a:t>="";</a:t>
            </a:r>
          </a:p>
          <a:p>
            <a:r>
              <a:rPr lang="en-IN" dirty="0">
                <a:latin typeface="Calibri" panose="020F0502020204030204" pitchFamily="34" charset="0"/>
                <a:cs typeface="Calibri" panose="020F0502020204030204" pitchFamily="34" charset="0"/>
              </a:rPr>
              <a:t>	</a:t>
            </a:r>
            <a:r>
              <a:rPr lang="en-IN" dirty="0" err="1">
                <a:latin typeface="Calibri" panose="020F0502020204030204" pitchFamily="34" charset="0"/>
                <a:cs typeface="Calibri" panose="020F0502020204030204" pitchFamily="34" charset="0"/>
              </a:rPr>
              <a:t>HelloI</a:t>
            </a:r>
            <a:r>
              <a:rPr lang="en-IN" dirty="0">
                <a:latin typeface="Calibri" panose="020F0502020204030204" pitchFamily="34" charset="0"/>
                <a:cs typeface="Calibri" panose="020F0502020204030204" pitchFamily="34" charset="0"/>
              </a:rPr>
              <a:t> </a:t>
            </a:r>
            <a:r>
              <a:rPr lang="en-IN" dirty="0" err="1">
                <a:latin typeface="Calibri" panose="020F0502020204030204" pitchFamily="34" charset="0"/>
                <a:cs typeface="Calibri" panose="020F0502020204030204" pitchFamily="34" charset="0"/>
              </a:rPr>
              <a:t>obh</a:t>
            </a:r>
            <a:r>
              <a:rPr lang="en-IN" dirty="0">
                <a:latin typeface="Calibri" panose="020F0502020204030204" pitchFamily="34" charset="0"/>
                <a:cs typeface="Calibri" panose="020F0502020204030204" pitchFamily="34" charset="0"/>
              </a:rPr>
              <a:t>= (name)-&gt;{</a:t>
            </a:r>
          </a:p>
          <a:p>
            <a:r>
              <a:rPr lang="en-IN" dirty="0">
                <a:latin typeface="Calibri" panose="020F0502020204030204" pitchFamily="34" charset="0"/>
                <a:cs typeface="Calibri" panose="020F0502020204030204" pitchFamily="34" charset="0"/>
              </a:rPr>
              <a:t>		        </a:t>
            </a:r>
            <a:r>
              <a:rPr lang="en-IN" dirty="0" err="1">
                <a:latin typeface="Calibri" panose="020F0502020204030204" pitchFamily="34" charset="0"/>
                <a:cs typeface="Calibri" panose="020F0502020204030204" pitchFamily="34" charset="0"/>
              </a:rPr>
              <a:t>System.out.println</a:t>
            </a:r>
            <a:r>
              <a:rPr lang="en-IN" dirty="0">
                <a:latin typeface="Calibri" panose="020F0502020204030204" pitchFamily="34" charset="0"/>
                <a:cs typeface="Calibri" panose="020F0502020204030204" pitchFamily="34" charset="0"/>
              </a:rPr>
              <a:t>(name);</a:t>
            </a:r>
          </a:p>
          <a:p>
            <a:r>
              <a:rPr lang="en-IN" dirty="0">
                <a:latin typeface="Calibri" panose="020F0502020204030204" pitchFamily="34" charset="0"/>
                <a:cs typeface="Calibri" panose="020F0502020204030204" pitchFamily="34" charset="0"/>
              </a:rPr>
              <a:t>		                return name ;};</a:t>
            </a:r>
          </a:p>
          <a:p>
            <a:r>
              <a:rPr lang="en-IN" dirty="0">
                <a:latin typeface="Calibri" panose="020F0502020204030204" pitchFamily="34" charset="0"/>
                <a:cs typeface="Calibri" panose="020F0502020204030204" pitchFamily="34" charset="0"/>
              </a:rPr>
              <a:t>		                </a:t>
            </a:r>
          </a:p>
          <a:p>
            <a:r>
              <a:rPr lang="en-IN" dirty="0">
                <a:latin typeface="Calibri" panose="020F0502020204030204" pitchFamily="34" charset="0"/>
                <a:cs typeface="Calibri" panose="020F0502020204030204" pitchFamily="34" charset="0"/>
              </a:rPr>
              <a:t>		        </a:t>
            </a:r>
            <a:r>
              <a:rPr lang="en-IN" dirty="0" err="1">
                <a:latin typeface="Calibri" panose="020F0502020204030204" pitchFamily="34" charset="0"/>
                <a:cs typeface="Calibri" panose="020F0502020204030204" pitchFamily="34" charset="0"/>
              </a:rPr>
              <a:t>System.out.println</a:t>
            </a:r>
            <a:r>
              <a:rPr lang="en-IN" dirty="0">
                <a:latin typeface="Calibri" panose="020F0502020204030204" pitchFamily="34" charset="0"/>
                <a:cs typeface="Calibri" panose="020F0502020204030204" pitchFamily="34" charset="0"/>
              </a:rPr>
              <a:t>("please say.."+</a:t>
            </a:r>
            <a:r>
              <a:rPr lang="en-IN" dirty="0" err="1">
                <a:latin typeface="Calibri" panose="020F0502020204030204" pitchFamily="34" charset="0"/>
                <a:cs typeface="Calibri" panose="020F0502020204030204" pitchFamily="34" charset="0"/>
              </a:rPr>
              <a:t>obh.say</a:t>
            </a:r>
            <a:r>
              <a:rPr lang="en-IN" dirty="0">
                <a:latin typeface="Calibri" panose="020F0502020204030204" pitchFamily="34" charset="0"/>
                <a:cs typeface="Calibri" panose="020F0502020204030204" pitchFamily="34" charset="0"/>
              </a:rPr>
              <a:t>("hi"));        </a:t>
            </a:r>
          </a:p>
          <a:p>
            <a:r>
              <a:rPr lang="en-IN" dirty="0">
                <a:latin typeface="Calibri" panose="020F0502020204030204" pitchFamily="34" charset="0"/>
                <a:cs typeface="Calibri" panose="020F0502020204030204" pitchFamily="34" charset="0"/>
              </a:rPr>
              <a:t>}</a:t>
            </a:r>
          </a:p>
          <a:p>
            <a:r>
              <a:rPr lang="en-IN" dirty="0">
                <a:latin typeface="Calibri" panose="020F0502020204030204" pitchFamily="34" charset="0"/>
                <a:cs typeface="Calibri" panose="020F0502020204030204" pitchFamily="34" charset="0"/>
              </a:rPr>
              <a:t>}</a:t>
            </a:r>
          </a:p>
        </p:txBody>
      </p:sp>
      <p:sp>
        <p:nvSpPr>
          <p:cNvPr id="5" name="TextBox 4">
            <a:extLst>
              <a:ext uri="{FF2B5EF4-FFF2-40B4-BE49-F238E27FC236}">
                <a16:creationId xmlns:a16="http://schemas.microsoft.com/office/drawing/2014/main" id="{430482B4-8E02-4DCF-9EFB-ECC0D9C1F40F}"/>
              </a:ext>
            </a:extLst>
          </p:cNvPr>
          <p:cNvSpPr txBox="1"/>
          <p:nvPr/>
        </p:nvSpPr>
        <p:spPr>
          <a:xfrm>
            <a:off x="9088582" y="4946073"/>
            <a:ext cx="1745673" cy="923330"/>
          </a:xfrm>
          <a:prstGeom prst="rect">
            <a:avLst/>
          </a:prstGeom>
          <a:noFill/>
        </p:spPr>
        <p:txBody>
          <a:bodyPr wrap="square" rtlCol="0">
            <a:spAutoFit/>
          </a:bodyPr>
          <a:lstStyle/>
          <a:p>
            <a:pPr algn="l"/>
            <a:r>
              <a:rPr lang="en-IN" sz="1800" dirty="0">
                <a:solidFill>
                  <a:srgbClr val="FFFF00"/>
                </a:solidFill>
                <a:latin typeface="Consolas" panose="020B0609020204030204" pitchFamily="49" charset="0"/>
              </a:rPr>
              <a:t>hi</a:t>
            </a:r>
          </a:p>
          <a:p>
            <a:pPr algn="l"/>
            <a:r>
              <a:rPr lang="en-IN" sz="1800" dirty="0">
                <a:solidFill>
                  <a:srgbClr val="FFFF00"/>
                </a:solidFill>
                <a:latin typeface="Consolas" panose="020B0609020204030204" pitchFamily="49" charset="0"/>
              </a:rPr>
              <a:t>please </a:t>
            </a:r>
            <a:r>
              <a:rPr lang="en-IN" sz="1800" dirty="0" err="1">
                <a:solidFill>
                  <a:srgbClr val="FFFF00"/>
                </a:solidFill>
                <a:latin typeface="Consolas" panose="020B0609020204030204" pitchFamily="49" charset="0"/>
              </a:rPr>
              <a:t>say..hi</a:t>
            </a:r>
            <a:endParaRPr lang="en-IN" dirty="0">
              <a:solidFill>
                <a:srgbClr val="FFFF00"/>
              </a:solidFill>
            </a:endParaRPr>
          </a:p>
        </p:txBody>
      </p:sp>
    </p:spTree>
    <p:extLst>
      <p:ext uri="{BB962C8B-B14F-4D97-AF65-F5344CB8AC3E}">
        <p14:creationId xmlns:p14="http://schemas.microsoft.com/office/powerpoint/2010/main" val="20594891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F0DD2D5-B9C8-42AB-8E19-C586E6F226AB}"/>
              </a:ext>
            </a:extLst>
          </p:cNvPr>
          <p:cNvSpPr txBox="1"/>
          <p:nvPr/>
        </p:nvSpPr>
        <p:spPr>
          <a:xfrm>
            <a:off x="1323109" y="0"/>
            <a:ext cx="9545782" cy="6986528"/>
          </a:xfrm>
          <a:prstGeom prst="rect">
            <a:avLst/>
          </a:prstGeom>
          <a:noFill/>
        </p:spPr>
        <p:txBody>
          <a:bodyPr wrap="square" rtlCol="0">
            <a:spAutoFit/>
          </a:bodyPr>
          <a:lstStyle/>
          <a:p>
            <a:r>
              <a:rPr lang="en-IN" sz="1600" dirty="0">
                <a:latin typeface="Calibri" panose="020F0502020204030204" pitchFamily="34" charset="0"/>
                <a:cs typeface="Calibri" panose="020F0502020204030204" pitchFamily="34" charset="0"/>
              </a:rPr>
              <a:t>package </a:t>
            </a:r>
            <a:r>
              <a:rPr lang="en-IN" sz="1600" dirty="0" err="1">
                <a:latin typeface="Calibri" panose="020F0502020204030204" pitchFamily="34" charset="0"/>
                <a:cs typeface="Calibri" panose="020F0502020204030204" pitchFamily="34" charset="0"/>
              </a:rPr>
              <a:t>javaprogram</a:t>
            </a:r>
            <a:r>
              <a:rPr lang="en-IN" sz="1600" dirty="0">
                <a:latin typeface="Calibri" panose="020F0502020204030204" pitchFamily="34" charset="0"/>
                <a:cs typeface="Calibri" panose="020F0502020204030204" pitchFamily="34" charset="0"/>
              </a:rPr>
              <a:t>;</a:t>
            </a:r>
          </a:p>
          <a:p>
            <a:r>
              <a:rPr lang="en-IN" sz="1600" dirty="0">
                <a:solidFill>
                  <a:srgbClr val="FFFF00"/>
                </a:solidFill>
                <a:latin typeface="Calibri" panose="020F0502020204030204" pitchFamily="34" charset="0"/>
                <a:cs typeface="Calibri" panose="020F0502020204030204" pitchFamily="34" charset="0"/>
              </a:rPr>
              <a:t>/* </a:t>
            </a:r>
            <a:r>
              <a:rPr lang="en-IN" sz="1600" dirty="0" err="1">
                <a:solidFill>
                  <a:srgbClr val="FFFF00"/>
                </a:solidFill>
                <a:latin typeface="Calibri" panose="020F0502020204030204" pitchFamily="34" charset="0"/>
                <a:cs typeface="Calibri" panose="020F0502020204030204" pitchFamily="34" charset="0"/>
              </a:rPr>
              <a:t>Title:LambdaSingleEx.java</a:t>
            </a:r>
            <a:endParaRPr lang="en-IN" sz="1600" dirty="0">
              <a:solidFill>
                <a:srgbClr val="FFFF00"/>
              </a:solidFill>
              <a:latin typeface="Calibri" panose="020F0502020204030204" pitchFamily="34" charset="0"/>
              <a:cs typeface="Calibri" panose="020F0502020204030204" pitchFamily="34" charset="0"/>
            </a:endParaRPr>
          </a:p>
          <a:p>
            <a:r>
              <a:rPr lang="en-IN" sz="1600" dirty="0">
                <a:solidFill>
                  <a:srgbClr val="FFFF00"/>
                </a:solidFill>
                <a:latin typeface="Calibri" panose="020F0502020204030204" pitchFamily="34" charset="0"/>
                <a:cs typeface="Calibri" panose="020F0502020204030204" pitchFamily="34" charset="0"/>
              </a:rPr>
              <a:t> * </a:t>
            </a:r>
            <a:r>
              <a:rPr lang="en-IN" sz="1600" dirty="0" err="1">
                <a:solidFill>
                  <a:srgbClr val="FFFF00"/>
                </a:solidFill>
                <a:latin typeface="Calibri" panose="020F0502020204030204" pitchFamily="34" charset="0"/>
                <a:cs typeface="Calibri" panose="020F0502020204030204" pitchFamily="34" charset="0"/>
              </a:rPr>
              <a:t>Author:Rajiv</a:t>
            </a:r>
            <a:r>
              <a:rPr lang="en-IN" sz="1600" dirty="0">
                <a:solidFill>
                  <a:srgbClr val="FFFF00"/>
                </a:solidFill>
                <a:latin typeface="Calibri" panose="020F0502020204030204" pitchFamily="34" charset="0"/>
                <a:cs typeface="Calibri" panose="020F0502020204030204" pitchFamily="34" charset="0"/>
              </a:rPr>
              <a:t> Ranjan</a:t>
            </a:r>
          </a:p>
          <a:p>
            <a:r>
              <a:rPr lang="en-IN" sz="1600" dirty="0">
                <a:solidFill>
                  <a:srgbClr val="FFFF00"/>
                </a:solidFill>
                <a:latin typeface="Calibri" panose="020F0502020204030204" pitchFamily="34" charset="0"/>
                <a:cs typeface="Calibri" panose="020F0502020204030204" pitchFamily="34" charset="0"/>
              </a:rPr>
              <a:t> * </a:t>
            </a:r>
            <a:r>
              <a:rPr lang="en-IN" sz="1600" dirty="0" err="1">
                <a:solidFill>
                  <a:srgbClr val="FFFF00"/>
                </a:solidFill>
                <a:latin typeface="Calibri" panose="020F0502020204030204" pitchFamily="34" charset="0"/>
                <a:cs typeface="Calibri" panose="020F0502020204030204" pitchFamily="34" charset="0"/>
              </a:rPr>
              <a:t>Description:Program</a:t>
            </a:r>
            <a:r>
              <a:rPr lang="en-IN" sz="1600" dirty="0">
                <a:solidFill>
                  <a:srgbClr val="FFFF00"/>
                </a:solidFill>
                <a:latin typeface="Calibri" panose="020F0502020204030204" pitchFamily="34" charset="0"/>
                <a:cs typeface="Calibri" panose="020F0502020204030204" pitchFamily="34" charset="0"/>
              </a:rPr>
              <a:t> to demonstrate Lambda expression two parameter</a:t>
            </a:r>
          </a:p>
          <a:p>
            <a:r>
              <a:rPr lang="en-IN" sz="1600" dirty="0">
                <a:solidFill>
                  <a:srgbClr val="FFFF00"/>
                </a:solidFill>
                <a:latin typeface="Calibri" panose="020F0502020204030204" pitchFamily="34" charset="0"/>
                <a:cs typeface="Calibri" panose="020F0502020204030204" pitchFamily="34" charset="0"/>
              </a:rPr>
              <a:t> * Date:7-1-2022</a:t>
            </a:r>
          </a:p>
          <a:p>
            <a:r>
              <a:rPr lang="en-IN" sz="1600" dirty="0">
                <a:solidFill>
                  <a:srgbClr val="FFFF00"/>
                </a:solidFill>
                <a:latin typeface="Calibri" panose="020F0502020204030204" pitchFamily="34" charset="0"/>
                <a:cs typeface="Calibri" panose="020F0502020204030204" pitchFamily="34" charset="0"/>
              </a:rPr>
              <a:t> */</a:t>
            </a:r>
          </a:p>
          <a:p>
            <a:r>
              <a:rPr lang="en-IN" sz="1600" dirty="0">
                <a:latin typeface="Calibri" panose="020F0502020204030204" pitchFamily="34" charset="0"/>
                <a:cs typeface="Calibri" panose="020F0502020204030204" pitchFamily="34" charset="0"/>
              </a:rPr>
              <a:t>@FunctionalInterface</a:t>
            </a:r>
          </a:p>
          <a:p>
            <a:r>
              <a:rPr lang="en-IN" sz="1600" dirty="0">
                <a:latin typeface="Calibri" panose="020F0502020204030204" pitchFamily="34" charset="0"/>
                <a:cs typeface="Calibri" panose="020F0502020204030204" pitchFamily="34" charset="0"/>
              </a:rPr>
              <a:t>interface </a:t>
            </a:r>
            <a:r>
              <a:rPr lang="en-IN" sz="1600" dirty="0" err="1">
                <a:latin typeface="Calibri" panose="020F0502020204030204" pitchFamily="34" charset="0"/>
                <a:cs typeface="Calibri" panose="020F0502020204030204" pitchFamily="34" charset="0"/>
              </a:rPr>
              <a:t>MyFullNameI</a:t>
            </a:r>
            <a:endParaRPr lang="en-IN" sz="1600" dirty="0">
              <a:latin typeface="Calibri" panose="020F0502020204030204" pitchFamily="34" charset="0"/>
              <a:cs typeface="Calibri" panose="020F0502020204030204" pitchFamily="34" charset="0"/>
            </a:endParaRPr>
          </a:p>
          <a:p>
            <a:r>
              <a:rPr lang="en-IN" sz="1600" dirty="0">
                <a:latin typeface="Calibri" panose="020F0502020204030204" pitchFamily="34" charset="0"/>
                <a:cs typeface="Calibri" panose="020F0502020204030204" pitchFamily="34" charset="0"/>
              </a:rPr>
              <a:t>{</a:t>
            </a:r>
          </a:p>
          <a:p>
            <a:r>
              <a:rPr lang="en-IN" sz="1600" dirty="0">
                <a:latin typeface="Calibri" panose="020F0502020204030204" pitchFamily="34" charset="0"/>
                <a:cs typeface="Calibri" panose="020F0502020204030204" pitchFamily="34" charset="0"/>
              </a:rPr>
              <a:t>	public String </a:t>
            </a:r>
            <a:r>
              <a:rPr lang="en-IN" sz="1600" dirty="0" err="1">
                <a:latin typeface="Calibri" panose="020F0502020204030204" pitchFamily="34" charset="0"/>
                <a:cs typeface="Calibri" panose="020F0502020204030204" pitchFamily="34" charset="0"/>
              </a:rPr>
              <a:t>myName</a:t>
            </a:r>
            <a:r>
              <a:rPr lang="en-IN" sz="1600" dirty="0">
                <a:latin typeface="Calibri" panose="020F0502020204030204" pitchFamily="34" charset="0"/>
                <a:cs typeface="Calibri" panose="020F0502020204030204" pitchFamily="34" charset="0"/>
              </a:rPr>
              <a:t>(String </a:t>
            </a:r>
            <a:r>
              <a:rPr lang="en-IN" sz="1600" dirty="0" err="1">
                <a:latin typeface="Calibri" panose="020F0502020204030204" pitchFamily="34" charset="0"/>
                <a:cs typeface="Calibri" panose="020F0502020204030204" pitchFamily="34" charset="0"/>
              </a:rPr>
              <a:t>strFirst,String</a:t>
            </a:r>
            <a:r>
              <a:rPr lang="en-IN" sz="1600" dirty="0">
                <a:latin typeface="Calibri" panose="020F0502020204030204" pitchFamily="34" charset="0"/>
                <a:cs typeface="Calibri" panose="020F0502020204030204" pitchFamily="34" charset="0"/>
              </a:rPr>
              <a:t> </a:t>
            </a:r>
            <a:r>
              <a:rPr lang="en-IN" sz="1600" dirty="0" err="1">
                <a:latin typeface="Calibri" panose="020F0502020204030204" pitchFamily="34" charset="0"/>
                <a:cs typeface="Calibri" panose="020F0502020204030204" pitchFamily="34" charset="0"/>
              </a:rPr>
              <a:t>strLast</a:t>
            </a:r>
            <a:r>
              <a:rPr lang="en-IN" sz="1600" dirty="0">
                <a:latin typeface="Calibri" panose="020F0502020204030204" pitchFamily="34" charset="0"/>
                <a:cs typeface="Calibri" panose="020F0502020204030204" pitchFamily="34" charset="0"/>
              </a:rPr>
              <a:t>);</a:t>
            </a:r>
          </a:p>
          <a:p>
            <a:r>
              <a:rPr lang="en-IN" sz="1600" dirty="0">
                <a:latin typeface="Calibri" panose="020F0502020204030204" pitchFamily="34" charset="0"/>
                <a:cs typeface="Calibri" panose="020F0502020204030204" pitchFamily="34" charset="0"/>
              </a:rPr>
              <a:t>	</a:t>
            </a:r>
          </a:p>
          <a:p>
            <a:r>
              <a:rPr lang="en-IN" sz="1600" dirty="0">
                <a:latin typeface="Calibri" panose="020F0502020204030204" pitchFamily="34" charset="0"/>
                <a:cs typeface="Calibri" panose="020F0502020204030204" pitchFamily="34" charset="0"/>
              </a:rPr>
              <a:t>}</a:t>
            </a:r>
          </a:p>
          <a:p>
            <a:r>
              <a:rPr lang="en-IN" sz="1600" dirty="0">
                <a:latin typeface="Calibri" panose="020F0502020204030204" pitchFamily="34" charset="0"/>
                <a:cs typeface="Calibri" panose="020F0502020204030204" pitchFamily="34" charset="0"/>
              </a:rPr>
              <a:t>public class </a:t>
            </a:r>
            <a:r>
              <a:rPr lang="en-IN" sz="1600" dirty="0" err="1">
                <a:latin typeface="Calibri" panose="020F0502020204030204" pitchFamily="34" charset="0"/>
                <a:cs typeface="Calibri" panose="020F0502020204030204" pitchFamily="34" charset="0"/>
              </a:rPr>
              <a:t>LambdaExTwoPara</a:t>
            </a:r>
            <a:r>
              <a:rPr lang="en-IN" sz="1600" dirty="0">
                <a:latin typeface="Calibri" panose="020F0502020204030204" pitchFamily="34" charset="0"/>
                <a:cs typeface="Calibri" panose="020F0502020204030204" pitchFamily="34" charset="0"/>
              </a:rPr>
              <a:t> {</a:t>
            </a:r>
          </a:p>
          <a:p>
            <a:r>
              <a:rPr lang="en-IN" sz="1600" dirty="0">
                <a:latin typeface="Calibri" panose="020F0502020204030204" pitchFamily="34" charset="0"/>
                <a:cs typeface="Calibri" panose="020F0502020204030204" pitchFamily="34" charset="0"/>
              </a:rPr>
              <a:t>public static void main(String </a:t>
            </a:r>
            <a:r>
              <a:rPr lang="en-IN" sz="1600" dirty="0" err="1">
                <a:latin typeface="Calibri" panose="020F0502020204030204" pitchFamily="34" charset="0"/>
                <a:cs typeface="Calibri" panose="020F0502020204030204" pitchFamily="34" charset="0"/>
              </a:rPr>
              <a:t>ar</a:t>
            </a:r>
            <a:r>
              <a:rPr lang="en-IN" sz="1600" dirty="0">
                <a:latin typeface="Calibri" panose="020F0502020204030204" pitchFamily="34" charset="0"/>
                <a:cs typeface="Calibri" panose="020F0502020204030204" pitchFamily="34" charset="0"/>
              </a:rPr>
              <a:t>[])</a:t>
            </a:r>
          </a:p>
          <a:p>
            <a:r>
              <a:rPr lang="en-IN" sz="1600" dirty="0">
                <a:latin typeface="Calibri" panose="020F0502020204030204" pitchFamily="34" charset="0"/>
                <a:cs typeface="Calibri" panose="020F0502020204030204" pitchFamily="34" charset="0"/>
              </a:rPr>
              <a:t>{</a:t>
            </a:r>
          </a:p>
          <a:p>
            <a:r>
              <a:rPr lang="en-IN" sz="1600" dirty="0">
                <a:latin typeface="Calibri" panose="020F0502020204030204" pitchFamily="34" charset="0"/>
                <a:cs typeface="Calibri" panose="020F0502020204030204" pitchFamily="34" charset="0"/>
              </a:rPr>
              <a:t>	String </a:t>
            </a:r>
            <a:r>
              <a:rPr lang="en-IN" sz="1600" dirty="0" err="1">
                <a:latin typeface="Calibri" panose="020F0502020204030204" pitchFamily="34" charset="0"/>
                <a:cs typeface="Calibri" panose="020F0502020204030204" pitchFamily="34" charset="0"/>
              </a:rPr>
              <a:t>strN</a:t>
            </a:r>
            <a:r>
              <a:rPr lang="en-IN" sz="1600" dirty="0">
                <a:latin typeface="Calibri" panose="020F0502020204030204" pitchFamily="34" charset="0"/>
                <a:cs typeface="Calibri" panose="020F0502020204030204" pitchFamily="34" charset="0"/>
              </a:rPr>
              <a:t>;</a:t>
            </a:r>
          </a:p>
          <a:p>
            <a:r>
              <a:rPr lang="en-IN" sz="1600" dirty="0">
                <a:latin typeface="Calibri" panose="020F0502020204030204" pitchFamily="34" charset="0"/>
                <a:cs typeface="Calibri" panose="020F0502020204030204" pitchFamily="34" charset="0"/>
              </a:rPr>
              <a:t>	</a:t>
            </a:r>
            <a:r>
              <a:rPr lang="en-IN" sz="1600" dirty="0" err="1">
                <a:latin typeface="Calibri" panose="020F0502020204030204" pitchFamily="34" charset="0"/>
                <a:cs typeface="Calibri" panose="020F0502020204030204" pitchFamily="34" charset="0"/>
              </a:rPr>
              <a:t>MyFullNameI</a:t>
            </a:r>
            <a:r>
              <a:rPr lang="en-IN" sz="1600" dirty="0">
                <a:latin typeface="Calibri" panose="020F0502020204030204" pitchFamily="34" charset="0"/>
                <a:cs typeface="Calibri" panose="020F0502020204030204" pitchFamily="34" charset="0"/>
              </a:rPr>
              <a:t> </a:t>
            </a:r>
            <a:r>
              <a:rPr lang="en-IN" sz="1600" dirty="0" err="1">
                <a:latin typeface="Calibri" panose="020F0502020204030204" pitchFamily="34" charset="0"/>
                <a:cs typeface="Calibri" panose="020F0502020204030204" pitchFamily="34" charset="0"/>
              </a:rPr>
              <a:t>obm</a:t>
            </a:r>
            <a:r>
              <a:rPr lang="en-IN" sz="1600" dirty="0">
                <a:latin typeface="Calibri" panose="020F0502020204030204" pitchFamily="34" charset="0"/>
                <a:cs typeface="Calibri" panose="020F0502020204030204" pitchFamily="34" charset="0"/>
              </a:rPr>
              <a:t>=(</a:t>
            </a:r>
            <a:r>
              <a:rPr lang="en-IN" sz="1600" dirty="0" err="1">
                <a:latin typeface="Calibri" panose="020F0502020204030204" pitchFamily="34" charset="0"/>
                <a:cs typeface="Calibri" panose="020F0502020204030204" pitchFamily="34" charset="0"/>
              </a:rPr>
              <a:t>strFirst,strLast</a:t>
            </a:r>
            <a:r>
              <a:rPr lang="en-IN" sz="1600" dirty="0">
                <a:latin typeface="Calibri" panose="020F0502020204030204" pitchFamily="34" charset="0"/>
                <a:cs typeface="Calibri" panose="020F0502020204030204" pitchFamily="34" charset="0"/>
              </a:rPr>
              <a:t>)-&gt;{     //body of interface</a:t>
            </a:r>
          </a:p>
          <a:p>
            <a:r>
              <a:rPr lang="en-IN" sz="1600" dirty="0">
                <a:latin typeface="Calibri" panose="020F0502020204030204" pitchFamily="34" charset="0"/>
                <a:cs typeface="Calibri" panose="020F0502020204030204" pitchFamily="34" charset="0"/>
              </a:rPr>
              <a:t>		String </a:t>
            </a:r>
            <a:r>
              <a:rPr lang="en-IN" sz="1600" dirty="0" err="1">
                <a:latin typeface="Calibri" panose="020F0502020204030204" pitchFamily="34" charset="0"/>
                <a:cs typeface="Calibri" panose="020F0502020204030204" pitchFamily="34" charset="0"/>
              </a:rPr>
              <a:t>strMyName</a:t>
            </a:r>
            <a:r>
              <a:rPr lang="en-IN" sz="1600" dirty="0">
                <a:latin typeface="Calibri" panose="020F0502020204030204" pitchFamily="34" charset="0"/>
                <a:cs typeface="Calibri" panose="020F0502020204030204" pitchFamily="34" charset="0"/>
              </a:rPr>
              <a:t>=</a:t>
            </a:r>
            <a:r>
              <a:rPr lang="en-IN" sz="1600" dirty="0" err="1">
                <a:latin typeface="Calibri" panose="020F0502020204030204" pitchFamily="34" charset="0"/>
                <a:cs typeface="Calibri" panose="020F0502020204030204" pitchFamily="34" charset="0"/>
              </a:rPr>
              <a:t>strFirst</a:t>
            </a:r>
            <a:r>
              <a:rPr lang="en-IN" sz="1600" dirty="0">
                <a:latin typeface="Calibri" panose="020F0502020204030204" pitchFamily="34" charset="0"/>
                <a:cs typeface="Calibri" panose="020F0502020204030204" pitchFamily="34" charset="0"/>
              </a:rPr>
              <a:t>+" "+</a:t>
            </a:r>
            <a:r>
              <a:rPr lang="en-IN" sz="1600" dirty="0" err="1">
                <a:latin typeface="Calibri" panose="020F0502020204030204" pitchFamily="34" charset="0"/>
                <a:cs typeface="Calibri" panose="020F0502020204030204" pitchFamily="34" charset="0"/>
              </a:rPr>
              <a:t>strLast</a:t>
            </a:r>
            <a:r>
              <a:rPr lang="en-IN" sz="1600" dirty="0">
                <a:latin typeface="Calibri" panose="020F0502020204030204" pitchFamily="34" charset="0"/>
                <a:cs typeface="Calibri" panose="020F0502020204030204" pitchFamily="34" charset="0"/>
              </a:rPr>
              <a:t>;</a:t>
            </a:r>
          </a:p>
          <a:p>
            <a:r>
              <a:rPr lang="en-IN" sz="1600" dirty="0">
                <a:latin typeface="Calibri" panose="020F0502020204030204" pitchFamily="34" charset="0"/>
                <a:cs typeface="Calibri" panose="020F0502020204030204" pitchFamily="34" charset="0"/>
              </a:rPr>
              <a:t>		return </a:t>
            </a:r>
            <a:r>
              <a:rPr lang="en-IN" sz="1600" dirty="0" err="1">
                <a:latin typeface="Calibri" panose="020F0502020204030204" pitchFamily="34" charset="0"/>
                <a:cs typeface="Calibri" panose="020F0502020204030204" pitchFamily="34" charset="0"/>
              </a:rPr>
              <a:t>strMyName</a:t>
            </a:r>
            <a:r>
              <a:rPr lang="en-IN" sz="1600" dirty="0">
                <a:latin typeface="Calibri" panose="020F0502020204030204" pitchFamily="34" charset="0"/>
                <a:cs typeface="Calibri" panose="020F0502020204030204" pitchFamily="34" charset="0"/>
              </a:rPr>
              <a:t>;</a:t>
            </a:r>
          </a:p>
          <a:p>
            <a:r>
              <a:rPr lang="en-IN" sz="1600" dirty="0">
                <a:latin typeface="Calibri" panose="020F0502020204030204" pitchFamily="34" charset="0"/>
                <a:cs typeface="Calibri" panose="020F0502020204030204" pitchFamily="34" charset="0"/>
              </a:rPr>
              <a:t>		</a:t>
            </a:r>
          </a:p>
          <a:p>
            <a:r>
              <a:rPr lang="en-IN" sz="1600" dirty="0">
                <a:latin typeface="Calibri" panose="020F0502020204030204" pitchFamily="34" charset="0"/>
                <a:cs typeface="Calibri" panose="020F0502020204030204" pitchFamily="34" charset="0"/>
              </a:rPr>
              <a:t>	};</a:t>
            </a:r>
          </a:p>
          <a:p>
            <a:r>
              <a:rPr lang="en-IN" sz="1600" dirty="0">
                <a:latin typeface="Calibri" panose="020F0502020204030204" pitchFamily="34" charset="0"/>
                <a:cs typeface="Calibri" panose="020F0502020204030204" pitchFamily="34" charset="0"/>
              </a:rPr>
              <a:t>	</a:t>
            </a:r>
          </a:p>
          <a:p>
            <a:r>
              <a:rPr lang="en-IN" sz="1600" dirty="0">
                <a:latin typeface="Calibri" panose="020F0502020204030204" pitchFamily="34" charset="0"/>
                <a:cs typeface="Calibri" panose="020F0502020204030204" pitchFamily="34" charset="0"/>
              </a:rPr>
              <a:t>	</a:t>
            </a:r>
            <a:r>
              <a:rPr lang="en-IN" sz="1600" dirty="0" err="1">
                <a:latin typeface="Calibri" panose="020F0502020204030204" pitchFamily="34" charset="0"/>
                <a:cs typeface="Calibri" panose="020F0502020204030204" pitchFamily="34" charset="0"/>
              </a:rPr>
              <a:t>strN</a:t>
            </a:r>
            <a:r>
              <a:rPr lang="en-IN" sz="1600" dirty="0">
                <a:latin typeface="Calibri" panose="020F0502020204030204" pitchFamily="34" charset="0"/>
                <a:cs typeface="Calibri" panose="020F0502020204030204" pitchFamily="34" charset="0"/>
              </a:rPr>
              <a:t>=</a:t>
            </a:r>
            <a:r>
              <a:rPr lang="en-IN" sz="1600" dirty="0" err="1">
                <a:latin typeface="Calibri" panose="020F0502020204030204" pitchFamily="34" charset="0"/>
                <a:cs typeface="Calibri" panose="020F0502020204030204" pitchFamily="34" charset="0"/>
              </a:rPr>
              <a:t>obm.myName</a:t>
            </a:r>
            <a:r>
              <a:rPr lang="en-IN" sz="1600" dirty="0">
                <a:latin typeface="Calibri" panose="020F0502020204030204" pitchFamily="34" charset="0"/>
                <a:cs typeface="Calibri" panose="020F0502020204030204" pitchFamily="34" charset="0"/>
              </a:rPr>
              <a:t>("</a:t>
            </a:r>
            <a:r>
              <a:rPr lang="en-IN" sz="1600" dirty="0" err="1">
                <a:latin typeface="Calibri" panose="020F0502020204030204" pitchFamily="34" charset="0"/>
                <a:cs typeface="Calibri" panose="020F0502020204030204" pitchFamily="34" charset="0"/>
              </a:rPr>
              <a:t>vijay</a:t>
            </a:r>
            <a:r>
              <a:rPr lang="en-IN" sz="1600" dirty="0">
                <a:latin typeface="Calibri" panose="020F0502020204030204" pitchFamily="34" charset="0"/>
                <a:cs typeface="Calibri" panose="020F0502020204030204" pitchFamily="34" charset="0"/>
              </a:rPr>
              <a:t>", "</a:t>
            </a:r>
            <a:r>
              <a:rPr lang="en-IN" sz="1600" dirty="0" err="1">
                <a:latin typeface="Calibri" panose="020F0502020204030204" pitchFamily="34" charset="0"/>
                <a:cs typeface="Calibri" panose="020F0502020204030204" pitchFamily="34" charset="0"/>
              </a:rPr>
              <a:t>kumar</a:t>
            </a:r>
            <a:r>
              <a:rPr lang="en-IN" sz="1600" dirty="0">
                <a:latin typeface="Calibri" panose="020F0502020204030204" pitchFamily="34" charset="0"/>
                <a:cs typeface="Calibri" panose="020F0502020204030204" pitchFamily="34" charset="0"/>
              </a:rPr>
              <a:t>");</a:t>
            </a:r>
          </a:p>
          <a:p>
            <a:r>
              <a:rPr lang="en-IN" sz="1600" dirty="0">
                <a:latin typeface="Calibri" panose="020F0502020204030204" pitchFamily="34" charset="0"/>
                <a:cs typeface="Calibri" panose="020F0502020204030204" pitchFamily="34" charset="0"/>
              </a:rPr>
              <a:t>	</a:t>
            </a:r>
          </a:p>
          <a:p>
            <a:r>
              <a:rPr lang="en-IN" sz="1600" dirty="0">
                <a:latin typeface="Calibri" panose="020F0502020204030204" pitchFamily="34" charset="0"/>
                <a:cs typeface="Calibri" panose="020F0502020204030204" pitchFamily="34" charset="0"/>
              </a:rPr>
              <a:t>	</a:t>
            </a:r>
            <a:r>
              <a:rPr lang="en-IN" sz="1600" dirty="0" err="1">
                <a:latin typeface="Calibri" panose="020F0502020204030204" pitchFamily="34" charset="0"/>
                <a:cs typeface="Calibri" panose="020F0502020204030204" pitchFamily="34" charset="0"/>
              </a:rPr>
              <a:t>System.out.println</a:t>
            </a:r>
            <a:r>
              <a:rPr lang="en-IN" sz="1600" dirty="0">
                <a:latin typeface="Calibri" panose="020F0502020204030204" pitchFamily="34" charset="0"/>
                <a:cs typeface="Calibri" panose="020F0502020204030204" pitchFamily="34" charset="0"/>
              </a:rPr>
              <a:t>("My name is.."+</a:t>
            </a:r>
            <a:r>
              <a:rPr lang="en-IN" sz="1600" dirty="0" err="1">
                <a:latin typeface="Calibri" panose="020F0502020204030204" pitchFamily="34" charset="0"/>
                <a:cs typeface="Calibri" panose="020F0502020204030204" pitchFamily="34" charset="0"/>
              </a:rPr>
              <a:t>strN</a:t>
            </a:r>
            <a:r>
              <a:rPr lang="en-IN" sz="1600" dirty="0">
                <a:latin typeface="Calibri" panose="020F0502020204030204" pitchFamily="34" charset="0"/>
                <a:cs typeface="Calibri" panose="020F0502020204030204" pitchFamily="34" charset="0"/>
              </a:rPr>
              <a:t>);</a:t>
            </a:r>
          </a:p>
          <a:p>
            <a:r>
              <a:rPr lang="en-IN" sz="1600" dirty="0">
                <a:latin typeface="Calibri" panose="020F0502020204030204" pitchFamily="34" charset="0"/>
                <a:cs typeface="Calibri" panose="020F0502020204030204" pitchFamily="34" charset="0"/>
              </a:rPr>
              <a:t>}</a:t>
            </a:r>
          </a:p>
          <a:p>
            <a:r>
              <a:rPr lang="en-IN" sz="1600" dirty="0">
                <a:latin typeface="Calibri" panose="020F0502020204030204" pitchFamily="34" charset="0"/>
                <a:cs typeface="Calibri" panose="020F0502020204030204" pitchFamily="34" charset="0"/>
              </a:rPr>
              <a:t>}</a:t>
            </a:r>
          </a:p>
          <a:p>
            <a:endParaRPr lang="en-IN" sz="16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EDE5F28-5E40-46D6-BCBB-5620DB9CC083}"/>
              </a:ext>
            </a:extLst>
          </p:cNvPr>
          <p:cNvSpPr txBox="1"/>
          <p:nvPr/>
        </p:nvSpPr>
        <p:spPr>
          <a:xfrm>
            <a:off x="8589818" y="5126183"/>
            <a:ext cx="2064327" cy="646331"/>
          </a:xfrm>
          <a:prstGeom prst="rect">
            <a:avLst/>
          </a:prstGeom>
          <a:noFill/>
        </p:spPr>
        <p:txBody>
          <a:bodyPr wrap="square" rtlCol="0">
            <a:spAutoFit/>
          </a:bodyPr>
          <a:lstStyle/>
          <a:p>
            <a:pPr algn="l"/>
            <a:r>
              <a:rPr lang="en-US" sz="1800" dirty="0">
                <a:solidFill>
                  <a:srgbClr val="FFFF00"/>
                </a:solidFill>
                <a:latin typeface="Consolas" panose="020B0609020204030204" pitchFamily="49" charset="0"/>
              </a:rPr>
              <a:t>My name is..</a:t>
            </a:r>
            <a:r>
              <a:rPr lang="en-US" sz="1800" dirty="0" err="1">
                <a:solidFill>
                  <a:srgbClr val="FFFF00"/>
                </a:solidFill>
                <a:latin typeface="Consolas" panose="020B0609020204030204" pitchFamily="49" charset="0"/>
              </a:rPr>
              <a:t>vijay</a:t>
            </a:r>
            <a:r>
              <a:rPr lang="en-US" sz="1800" dirty="0">
                <a:solidFill>
                  <a:srgbClr val="FFFF00"/>
                </a:solidFill>
                <a:latin typeface="Consolas" panose="020B0609020204030204" pitchFamily="49" charset="0"/>
              </a:rPr>
              <a:t> </a:t>
            </a:r>
            <a:r>
              <a:rPr lang="en-US" sz="1800" dirty="0" err="1">
                <a:solidFill>
                  <a:srgbClr val="FFFF00"/>
                </a:solidFill>
                <a:latin typeface="Consolas" panose="020B0609020204030204" pitchFamily="49" charset="0"/>
              </a:rPr>
              <a:t>kumar</a:t>
            </a:r>
            <a:endParaRPr lang="en-US" sz="1800" dirty="0">
              <a:solidFill>
                <a:srgbClr val="FFFF00"/>
              </a:solidFill>
              <a:latin typeface="Consolas" panose="020B0609020204030204" pitchFamily="49" charset="0"/>
            </a:endParaRPr>
          </a:p>
        </p:txBody>
      </p:sp>
    </p:spTree>
    <p:extLst>
      <p:ext uri="{BB962C8B-B14F-4D97-AF65-F5344CB8AC3E}">
        <p14:creationId xmlns:p14="http://schemas.microsoft.com/office/powerpoint/2010/main" val="41344014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211</TotalTime>
  <Words>1190</Words>
  <Application>Microsoft Office PowerPoint</Application>
  <PresentationFormat>Widescreen</PresentationFormat>
  <Paragraphs>157</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Bookman Old Style</vt:lpstr>
      <vt:lpstr>Calibri</vt:lpstr>
      <vt:lpstr>Consolas</vt:lpstr>
      <vt:lpstr>Rockwell</vt:lpstr>
      <vt:lpstr>Damask</vt:lpstr>
      <vt:lpstr>Java 8 Features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rajivranjancse@outlook.com</dc:creator>
  <cp:lastModifiedBy>rajivranjancse@outlook.com</cp:lastModifiedBy>
  <cp:revision>32</cp:revision>
  <dcterms:created xsi:type="dcterms:W3CDTF">2022-01-13T07:41:16Z</dcterms:created>
  <dcterms:modified xsi:type="dcterms:W3CDTF">2022-01-13T11:12:56Z</dcterms:modified>
</cp:coreProperties>
</file>