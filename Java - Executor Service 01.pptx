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1BD0-8C33-CDF2-14DD-0618E760F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B7B10-B4AF-971C-1CF3-1964D109E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DF740-631E-3000-3656-9E049B0A3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EAAA5-F18D-C54D-4345-326D51997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091E7-6AFC-E9F0-F61D-0ED6D5AA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82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79569-D741-DE58-038D-AC5DA429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8FF7-D4BD-12A5-D041-CB8CF27E6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45EED-6457-CF7D-A6C8-5B89EB51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5AC23-7062-5605-3B40-5B1C8EFA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078DC-D470-F641-D6F6-87F70124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47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7339-9B97-537F-F8EA-F1391975F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7A5E3-9FB9-81B9-A4C7-8A1D4C6E7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513C1-E9B8-E799-2DF4-C8BA3610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46838-BDE1-07E8-FC45-6561129F7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667BD-1599-6412-995B-F155F281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441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BA8EA-20DD-5902-ADBE-C8D46EBC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EF62-277D-07E6-B7AC-DA350A374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7F08B-04AE-CEA9-AC7E-653351298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66EF9-92F2-958D-3203-B5308CA4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32F2F-77F3-4129-7BEE-27ABE0B8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92EA1-78FE-0F51-4B6B-5D0BEE45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43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8799-BB4B-E857-0DD8-5CA60830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77B3F-533A-35F3-FF80-54A54482A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69A7B-26AC-2E83-C987-28AE0DE0F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B6AA2-DEDA-A2F7-0580-4546782E2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7D25BF-223D-E960-B695-B99420A3C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D1BAA-7550-8472-BE27-FC7B82D3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43CDAB-7EEA-672A-34FA-4089DEDE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CF3B00-4ABE-4AC5-A7A9-28E862F9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8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C39E-95E7-099B-2427-E956A0BE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93156-854A-4C6F-C42D-CE44605F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C39B6-CE3C-82F7-DC5D-0152A375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B3131-D930-D3FE-1E46-7764B3EB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57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F695B-D775-2E4E-D765-04FBCEDF1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442AC-036A-B89C-A0B9-F5CE9496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6FF2A-2A0F-61F2-6610-DC384BC2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80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1EEF-C245-463C-83F6-2221D421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B4547-B61A-5A3C-6D6C-044478614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F9D1C-2983-8CF0-4649-CFAD937A2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2921B-99E8-5E31-A597-E260880F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8EC12-698E-D707-63EE-22A9A593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2EA74-1B3D-71CB-72F7-EFEADDFB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02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3F768-D993-DBC1-C76C-6202C0D69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0D009-40E2-8368-B345-88CF0D1B6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0AE15-F2F3-5C62-CAB7-81FEFFED9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761E3-4CF1-4C22-013C-AA1BD1E0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51888-67E6-8F6B-EA98-FFBEC740B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06446-4831-DD3C-EE86-31263DEF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221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EDF6C-8846-DB6F-BBAF-3C3AE0F4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A4A71-A6B2-0AB1-AAC4-FB1F8F993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7B1D5-43BB-56CE-09F3-499E4125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4C2C0-9E8A-C060-32E9-6D5A2F2CB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E6F59-6BB5-7B38-5291-C1520634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064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BFE7-BD08-BA9F-96EC-AFC86B4918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19CA8-42B0-B3A6-3CFB-97FC94177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4418A-DCF9-87DC-16C2-54E8307D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FAF07-8705-AB23-1569-858AEFED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4C2B7-2E14-853E-9FB9-5664DD07E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14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F39A6-1334-A974-63DA-EB2714E9A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EF2E1-045F-9BA5-7FBB-0ECBF2D73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0C3F2-C2E6-480A-6DB2-F1C37C0A5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B8612-AC04-49D4-B876-67659D0F087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164BC-FC07-4AD9-37B4-8F047B0D0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53E01-3109-D201-2C66-D15D008F3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F1FAA-3FFC-4168-A24A-270F9C782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1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97F898-25FB-EB2C-DDC3-36F8BD88D239}"/>
              </a:ext>
            </a:extLst>
          </p:cNvPr>
          <p:cNvSpPr txBox="1"/>
          <p:nvPr/>
        </p:nvSpPr>
        <p:spPr>
          <a:xfrm>
            <a:off x="2672862" y="1167618"/>
            <a:ext cx="6963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 </a:t>
            </a:r>
            <a:r>
              <a:rPr lang="en-IN" dirty="0" err="1"/>
              <a:t>ExecutorService</a:t>
            </a:r>
            <a:r>
              <a:rPr lang="en-IN" dirty="0"/>
              <a:t>, Future, and Callable are Java concurrency concepts that provide a high-level abstraction for </a:t>
            </a:r>
            <a:r>
              <a:rPr lang="en-IN" b="1" dirty="0"/>
              <a:t>executing tasks asynchronously and obtaining their results.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392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BACFE7-C4D0-B081-08EF-639544521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245" y="1357312"/>
            <a:ext cx="5731510" cy="4143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710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43210-8912-7A54-F2AA-E1E0A2F6B4FA}"/>
              </a:ext>
            </a:extLst>
          </p:cNvPr>
          <p:cNvSpPr txBox="1"/>
          <p:nvPr/>
        </p:nvSpPr>
        <p:spPr>
          <a:xfrm>
            <a:off x="1505243" y="872197"/>
            <a:ext cx="6260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ExecutorService</a:t>
            </a:r>
            <a:r>
              <a:rPr lang="en-IN" b="1" dirty="0"/>
              <a:t>:</a:t>
            </a:r>
            <a:endParaRPr lang="en-IN" dirty="0"/>
          </a:p>
          <a:p>
            <a:r>
              <a:rPr lang="en-IN" dirty="0"/>
              <a:t>An </a:t>
            </a:r>
            <a:r>
              <a:rPr lang="en-IN" dirty="0" err="1"/>
              <a:t>ExecutorService</a:t>
            </a:r>
            <a:r>
              <a:rPr lang="en-IN" dirty="0"/>
              <a:t> is a </a:t>
            </a:r>
            <a:r>
              <a:rPr lang="en-IN" b="1" dirty="0"/>
              <a:t>utility in Java</a:t>
            </a:r>
            <a:r>
              <a:rPr lang="en-IN" dirty="0"/>
              <a:t> that provides a way to execute tasks concurrently.</a:t>
            </a:r>
          </a:p>
          <a:p>
            <a:pPr lvl="0"/>
            <a:r>
              <a:rPr lang="en-IN" dirty="0"/>
              <a:t>It </a:t>
            </a:r>
            <a:r>
              <a:rPr lang="en-IN" b="1" dirty="0"/>
              <a:t>manages a pool of worker threads,</a:t>
            </a:r>
            <a:r>
              <a:rPr lang="en-IN" dirty="0"/>
              <a:t> and allows you to submit tasks for execution.</a:t>
            </a:r>
          </a:p>
          <a:p>
            <a:r>
              <a:rPr lang="en-IN" dirty="0"/>
              <a:t>The </a:t>
            </a:r>
            <a:r>
              <a:rPr lang="en-IN" dirty="0" err="1"/>
              <a:t>ExecutorService</a:t>
            </a:r>
            <a:r>
              <a:rPr lang="en-IN" dirty="0"/>
              <a:t> handles </a:t>
            </a:r>
            <a:r>
              <a:rPr lang="en-IN" b="1" dirty="0"/>
              <a:t>creation, management, and reusability of threads</a:t>
            </a:r>
            <a:r>
              <a:rPr lang="en-IN" dirty="0"/>
              <a:t>, making it easier to handle concurrent tasks in multithreaded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B47AC-9595-A4AA-6F0F-BD08AFAD7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168" y="3417179"/>
            <a:ext cx="5731510" cy="3111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3050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98E659-3FE4-91DC-DFD7-EFF982AABC5D}"/>
              </a:ext>
            </a:extLst>
          </p:cNvPr>
          <p:cNvSpPr txBox="1"/>
          <p:nvPr/>
        </p:nvSpPr>
        <p:spPr>
          <a:xfrm>
            <a:off x="4839286" y="787790"/>
            <a:ext cx="2982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69197-D9CF-8B88-AA53-04A7AA15C01D}"/>
              </a:ext>
            </a:extLst>
          </p:cNvPr>
          <p:cNvSpPr txBox="1"/>
          <p:nvPr/>
        </p:nvSpPr>
        <p:spPr>
          <a:xfrm>
            <a:off x="1202787" y="1296027"/>
            <a:ext cx="727299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java.util.concurrent.ExecutorService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java.util.concurrent.Executors</a:t>
            </a:r>
            <a:r>
              <a:rPr lang="en-IN" dirty="0"/>
              <a:t>;</a:t>
            </a:r>
          </a:p>
          <a:p>
            <a:r>
              <a:rPr lang="en-IN" dirty="0"/>
              <a:t>public class </a:t>
            </a:r>
            <a:r>
              <a:rPr lang="en-IN" dirty="0" err="1"/>
              <a:t>ExecutorServiceEx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ExecutorService</a:t>
            </a:r>
            <a:r>
              <a:rPr lang="en-IN" dirty="0"/>
              <a:t> </a:t>
            </a:r>
            <a:r>
              <a:rPr lang="en-IN" dirty="0" err="1"/>
              <a:t>executorService</a:t>
            </a:r>
            <a:r>
              <a:rPr lang="en-IN" dirty="0"/>
              <a:t> = </a:t>
            </a:r>
            <a:r>
              <a:rPr lang="en-IN" dirty="0" err="1"/>
              <a:t>Executors.newFixedThreadPool</a:t>
            </a:r>
            <a:r>
              <a:rPr lang="en-IN" dirty="0"/>
              <a:t>(2);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// Submit tasks for execution</a:t>
            </a:r>
          </a:p>
          <a:p>
            <a:r>
              <a:rPr lang="en-IN" dirty="0"/>
              <a:t>        </a:t>
            </a:r>
            <a:r>
              <a:rPr lang="en-IN" dirty="0" err="1"/>
              <a:t>executorService.submit</a:t>
            </a:r>
            <a:r>
              <a:rPr lang="en-IN" dirty="0"/>
              <a:t>(() -&gt;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("Task 1 executing");</a:t>
            </a:r>
          </a:p>
          <a:p>
            <a:r>
              <a:rPr lang="en-IN" dirty="0"/>
              <a:t>        });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</a:t>
            </a:r>
            <a:r>
              <a:rPr lang="en-IN" dirty="0" err="1"/>
              <a:t>executorService.submit</a:t>
            </a:r>
            <a:r>
              <a:rPr lang="en-IN" dirty="0"/>
              <a:t>(() -&gt;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("Task 2 executing");</a:t>
            </a:r>
          </a:p>
          <a:p>
            <a:r>
              <a:rPr lang="en-IN" dirty="0"/>
              <a:t>        });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// Shutdown the executor service</a:t>
            </a:r>
          </a:p>
          <a:p>
            <a:r>
              <a:rPr lang="en-IN" dirty="0"/>
              <a:t>        </a:t>
            </a:r>
            <a:r>
              <a:rPr lang="en-IN" dirty="0" err="1"/>
              <a:t>executorService.shutdown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95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10312-6998-5D4B-D374-6FEBB7899006}"/>
              </a:ext>
            </a:extLst>
          </p:cNvPr>
          <p:cNvSpPr txBox="1"/>
          <p:nvPr/>
        </p:nvSpPr>
        <p:spPr>
          <a:xfrm>
            <a:off x="1280159" y="956603"/>
            <a:ext cx="7835705" cy="2110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In above code, an </a:t>
            </a:r>
            <a:r>
              <a:rPr lang="en-IN" dirty="0" err="1"/>
              <a:t>ExecutorService</a:t>
            </a:r>
            <a:r>
              <a:rPr lang="en-IN" dirty="0"/>
              <a:t> is created using the </a:t>
            </a:r>
            <a:r>
              <a:rPr lang="en-IN" dirty="0" err="1"/>
              <a:t>Executors.newFixedThreadPool</a:t>
            </a:r>
            <a:r>
              <a:rPr lang="en-IN" dirty="0"/>
              <a:t>() factory method, which creates a thread pool with a fixed number of threads (2 in this case).</a:t>
            </a:r>
          </a:p>
          <a:p>
            <a:pPr lvl="0"/>
            <a:r>
              <a:rPr lang="en-IN" dirty="0"/>
              <a:t>Two tasks are submitted using the submit() method, which queues the tasks for execution.</a:t>
            </a:r>
          </a:p>
          <a:p>
            <a:r>
              <a:rPr lang="en-IN" b="1" dirty="0"/>
              <a:t>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8832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5F6A88-E9D1-D0AF-4381-2BE2FF8BEAE1}"/>
              </a:ext>
            </a:extLst>
          </p:cNvPr>
          <p:cNvSpPr txBox="1"/>
          <p:nvPr/>
        </p:nvSpPr>
        <p:spPr>
          <a:xfrm>
            <a:off x="2110153" y="618978"/>
            <a:ext cx="56130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Future </a:t>
            </a:r>
          </a:p>
          <a:p>
            <a:r>
              <a:rPr lang="en-IN" dirty="0"/>
              <a:t>The Future interface represents the </a:t>
            </a:r>
            <a:r>
              <a:rPr lang="en-IN" b="1" dirty="0"/>
              <a:t>result of an asynchronous </a:t>
            </a:r>
            <a:endParaRPr lang="en-IN" dirty="0"/>
          </a:p>
          <a:p>
            <a:r>
              <a:rPr lang="en-IN" dirty="0"/>
              <a:t> </a:t>
            </a:r>
          </a:p>
          <a:p>
            <a:r>
              <a:rPr lang="en-IN" dirty="0"/>
              <a:t>It provides methods to check if the computation is complete, wait for the result, and retrieve the 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E68CAB-CD26-C0B3-C7DD-E6A15C3F5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642" y="3078627"/>
            <a:ext cx="5731510" cy="3160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891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C4D7B8-038F-0C15-4E63-C1814D91550F}"/>
              </a:ext>
            </a:extLst>
          </p:cNvPr>
          <p:cNvSpPr txBox="1"/>
          <p:nvPr/>
        </p:nvSpPr>
        <p:spPr>
          <a:xfrm>
            <a:off x="1938996" y="671691"/>
            <a:ext cx="831400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java.util.concurrent</a:t>
            </a:r>
            <a:r>
              <a:rPr lang="en-IN" dirty="0"/>
              <a:t>.*;</a:t>
            </a:r>
          </a:p>
          <a:p>
            <a:r>
              <a:rPr lang="en-IN" dirty="0"/>
              <a:t>public class </a:t>
            </a:r>
            <a:r>
              <a:rPr lang="en-IN" dirty="0" err="1"/>
              <a:t>FutureEx</a:t>
            </a:r>
            <a:r>
              <a:rPr lang="en-IN" dirty="0"/>
              <a:t>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InterruptedException</a:t>
            </a:r>
            <a:r>
              <a:rPr lang="en-IN" dirty="0"/>
              <a:t>, </a:t>
            </a:r>
            <a:r>
              <a:rPr lang="en-IN" dirty="0" err="1"/>
              <a:t>ExecutionException</a:t>
            </a:r>
            <a:r>
              <a:rPr lang="en-IN" dirty="0"/>
              <a:t> {</a:t>
            </a:r>
          </a:p>
          <a:p>
            <a:r>
              <a:rPr lang="en-IN" dirty="0"/>
              <a:t>        </a:t>
            </a:r>
            <a:r>
              <a:rPr lang="en-IN" dirty="0" err="1"/>
              <a:t>ExecutorService</a:t>
            </a:r>
            <a:r>
              <a:rPr lang="en-IN" dirty="0"/>
              <a:t> </a:t>
            </a:r>
            <a:r>
              <a:rPr lang="en-IN" dirty="0" err="1"/>
              <a:t>executorService</a:t>
            </a:r>
            <a:r>
              <a:rPr lang="en-IN" dirty="0"/>
              <a:t> = </a:t>
            </a:r>
            <a:r>
              <a:rPr lang="en-IN" dirty="0" err="1"/>
              <a:t>Executors.newSingleThreadExecutor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// Submit a task and obtain a Future object</a:t>
            </a:r>
          </a:p>
          <a:p>
            <a:r>
              <a:rPr lang="en-IN" dirty="0"/>
              <a:t>        Future&lt;String&gt; future = </a:t>
            </a:r>
            <a:r>
              <a:rPr lang="en-IN" dirty="0" err="1"/>
              <a:t>executorService.submit</a:t>
            </a:r>
            <a:r>
              <a:rPr lang="en-IN" dirty="0"/>
              <a:t>(() -&gt; {</a:t>
            </a:r>
          </a:p>
          <a:p>
            <a:r>
              <a:rPr lang="en-IN" dirty="0"/>
              <a:t>            </a:t>
            </a:r>
            <a:r>
              <a:rPr lang="en-IN" dirty="0" err="1"/>
              <a:t>Thread.sleep</a:t>
            </a:r>
            <a:r>
              <a:rPr lang="en-IN" dirty="0"/>
              <a:t>(2000);</a:t>
            </a:r>
          </a:p>
          <a:p>
            <a:r>
              <a:rPr lang="en-IN" dirty="0"/>
              <a:t>            return "Hello, Future!";</a:t>
            </a:r>
          </a:p>
          <a:p>
            <a:r>
              <a:rPr lang="en-IN" dirty="0"/>
              <a:t>        });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// Perform other tasks while the computation is in progress</a:t>
            </a:r>
          </a:p>
          <a:p>
            <a:r>
              <a:rPr lang="en-IN" dirty="0"/>
              <a:t>        // Wait for the result and retrieve it</a:t>
            </a:r>
          </a:p>
          <a:p>
            <a:r>
              <a:rPr lang="en-IN" dirty="0"/>
              <a:t>        String result = </a:t>
            </a:r>
            <a:r>
              <a:rPr lang="en-IN" dirty="0" err="1"/>
              <a:t>future.get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(result);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// Shutdown the executor service</a:t>
            </a:r>
          </a:p>
          <a:p>
            <a:r>
              <a:rPr lang="en-IN" dirty="0"/>
              <a:t>        </a:t>
            </a:r>
            <a:r>
              <a:rPr lang="en-IN" dirty="0" err="1"/>
              <a:t>executorService.shutdown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49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4F28EC-D392-D5D2-FCE6-55C4E023CB4D}"/>
              </a:ext>
            </a:extLst>
          </p:cNvPr>
          <p:cNvSpPr txBox="1"/>
          <p:nvPr/>
        </p:nvSpPr>
        <p:spPr>
          <a:xfrm>
            <a:off x="1842868" y="967099"/>
            <a:ext cx="2785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08726-1843-458E-624E-D7A4F9F10914}"/>
              </a:ext>
            </a:extLst>
          </p:cNvPr>
          <p:cNvSpPr txBox="1"/>
          <p:nvPr/>
        </p:nvSpPr>
        <p:spPr>
          <a:xfrm>
            <a:off x="1209822" y="1645921"/>
            <a:ext cx="78779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Callable:</a:t>
            </a:r>
            <a:endParaRPr lang="en-IN" dirty="0"/>
          </a:p>
          <a:p>
            <a:r>
              <a:rPr lang="en-IN" dirty="0"/>
              <a:t>The Callable interface is similar to the Runnable interface but represents a task that returns a result.</a:t>
            </a:r>
          </a:p>
          <a:p>
            <a:pPr lvl="0"/>
            <a:r>
              <a:rPr lang="en-IN" dirty="0"/>
              <a:t>It is used in conjunction with the </a:t>
            </a:r>
            <a:r>
              <a:rPr lang="en-IN" dirty="0" err="1"/>
              <a:t>ExecutorService</a:t>
            </a:r>
            <a:r>
              <a:rPr lang="en-IN" dirty="0"/>
              <a:t> and Future to execute tasks asynchronously and obtain their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43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2CF75A-0F94-CB2B-DB45-28E48AF946C2}"/>
              </a:ext>
            </a:extLst>
          </p:cNvPr>
          <p:cNvSpPr txBox="1"/>
          <p:nvPr/>
        </p:nvSpPr>
        <p:spPr>
          <a:xfrm>
            <a:off x="1969477" y="393897"/>
            <a:ext cx="920027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java.util.concurrent</a:t>
            </a:r>
            <a:r>
              <a:rPr lang="en-IN" dirty="0"/>
              <a:t>.*;</a:t>
            </a:r>
          </a:p>
          <a:p>
            <a:r>
              <a:rPr lang="en-IN" dirty="0"/>
              <a:t>public class </a:t>
            </a:r>
            <a:r>
              <a:rPr lang="en-IN" dirty="0" err="1"/>
              <a:t>CallableEx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InterruptedException</a:t>
            </a:r>
            <a:r>
              <a:rPr lang="en-IN" dirty="0"/>
              <a:t>, </a:t>
            </a:r>
            <a:r>
              <a:rPr lang="en-IN" dirty="0" err="1"/>
              <a:t>ExecutionException</a:t>
            </a:r>
            <a:r>
              <a:rPr lang="en-IN" dirty="0"/>
              <a:t> {</a:t>
            </a:r>
          </a:p>
          <a:p>
            <a:r>
              <a:rPr lang="en-IN" dirty="0"/>
              <a:t>        </a:t>
            </a:r>
            <a:r>
              <a:rPr lang="en-IN" dirty="0" err="1"/>
              <a:t>ExecutorService</a:t>
            </a:r>
            <a:r>
              <a:rPr lang="en-IN" dirty="0"/>
              <a:t> </a:t>
            </a:r>
            <a:r>
              <a:rPr lang="en-IN" dirty="0" err="1"/>
              <a:t>executorService</a:t>
            </a:r>
            <a:r>
              <a:rPr lang="en-IN" dirty="0"/>
              <a:t> = </a:t>
            </a:r>
            <a:r>
              <a:rPr lang="en-IN" dirty="0" err="1"/>
              <a:t>Executors.newSingleThreadExecutor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// Submit a task and obtain a Future object</a:t>
            </a:r>
          </a:p>
          <a:p>
            <a:r>
              <a:rPr lang="en-IN" dirty="0"/>
              <a:t>        Future&lt;Integer&gt; future = </a:t>
            </a:r>
            <a:r>
              <a:rPr lang="en-IN" dirty="0" err="1"/>
              <a:t>executorService.submit</a:t>
            </a:r>
            <a:r>
              <a:rPr lang="en-IN" dirty="0"/>
              <a:t>(new Callable&lt;Integer&gt;() {</a:t>
            </a:r>
          </a:p>
          <a:p>
            <a:r>
              <a:rPr lang="en-IN" dirty="0"/>
              <a:t>            @Override</a:t>
            </a:r>
          </a:p>
          <a:p>
            <a:r>
              <a:rPr lang="en-IN" dirty="0"/>
              <a:t>            public Integer call() throws Exception {</a:t>
            </a:r>
          </a:p>
          <a:p>
            <a:r>
              <a:rPr lang="en-IN" dirty="0"/>
              <a:t>                </a:t>
            </a:r>
            <a:r>
              <a:rPr lang="en-IN" dirty="0" err="1"/>
              <a:t>Thread.sleep</a:t>
            </a:r>
            <a:r>
              <a:rPr lang="en-IN" dirty="0"/>
              <a:t>(2000);</a:t>
            </a:r>
          </a:p>
          <a:p>
            <a:r>
              <a:rPr lang="en-IN" dirty="0"/>
              <a:t>                return 42;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});</a:t>
            </a:r>
          </a:p>
          <a:p>
            <a:r>
              <a:rPr lang="en-IN" dirty="0"/>
              <a:t>        // Perform other tasks while the computation is in progress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// Wait for the result and retrieve it</a:t>
            </a:r>
          </a:p>
          <a:p>
            <a:r>
              <a:rPr lang="en-IN" dirty="0"/>
              <a:t>        Integer result = </a:t>
            </a:r>
            <a:r>
              <a:rPr lang="en-IN" dirty="0" err="1"/>
              <a:t>future.get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(result);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// Shutdown the executor service</a:t>
            </a:r>
          </a:p>
          <a:p>
            <a:r>
              <a:rPr lang="en-IN" dirty="0"/>
              <a:t>        </a:t>
            </a:r>
            <a:r>
              <a:rPr lang="en-IN" dirty="0" err="1"/>
              <a:t>executorService.shutdown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                                                                                                      output :42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13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18843-F74F-B068-2231-23C45A8D383D}"/>
              </a:ext>
            </a:extLst>
          </p:cNvPr>
          <p:cNvSpPr txBox="1"/>
          <p:nvPr/>
        </p:nvSpPr>
        <p:spPr>
          <a:xfrm>
            <a:off x="956602" y="717452"/>
            <a:ext cx="96504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Here, a Callable&lt;Integer&gt; object is created and submitted to the executor service using the submit() method.</a:t>
            </a:r>
          </a:p>
          <a:p>
            <a:pPr lvl="0"/>
            <a:r>
              <a:rPr lang="en-IN" dirty="0"/>
              <a:t>The call() method of the Callable interface is implemented to perform the computation and return a result.</a:t>
            </a:r>
          </a:p>
          <a:p>
            <a:pPr lvl="0"/>
            <a:r>
              <a:rPr lang="en-IN" dirty="0"/>
              <a:t>The result is retrieved using the get() method of the Future object. Finally, the executor service is shut down.</a:t>
            </a:r>
          </a:p>
          <a:p>
            <a:r>
              <a:rPr lang="en-IN" dirty="0"/>
              <a:t>PS : The Callable interface is parameterized with the type of the result it produces. For example, Callable&lt;Integer&gt; indicates that the task will return a result of type Integer.</a:t>
            </a:r>
          </a:p>
          <a:p>
            <a:r>
              <a:rPr lang="en-IN" b="1" i="1" dirty="0"/>
              <a:t>Callable vs Runnable ??</a:t>
            </a:r>
            <a:endParaRPr lang="en-IN" dirty="0"/>
          </a:p>
          <a:p>
            <a:r>
              <a:rPr lang="en-IN" dirty="0"/>
              <a:t>Both Runnable and Callable are interfaces that represent tasks or units of work that can be executed concurrently. They are used with concurrency utilities like </a:t>
            </a:r>
            <a:r>
              <a:rPr lang="en-IN" dirty="0" err="1"/>
              <a:t>ExecutorService</a:t>
            </a:r>
            <a:r>
              <a:rPr lang="en-IN" dirty="0"/>
              <a:t> to submit tasks for execution.</a:t>
            </a:r>
          </a:p>
          <a:p>
            <a:pPr lvl="0"/>
            <a:r>
              <a:rPr lang="en-IN" dirty="0"/>
              <a:t>The most significant distinction between Runnable and Callable is that Runnable does not return a result or value, while Callable can return a result.</a:t>
            </a:r>
          </a:p>
          <a:p>
            <a:pPr lvl="0"/>
            <a:r>
              <a:rPr lang="en-IN" dirty="0"/>
              <a:t>Also the Runnable interface's run() method cannot throw any checked exceptions directly. On the other hand, the call() method of the Callable interface is allowed to throw checked exceptions.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816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780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Rajiv Ranjan</dc:creator>
  <cp:lastModifiedBy>Rajiv Ranjan</cp:lastModifiedBy>
  <cp:revision>16</cp:revision>
  <dcterms:created xsi:type="dcterms:W3CDTF">2026-02-01T18:17:23Z</dcterms:created>
  <dcterms:modified xsi:type="dcterms:W3CDTF">2026-02-01T18:49:08Z</dcterms:modified>
</cp:coreProperties>
</file>