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D8755AC5-8ED9-4493-BD66-DC039C18C72E}" type="datetimeFigureOut">
              <a:rPr lang="en-IN" smtClean="0"/>
              <a:t>12-01-2022</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2399110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55AC5-8ED9-4493-BD66-DC039C18C72E}"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2939198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D8755AC5-8ED9-4493-BD66-DC039C18C72E}" type="datetimeFigureOut">
              <a:rPr lang="en-IN" smtClean="0"/>
              <a:t>12-01-2022</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1399130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755AC5-8ED9-4493-BD66-DC039C18C72E}"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378880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755AC5-8ED9-4493-BD66-DC039C18C72E}" type="datetimeFigureOut">
              <a:rPr lang="en-IN" smtClean="0"/>
              <a:t>12-01-2022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2179872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755AC5-8ED9-4493-BD66-DC039C18C72E}" type="datetimeFigureOut">
              <a:rPr lang="en-IN" smtClean="0"/>
              <a:t>12-01-2022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3895773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755AC5-8ED9-4493-BD66-DC039C18C72E}" type="datetimeFigureOut">
              <a:rPr lang="en-IN" smtClean="0"/>
              <a:t>12-01-2022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3441866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755AC5-8ED9-4493-BD66-DC039C18C72E}"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3930541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755AC5-8ED9-4493-BD66-DC039C18C72E}"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630400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755AC5-8ED9-4493-BD66-DC039C18C72E}"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408888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D8755AC5-8ED9-4493-BD66-DC039C18C72E}" type="datetimeFigureOut">
              <a:rPr lang="en-IN" smtClean="0"/>
              <a:t>12-01-2022</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2981897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D8755AC5-8ED9-4493-BD66-DC039C18C72E}" type="datetimeFigureOut">
              <a:rPr lang="en-IN" smtClean="0"/>
              <a:t>12-01-2022</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9CF8B7E-A0B6-457F-8334-F13A94B66A5B}"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33526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D8755AC5-8ED9-4493-BD66-DC039C18C72E}" type="datetimeFigureOut">
              <a:rPr lang="en-IN" smtClean="0"/>
              <a:t>12-01-2022</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378486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8755AC5-8ED9-4493-BD66-DC039C18C72E}" type="datetimeFigureOut">
              <a:rPr lang="en-IN" smtClean="0"/>
              <a:t>12-01-2022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1566531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8755AC5-8ED9-4493-BD66-DC039C18C72E}" type="datetimeFigureOut">
              <a:rPr lang="en-IN" smtClean="0"/>
              <a:t>12-01-2022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100556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55AC5-8ED9-4493-BD66-DC039C18C72E}"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28156165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D8755AC5-8ED9-4493-BD66-DC039C18C72E}" type="datetimeFigureOut">
              <a:rPr lang="en-IN" smtClean="0"/>
              <a:t>12-01-2022</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9CF8B7E-A0B6-457F-8334-F13A94B66A5B}" type="slidenum">
              <a:rPr lang="en-IN" smtClean="0"/>
              <a:t>‹#›</a:t>
            </a:fld>
            <a:endParaRPr lang="en-IN"/>
          </a:p>
        </p:txBody>
      </p:sp>
    </p:spTree>
    <p:extLst>
      <p:ext uri="{BB962C8B-B14F-4D97-AF65-F5344CB8AC3E}">
        <p14:creationId xmlns:p14="http://schemas.microsoft.com/office/powerpoint/2010/main" val="2024964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8755AC5-8ED9-4493-BD66-DC039C18C72E}" type="datetimeFigureOut">
              <a:rPr lang="en-IN" smtClean="0"/>
              <a:t>12-01-2022</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9CF8B7E-A0B6-457F-8334-F13A94B66A5B}" type="slidenum">
              <a:rPr lang="en-IN" smtClean="0"/>
              <a:t>‹#›</a:t>
            </a:fld>
            <a:endParaRPr lang="en-IN"/>
          </a:p>
        </p:txBody>
      </p:sp>
    </p:spTree>
    <p:extLst>
      <p:ext uri="{BB962C8B-B14F-4D97-AF65-F5344CB8AC3E}">
        <p14:creationId xmlns:p14="http://schemas.microsoft.com/office/powerpoint/2010/main" val="224696294"/>
      </p:ext>
    </p:extLst>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java-util-vector-class-java/" TargetMode="External"/><Relationship Id="rId2" Type="http://schemas.openxmlformats.org/officeDocument/2006/relationships/hyperlink" Target="https://www.geeksforgeeks.org/arraylist-in-java/" TargetMode="External"/><Relationship Id="rId1" Type="http://schemas.openxmlformats.org/officeDocument/2006/relationships/slideLayout" Target="../slideLayouts/slideLayout2.xml"/><Relationship Id="rId6" Type="http://schemas.openxmlformats.org/officeDocument/2006/relationships/hyperlink" Target="https://www.geeksforgeeks.org/arraydeque-in-java/" TargetMode="External"/><Relationship Id="rId5" Type="http://schemas.openxmlformats.org/officeDocument/2006/relationships/hyperlink" Target="https://www.geeksforgeeks.org/priority-queue-class-in-java-2/" TargetMode="External"/><Relationship Id="rId4" Type="http://schemas.openxmlformats.org/officeDocument/2006/relationships/hyperlink" Target="https://www.geeksforgeeks.org/stack-class-in-java/"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treeset-in-java-with-examples/" TargetMode="External"/><Relationship Id="rId2" Type="http://schemas.openxmlformats.org/officeDocument/2006/relationships/hyperlink" Target="https://www.geeksforgeeks.org/hashset-in-java/" TargetMode="External"/><Relationship Id="rId1" Type="http://schemas.openxmlformats.org/officeDocument/2006/relationships/slideLayout" Target="../slideLayouts/slideLayout2.xml"/><Relationship Id="rId4" Type="http://schemas.openxmlformats.org/officeDocument/2006/relationships/hyperlink" Target="https://www.geeksforgeeks.org/linkedhashset-in-java-with-exampl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AAD575-C5F9-4487-B270-4472979C6E45}"/>
              </a:ext>
            </a:extLst>
          </p:cNvPr>
          <p:cNvSpPr txBox="1"/>
          <p:nvPr/>
        </p:nvSpPr>
        <p:spPr>
          <a:xfrm>
            <a:off x="3079172" y="2721114"/>
            <a:ext cx="5496792" cy="707886"/>
          </a:xfrm>
          <a:prstGeom prst="rect">
            <a:avLst/>
          </a:prstGeom>
          <a:noFill/>
        </p:spPr>
        <p:txBody>
          <a:bodyPr wrap="square" rtlCol="0">
            <a:spAutoFit/>
          </a:bodyPr>
          <a:lstStyle/>
          <a:p>
            <a:r>
              <a:rPr lang="en-US" sz="4000" dirty="0"/>
              <a:t> Collections in JAVA </a:t>
            </a:r>
            <a:endParaRPr lang="en-IN" sz="4000" dirty="0"/>
          </a:p>
        </p:txBody>
      </p:sp>
      <p:sp>
        <p:nvSpPr>
          <p:cNvPr id="5" name="TextBox 4">
            <a:extLst>
              <a:ext uri="{FF2B5EF4-FFF2-40B4-BE49-F238E27FC236}">
                <a16:creationId xmlns:a16="http://schemas.microsoft.com/office/drawing/2014/main" id="{A6189AA1-1185-434E-93F7-C729BC797D49}"/>
              </a:ext>
            </a:extLst>
          </p:cNvPr>
          <p:cNvSpPr txBox="1"/>
          <p:nvPr/>
        </p:nvSpPr>
        <p:spPr>
          <a:xfrm>
            <a:off x="415637" y="5527964"/>
            <a:ext cx="3020291" cy="954107"/>
          </a:xfrm>
          <a:prstGeom prst="rect">
            <a:avLst/>
          </a:prstGeom>
          <a:noFill/>
        </p:spPr>
        <p:txBody>
          <a:bodyPr wrap="square" rtlCol="0">
            <a:spAutoFit/>
          </a:bodyPr>
          <a:lstStyle/>
          <a:p>
            <a:r>
              <a:rPr lang="en-US" sz="2800" i="1" dirty="0">
                <a:solidFill>
                  <a:srgbClr val="FFFF00"/>
                </a:solidFill>
                <a:latin typeface="Calibri" panose="020F0502020204030204" pitchFamily="34" charset="0"/>
                <a:cs typeface="Calibri" panose="020F0502020204030204" pitchFamily="34" charset="0"/>
              </a:rPr>
              <a:t>Prepared by</a:t>
            </a:r>
          </a:p>
          <a:p>
            <a:r>
              <a:rPr lang="en-US" sz="2800" dirty="0">
                <a:solidFill>
                  <a:srgbClr val="FFFF00"/>
                </a:solidFill>
                <a:latin typeface="Calibri" panose="020F0502020204030204" pitchFamily="34" charset="0"/>
                <a:cs typeface="Calibri" panose="020F0502020204030204" pitchFamily="34" charset="0"/>
              </a:rPr>
              <a:t>Rajiv Ranjan FSE</a:t>
            </a:r>
            <a:endParaRPr lang="en-IN" sz="2800" dirty="0">
              <a:solidFill>
                <a:srgbClr val="FFFF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11128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88C7BD-5303-48AC-AFE7-2A9D3CF0BE4E}"/>
              </a:ext>
            </a:extLst>
          </p:cNvPr>
          <p:cNvSpPr txBox="1"/>
          <p:nvPr/>
        </p:nvSpPr>
        <p:spPr>
          <a:xfrm>
            <a:off x="3020291" y="1717964"/>
            <a:ext cx="6456218" cy="3048014"/>
          </a:xfrm>
          <a:prstGeom prst="rect">
            <a:avLst/>
          </a:prstGeom>
          <a:noFill/>
        </p:spPr>
        <p:txBody>
          <a:bodyPr wrap="square" rtlCol="0">
            <a:spAutoFit/>
          </a:bodyPr>
          <a:lstStyle/>
          <a:p>
            <a:pPr fontAlgn="base">
              <a:lnSpc>
                <a:spcPct val="107000"/>
              </a:lnSpc>
              <a:spcAft>
                <a:spcPts val="800"/>
              </a:spcAft>
            </a:pPr>
            <a:r>
              <a:rPr lang="en-IN" sz="1800" b="1" kern="1800" dirty="0">
                <a:solidFill>
                  <a:schemeClr val="accent6"/>
                </a:solidFill>
                <a:effectLst/>
                <a:latin typeface="Arial" panose="020B0604020202020204" pitchFamily="34" charset="0"/>
                <a:ea typeface="Times New Roman" panose="02020603050405020304" pitchFamily="18" charset="0"/>
                <a:cs typeface="Times New Roman" panose="02020603050405020304" pitchFamily="18" charset="0"/>
              </a:rPr>
              <a:t>Collections in Java</a:t>
            </a:r>
            <a:endParaRPr lang="en-IN" sz="18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effectLst/>
                <a:latin typeface="var(--font-din)"/>
                <a:ea typeface="Times New Roman" panose="02020603050405020304" pitchFamily="18" charset="0"/>
                <a:cs typeface="Times New Roman" panose="02020603050405020304" pitchFamily="18" charset="0"/>
              </a:rPr>
              <a:t>Any group of individual objects which are represented as a single unit is known as the collection of the objects. In Java, a separate framework named the </a:t>
            </a:r>
            <a:r>
              <a:rPr lang="en-IN" sz="1800" i="1" dirty="0">
                <a:solidFill>
                  <a:srgbClr val="FFFF00"/>
                </a:solidFill>
                <a:effectLst/>
                <a:latin typeface="var(--font-din)"/>
                <a:ea typeface="Times New Roman" panose="02020603050405020304" pitchFamily="18" charset="0"/>
                <a:cs typeface="Times New Roman" panose="02020603050405020304" pitchFamily="18" charset="0"/>
              </a:rPr>
              <a:t>“Collection Framework”</a:t>
            </a:r>
            <a:r>
              <a:rPr lang="en-IN" sz="1800" dirty="0">
                <a:solidFill>
                  <a:srgbClr val="FFFF00"/>
                </a:solidFill>
                <a:effectLst/>
                <a:latin typeface="var(--font-din)"/>
                <a:ea typeface="Times New Roman" panose="02020603050405020304" pitchFamily="18" charset="0"/>
                <a:cs typeface="Times New Roman" panose="02020603050405020304" pitchFamily="18" charset="0"/>
              </a:rPr>
              <a:t> </a:t>
            </a:r>
            <a:r>
              <a:rPr lang="en-IN" sz="1800" dirty="0">
                <a:effectLst/>
                <a:latin typeface="var(--font-din)"/>
                <a:ea typeface="Times New Roman" panose="02020603050405020304" pitchFamily="18" charset="0"/>
                <a:cs typeface="Times New Roman" panose="02020603050405020304" pitchFamily="18" charset="0"/>
              </a:rPr>
              <a:t>has been defined in JDK 1.2 which holds all the collection classes and interface in it.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800" dirty="0">
                <a:solidFill>
                  <a:schemeClr val="accent5"/>
                </a:solidFill>
                <a:effectLst/>
                <a:latin typeface="var(--font-din)"/>
                <a:ea typeface="Times New Roman" panose="02020603050405020304" pitchFamily="18" charset="0"/>
                <a:cs typeface="Times New Roman" panose="02020603050405020304" pitchFamily="18" charset="0"/>
              </a:rPr>
              <a:t>The Collection interface (</a:t>
            </a:r>
            <a:r>
              <a:rPr lang="en-IN" sz="1800" b="1" dirty="0" err="1">
                <a:solidFill>
                  <a:schemeClr val="accent5"/>
                </a:solidFill>
                <a:effectLst/>
                <a:latin typeface="var(--font-din)"/>
                <a:ea typeface="Times New Roman" panose="02020603050405020304" pitchFamily="18" charset="0"/>
                <a:cs typeface="Times New Roman" panose="02020603050405020304" pitchFamily="18" charset="0"/>
              </a:rPr>
              <a:t>java.util.Collection</a:t>
            </a:r>
            <a:r>
              <a:rPr lang="en-IN" sz="1800" dirty="0">
                <a:solidFill>
                  <a:schemeClr val="accent5"/>
                </a:solidFill>
                <a:effectLst/>
                <a:latin typeface="var(--font-din)"/>
                <a:ea typeface="Times New Roman" panose="02020603050405020304" pitchFamily="18" charset="0"/>
                <a:cs typeface="Times New Roman" panose="02020603050405020304" pitchFamily="18" charset="0"/>
              </a:rPr>
              <a:t>) and Map interface (</a:t>
            </a:r>
            <a:r>
              <a:rPr lang="en-IN" sz="1800" b="1" dirty="0" err="1">
                <a:solidFill>
                  <a:schemeClr val="accent5"/>
                </a:solidFill>
                <a:effectLst/>
                <a:latin typeface="var(--font-din)"/>
                <a:ea typeface="Times New Roman" panose="02020603050405020304" pitchFamily="18" charset="0"/>
                <a:cs typeface="Times New Roman" panose="02020603050405020304" pitchFamily="18" charset="0"/>
              </a:rPr>
              <a:t>java.util.Map</a:t>
            </a:r>
            <a:r>
              <a:rPr lang="en-IN" sz="1800" dirty="0">
                <a:solidFill>
                  <a:schemeClr val="accent5"/>
                </a:solidFill>
                <a:effectLst/>
                <a:latin typeface="var(--font-din)"/>
                <a:ea typeface="Times New Roman" panose="02020603050405020304" pitchFamily="18" charset="0"/>
                <a:cs typeface="Times New Roman" panose="02020603050405020304" pitchFamily="18" charset="0"/>
              </a:rPr>
              <a:t>) are the two main “root” interfaces of Java collection classes.</a:t>
            </a:r>
            <a:endParaRPr lang="en-IN" sz="18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66546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AF7162-E062-43E4-8755-57EADA1DD86F}"/>
              </a:ext>
            </a:extLst>
          </p:cNvPr>
          <p:cNvPicPr>
            <a:picLocks noChangeAspect="1"/>
          </p:cNvPicPr>
          <p:nvPr/>
        </p:nvPicPr>
        <p:blipFill>
          <a:blip r:embed="rId2"/>
          <a:stretch>
            <a:fillRect/>
          </a:stretch>
        </p:blipFill>
        <p:spPr>
          <a:xfrm>
            <a:off x="3041664" y="984772"/>
            <a:ext cx="5700720" cy="5138937"/>
          </a:xfrm>
          <a:prstGeom prst="rect">
            <a:avLst/>
          </a:prstGeom>
        </p:spPr>
      </p:pic>
    </p:spTree>
    <p:extLst>
      <p:ext uri="{BB962C8B-B14F-4D97-AF65-F5344CB8AC3E}">
        <p14:creationId xmlns:p14="http://schemas.microsoft.com/office/powerpoint/2010/main" val="908861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FE3A3B-E948-4962-98F8-80C8D21B6A14}"/>
              </a:ext>
            </a:extLst>
          </p:cNvPr>
          <p:cNvSpPr txBox="1"/>
          <p:nvPr/>
        </p:nvSpPr>
        <p:spPr>
          <a:xfrm>
            <a:off x="3546764" y="762000"/>
            <a:ext cx="5153891" cy="1107996"/>
          </a:xfrm>
          <a:prstGeom prst="rect">
            <a:avLst/>
          </a:prstGeom>
          <a:noFill/>
        </p:spPr>
        <p:txBody>
          <a:bodyPr wrap="square" rtlCol="0">
            <a:spAutoFit/>
          </a:bodyPr>
          <a:lstStyle/>
          <a:p>
            <a:r>
              <a:rPr lang="en-IN" sz="2400" dirty="0" err="1">
                <a:solidFill>
                  <a:srgbClr val="FFFF00"/>
                </a:solidFill>
                <a:effectLst/>
                <a:ea typeface="Times New Roman" panose="02020603050405020304" pitchFamily="18" charset="0"/>
                <a:cs typeface="Times New Roman" panose="02020603050405020304" pitchFamily="18" charset="0"/>
              </a:rPr>
              <a:t>Subinterfaces</a:t>
            </a:r>
            <a:r>
              <a:rPr lang="en-IN" sz="2400" dirty="0">
                <a:solidFill>
                  <a:srgbClr val="FFFF00"/>
                </a:solidFill>
                <a:effectLst/>
                <a:ea typeface="Times New Roman" panose="02020603050405020304" pitchFamily="18" charset="0"/>
                <a:cs typeface="Times New Roman" panose="02020603050405020304" pitchFamily="18" charset="0"/>
              </a:rPr>
              <a:t> of the Collection Interface</a:t>
            </a:r>
            <a:endParaRPr lang="en-IN" sz="2400" dirty="0">
              <a:solidFill>
                <a:srgbClr val="FFFF00"/>
              </a:solidFill>
              <a:effectLst/>
              <a:ea typeface="Calibri" panose="020F0502020204030204" pitchFamily="34"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56A5E2B2-2407-4C6B-B661-97BDF9103C76}"/>
              </a:ext>
            </a:extLst>
          </p:cNvPr>
          <p:cNvSpPr txBox="1"/>
          <p:nvPr/>
        </p:nvSpPr>
        <p:spPr>
          <a:xfrm>
            <a:off x="3546764" y="2036618"/>
            <a:ext cx="2978728" cy="1200329"/>
          </a:xfrm>
          <a:prstGeom prst="rect">
            <a:avLst/>
          </a:prstGeom>
          <a:noFill/>
        </p:spPr>
        <p:txBody>
          <a:bodyPr wrap="square" rtlCol="0">
            <a:spAutoFit/>
          </a:bodyPr>
          <a:lstStyle/>
          <a:p>
            <a:pPr marL="285750" indent="-285750">
              <a:buFont typeface="Arial" panose="020B0604020202020204" pitchFamily="34" charset="0"/>
              <a:buChar char="•"/>
            </a:pPr>
            <a:r>
              <a:rPr lang="en-US" dirty="0"/>
              <a:t>List</a:t>
            </a:r>
          </a:p>
          <a:p>
            <a:pPr marL="285750" indent="-285750">
              <a:buFont typeface="Arial" panose="020B0604020202020204" pitchFamily="34" charset="0"/>
              <a:buChar char="•"/>
            </a:pPr>
            <a:r>
              <a:rPr lang="en-US" dirty="0"/>
              <a:t>Queue</a:t>
            </a:r>
          </a:p>
          <a:p>
            <a:pPr marL="285750" indent="-285750">
              <a:buFont typeface="Arial" panose="020B0604020202020204" pitchFamily="34" charset="0"/>
              <a:buChar char="•"/>
            </a:pPr>
            <a:r>
              <a:rPr lang="en-US" dirty="0"/>
              <a:t>Set</a:t>
            </a:r>
          </a:p>
          <a:p>
            <a:endParaRPr lang="en-IN" dirty="0"/>
          </a:p>
        </p:txBody>
      </p:sp>
    </p:spTree>
    <p:extLst>
      <p:ext uri="{BB962C8B-B14F-4D97-AF65-F5344CB8AC3E}">
        <p14:creationId xmlns:p14="http://schemas.microsoft.com/office/powerpoint/2010/main" val="456433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C8F984-0062-416B-A9F2-6CA55E6C8766}"/>
              </a:ext>
            </a:extLst>
          </p:cNvPr>
          <p:cNvSpPr txBox="1"/>
          <p:nvPr/>
        </p:nvSpPr>
        <p:spPr>
          <a:xfrm>
            <a:off x="1011382" y="1122218"/>
            <a:ext cx="6220691" cy="2123658"/>
          </a:xfrm>
          <a:prstGeom prst="rect">
            <a:avLst/>
          </a:prstGeom>
          <a:noFill/>
        </p:spPr>
        <p:txBody>
          <a:bodyPr wrap="square" rtlCol="0">
            <a:spAutoFit/>
          </a:bodyPr>
          <a:lstStyle/>
          <a:p>
            <a:endParaRPr lang="en-IN" sz="1800" dirty="0">
              <a:effectLst/>
              <a:latin typeface="var(--font-din)"/>
              <a:ea typeface="Times New Roman" panose="02020603050405020304" pitchFamily="18" charset="0"/>
              <a:cs typeface="Times New Roman" panose="02020603050405020304" pitchFamily="18" charset="0"/>
            </a:endParaRPr>
          </a:p>
          <a:p>
            <a:r>
              <a:rPr lang="en-IN" sz="2400" dirty="0">
                <a:solidFill>
                  <a:srgbClr val="FFFF00"/>
                </a:solidFill>
                <a:ea typeface="Times New Roman" panose="02020603050405020304" pitchFamily="18" charset="0"/>
                <a:cs typeface="Times New Roman" panose="02020603050405020304" pitchFamily="18" charset="0"/>
              </a:rPr>
              <a:t>List</a:t>
            </a:r>
          </a:p>
          <a:p>
            <a:r>
              <a:rPr lang="en-IN" sz="1800" dirty="0">
                <a:effectLst/>
                <a:latin typeface="var(--font-din)"/>
                <a:ea typeface="Times New Roman" panose="02020603050405020304" pitchFamily="18" charset="0"/>
                <a:cs typeface="Times New Roman" panose="02020603050405020304" pitchFamily="18" charset="0"/>
              </a:rPr>
              <a:t>This is a child </a:t>
            </a:r>
            <a:r>
              <a:rPr lang="en-IN" sz="1800" dirty="0">
                <a:effectLst/>
                <a:latin typeface="Calibri" panose="020F0502020204030204" pitchFamily="34" charset="0"/>
                <a:ea typeface="Times New Roman" panose="02020603050405020304" pitchFamily="18" charset="0"/>
                <a:cs typeface="Calibri" panose="020F0502020204030204" pitchFamily="34" charset="0"/>
              </a:rPr>
              <a:t>interface</a:t>
            </a:r>
            <a:r>
              <a:rPr lang="en-IN" sz="1800" dirty="0">
                <a:effectLst/>
                <a:latin typeface="var(--font-din)"/>
                <a:ea typeface="Times New Roman" panose="02020603050405020304" pitchFamily="18" charset="0"/>
                <a:cs typeface="Times New Roman" panose="02020603050405020304" pitchFamily="18" charset="0"/>
              </a:rPr>
              <a:t> of the collection interface. This interface is dedicated to the data of the list type in which we can store all the ordered collection of the objects. This also allows duplicate data to be present in it. This list interface is implemented by various classes like </a:t>
            </a:r>
            <a:r>
              <a:rPr lang="en-IN" sz="1800" u="sng" dirty="0" err="1">
                <a:effectLst/>
                <a:latin typeface="var(--font-din)"/>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ArrayList</a:t>
            </a:r>
            <a:r>
              <a:rPr lang="en-IN" sz="1800" dirty="0">
                <a:effectLst/>
                <a:latin typeface="var(--font-din)"/>
                <a:ea typeface="Times New Roman" panose="02020603050405020304" pitchFamily="18" charset="0"/>
                <a:cs typeface="Times New Roman" panose="02020603050405020304" pitchFamily="18" charset="0"/>
              </a:rPr>
              <a:t>, </a:t>
            </a:r>
            <a:r>
              <a:rPr lang="en-IN" sz="1800" u="sng" dirty="0">
                <a:effectLst/>
                <a:latin typeface="var(--font-din)"/>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Vector</a:t>
            </a:r>
            <a:r>
              <a:rPr lang="en-IN" sz="1800" dirty="0">
                <a:effectLst/>
                <a:latin typeface="var(--font-din)"/>
                <a:ea typeface="Times New Roman" panose="02020603050405020304" pitchFamily="18" charset="0"/>
                <a:cs typeface="Times New Roman" panose="02020603050405020304" pitchFamily="18" charset="0"/>
              </a:rPr>
              <a:t>, </a:t>
            </a:r>
            <a:r>
              <a:rPr lang="en-IN" sz="1800" u="sng" dirty="0">
                <a:effectLst/>
                <a:latin typeface="var(--font-din)"/>
                <a:ea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Stack</a:t>
            </a:r>
            <a:r>
              <a:rPr lang="en-IN" sz="1800" dirty="0">
                <a:effectLst/>
                <a:latin typeface="var(--font-din)"/>
                <a:ea typeface="Times New Roman" panose="02020603050405020304" pitchFamily="18" charset="0"/>
                <a:cs typeface="Times New Roman" panose="02020603050405020304" pitchFamily="18" charset="0"/>
              </a:rPr>
              <a:t>,</a:t>
            </a:r>
            <a:endParaRPr lang="en-IN" dirty="0"/>
          </a:p>
        </p:txBody>
      </p:sp>
      <p:sp>
        <p:nvSpPr>
          <p:cNvPr id="6" name="TextBox 5">
            <a:extLst>
              <a:ext uri="{FF2B5EF4-FFF2-40B4-BE49-F238E27FC236}">
                <a16:creationId xmlns:a16="http://schemas.microsoft.com/office/drawing/2014/main" id="{3164DF52-B801-4176-9849-084D5CC71FEE}"/>
              </a:ext>
            </a:extLst>
          </p:cNvPr>
          <p:cNvSpPr txBox="1"/>
          <p:nvPr/>
        </p:nvSpPr>
        <p:spPr>
          <a:xfrm>
            <a:off x="1011382" y="3843740"/>
            <a:ext cx="9822872" cy="2123658"/>
          </a:xfrm>
          <a:prstGeom prst="rect">
            <a:avLst/>
          </a:prstGeom>
          <a:noFill/>
        </p:spPr>
        <p:txBody>
          <a:bodyPr wrap="square" rtlCol="0">
            <a:spAutoFit/>
          </a:bodyPr>
          <a:lstStyle/>
          <a:p>
            <a:r>
              <a:rPr lang="en-US" sz="2400" dirty="0">
                <a:solidFill>
                  <a:srgbClr val="FFFF00"/>
                </a:solidFill>
              </a:rPr>
              <a:t>Queue</a:t>
            </a:r>
          </a:p>
          <a:p>
            <a:r>
              <a:rPr lang="en-IN" sz="1800" dirty="0">
                <a:effectLst/>
                <a:latin typeface="var(--font-din)"/>
                <a:ea typeface="Times New Roman" panose="02020603050405020304" pitchFamily="18" charset="0"/>
                <a:cs typeface="Times New Roman" panose="02020603050405020304" pitchFamily="18" charset="0"/>
              </a:rPr>
              <a:t>As the name suggests, a queue interface maintains the FIFO(First In First Out) order similar to a real-world queue line. This interface is dedicated to storing all the elements where the order of the elements matter. For example, whenever we try to book a ticket, the tickets are sold on a first come first serve basis. Therefore, the person whose request arrives first into the queue gets the ticket. There are various classes like </a:t>
            </a:r>
            <a:r>
              <a:rPr lang="en-IN" sz="1800" u="sng" dirty="0" err="1">
                <a:effectLst/>
                <a:latin typeface="var(--font-din)"/>
                <a:ea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PriorityQueue</a:t>
            </a:r>
            <a:r>
              <a:rPr lang="en-IN" sz="1800" dirty="0">
                <a:effectLst/>
                <a:latin typeface="var(--font-din)"/>
                <a:ea typeface="Times New Roman" panose="02020603050405020304" pitchFamily="18" charset="0"/>
                <a:cs typeface="Times New Roman" panose="02020603050405020304" pitchFamily="18" charset="0"/>
              </a:rPr>
              <a:t>, </a:t>
            </a:r>
            <a:r>
              <a:rPr lang="en-IN" sz="1800" u="sng" dirty="0">
                <a:effectLst/>
                <a:latin typeface="var(--font-din)"/>
                <a:ea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Deque</a:t>
            </a:r>
            <a:r>
              <a:rPr lang="en-IN" sz="1800" dirty="0">
                <a:effectLst/>
                <a:latin typeface="var(--font-din)"/>
                <a:ea typeface="Times New Roman" panose="02020603050405020304" pitchFamily="18" charset="0"/>
                <a:cs typeface="Times New Roman" panose="02020603050405020304" pitchFamily="18" charset="0"/>
              </a:rPr>
              <a:t>, etc. Since all these subclasses implement the queue, we can instantiate a queue object with any of these classes. For example</a:t>
            </a:r>
            <a:endParaRPr lang="en-IN" sz="2400" dirty="0"/>
          </a:p>
        </p:txBody>
      </p:sp>
    </p:spTree>
    <p:extLst>
      <p:ext uri="{BB962C8B-B14F-4D97-AF65-F5344CB8AC3E}">
        <p14:creationId xmlns:p14="http://schemas.microsoft.com/office/powerpoint/2010/main" val="4002027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BC4B2B-074F-40F4-AB49-1F815867B578}"/>
              </a:ext>
            </a:extLst>
          </p:cNvPr>
          <p:cNvSpPr txBox="1"/>
          <p:nvPr/>
        </p:nvSpPr>
        <p:spPr>
          <a:xfrm>
            <a:off x="2036618" y="1136073"/>
            <a:ext cx="2784764" cy="369332"/>
          </a:xfrm>
          <a:prstGeom prst="rect">
            <a:avLst/>
          </a:prstGeom>
          <a:noFill/>
        </p:spPr>
        <p:txBody>
          <a:bodyPr wrap="square" rtlCol="0">
            <a:spAutoFit/>
          </a:bodyPr>
          <a:lstStyle/>
          <a:p>
            <a:r>
              <a:rPr lang="en-US" dirty="0">
                <a:solidFill>
                  <a:srgbClr val="FFFF00"/>
                </a:solidFill>
              </a:rPr>
              <a:t>Set</a:t>
            </a:r>
            <a:r>
              <a:rPr lang="en-US" dirty="0"/>
              <a:t> </a:t>
            </a:r>
            <a:endParaRPr lang="en-IN" dirty="0"/>
          </a:p>
        </p:txBody>
      </p:sp>
      <p:sp>
        <p:nvSpPr>
          <p:cNvPr id="5" name="TextBox 4">
            <a:extLst>
              <a:ext uri="{FF2B5EF4-FFF2-40B4-BE49-F238E27FC236}">
                <a16:creationId xmlns:a16="http://schemas.microsoft.com/office/drawing/2014/main" id="{DC450325-0628-48FB-981D-912F10241B1B}"/>
              </a:ext>
            </a:extLst>
          </p:cNvPr>
          <p:cNvSpPr txBox="1"/>
          <p:nvPr/>
        </p:nvSpPr>
        <p:spPr>
          <a:xfrm>
            <a:off x="2036618" y="1814945"/>
            <a:ext cx="7481455" cy="2246769"/>
          </a:xfrm>
          <a:prstGeom prst="rect">
            <a:avLst/>
          </a:prstGeom>
          <a:noFill/>
        </p:spPr>
        <p:txBody>
          <a:bodyPr wrap="square" rtlCol="0">
            <a:spAutoFit/>
          </a:bodyPr>
          <a:lstStyle/>
          <a:p>
            <a:r>
              <a:rPr lang="en-IN" sz="2000" dirty="0">
                <a:effectLst/>
                <a:latin typeface="Calibri" panose="020F0502020204030204" pitchFamily="34" charset="0"/>
                <a:ea typeface="Times New Roman" panose="02020603050405020304" pitchFamily="18" charset="0"/>
                <a:cs typeface="Calibri" panose="020F0502020204030204" pitchFamily="34" charset="0"/>
              </a:rPr>
              <a:t>A set is an unordered collection of objects in which duplicate values cannot be stored. This collection is used when we wish to avoid the duplication of the objects and wish to store only the unique objects. This set interface is implemented by various classes like</a:t>
            </a:r>
            <a:r>
              <a:rPr lang="en-IN" sz="2000" dirty="0">
                <a:solidFill>
                  <a:srgbClr val="FFFF0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u="sng" dirty="0">
                <a:solidFill>
                  <a:srgbClr val="FFFF00"/>
                </a:solidFill>
                <a:effectLst/>
                <a:latin typeface="Calibri" panose="020F0502020204030204" pitchFamily="34" charset="0"/>
                <a:ea typeface="Times New Roman" panose="02020603050405020304" pitchFamily="18" charset="0"/>
                <a:cs typeface="Calibri" panose="020F0502020204030204" pitchFamily="34" charset="0"/>
                <a:hlinkClick r:id="rId2">
                  <a:extLst>
                    <a:ext uri="{A12FA001-AC4F-418D-AE19-62706E023703}">
                      <ahyp:hlinkClr xmlns:ahyp="http://schemas.microsoft.com/office/drawing/2018/hyperlinkcolor" val="tx"/>
                    </a:ext>
                  </a:extLst>
                </a:hlinkClick>
              </a:rPr>
              <a:t>HashSet</a:t>
            </a:r>
            <a:r>
              <a:rPr lang="en-IN" sz="2000" dirty="0">
                <a:solidFill>
                  <a:srgbClr val="FFFF0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u="sng" dirty="0" err="1">
                <a:solidFill>
                  <a:srgbClr val="FFFF00"/>
                </a:solidFill>
                <a:effectLst/>
                <a:latin typeface="Calibri" panose="020F0502020204030204" pitchFamily="34" charset="0"/>
                <a:ea typeface="Times New Roman" panose="02020603050405020304" pitchFamily="18" charset="0"/>
                <a:cs typeface="Calibri" panose="020F0502020204030204" pitchFamily="34" charset="0"/>
                <a:hlinkClick r:id="rId3">
                  <a:extLst>
                    <a:ext uri="{A12FA001-AC4F-418D-AE19-62706E023703}">
                      <ahyp:hlinkClr xmlns:ahyp="http://schemas.microsoft.com/office/drawing/2018/hyperlinkcolor" val="tx"/>
                    </a:ext>
                  </a:extLst>
                </a:hlinkClick>
              </a:rPr>
              <a:t>TreeSet</a:t>
            </a:r>
            <a:r>
              <a:rPr lang="en-IN" sz="2000" dirty="0">
                <a:solidFill>
                  <a:srgbClr val="FFFF0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u="sng" dirty="0" err="1">
                <a:solidFill>
                  <a:srgbClr val="FFFF00"/>
                </a:solidFill>
                <a:effectLst/>
                <a:latin typeface="Calibri" panose="020F0502020204030204" pitchFamily="34"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LinkedHashSet</a:t>
            </a:r>
            <a:r>
              <a:rPr lang="en-IN" sz="2000" dirty="0">
                <a:effectLst/>
                <a:latin typeface="Calibri" panose="020F0502020204030204" pitchFamily="34" charset="0"/>
                <a:ea typeface="Times New Roman" panose="02020603050405020304" pitchFamily="18" charset="0"/>
                <a:cs typeface="Calibri" panose="020F0502020204030204" pitchFamily="34" charset="0"/>
              </a:rPr>
              <a:t>, etc. Since all the subclasses implement the set, we can instantiate a set object with any of these classes.,</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77298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4B2AAE-0A67-44CC-AC3A-1EE43A0E73E8}"/>
              </a:ext>
            </a:extLst>
          </p:cNvPr>
          <p:cNvSpPr txBox="1"/>
          <p:nvPr/>
        </p:nvSpPr>
        <p:spPr>
          <a:xfrm>
            <a:off x="2382982" y="1094510"/>
            <a:ext cx="6816436" cy="1107996"/>
          </a:xfrm>
          <a:prstGeom prst="rect">
            <a:avLst/>
          </a:prstGeom>
          <a:noFill/>
        </p:spPr>
        <p:txBody>
          <a:bodyPr wrap="square" rtlCol="0">
            <a:spAutoFit/>
          </a:bodyPr>
          <a:lstStyle/>
          <a:p>
            <a:r>
              <a:rPr lang="en-IN" sz="2400" i="1" dirty="0">
                <a:effectLst/>
                <a:ea typeface="Times New Roman" panose="02020603050405020304" pitchFamily="18" charset="0"/>
                <a:cs typeface="Times New Roman" panose="02020603050405020304" pitchFamily="18" charset="0"/>
              </a:rPr>
              <a:t>The classes which implement the List interface are as follows:</a:t>
            </a:r>
            <a:endParaRPr lang="en-IN" sz="2400" dirty="0">
              <a:effectLst/>
              <a:ea typeface="Calibri" panose="020F0502020204030204" pitchFamily="34"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4E4DC017-7D23-45F8-98D0-A4BD3D9D76D2}"/>
              </a:ext>
            </a:extLst>
          </p:cNvPr>
          <p:cNvSpPr txBox="1"/>
          <p:nvPr/>
        </p:nvSpPr>
        <p:spPr>
          <a:xfrm>
            <a:off x="2230582" y="3297844"/>
            <a:ext cx="7481454" cy="1754326"/>
          </a:xfrm>
          <a:prstGeom prst="rect">
            <a:avLst/>
          </a:prstGeom>
          <a:noFill/>
        </p:spPr>
        <p:txBody>
          <a:bodyPr wrap="square" rtlCol="0">
            <a:spAutoFit/>
          </a:bodyPr>
          <a:lstStyle/>
          <a:p>
            <a:r>
              <a:rPr lang="en-US" dirty="0" err="1">
                <a:solidFill>
                  <a:srgbClr val="FFFF00"/>
                </a:solidFill>
              </a:rPr>
              <a:t>ArrayList</a:t>
            </a:r>
            <a:r>
              <a:rPr lang="en-US" dirty="0">
                <a:solidFill>
                  <a:srgbClr val="FFFF00"/>
                </a:solidFill>
              </a:rPr>
              <a:t>:</a:t>
            </a:r>
            <a:r>
              <a:rPr lang="en-US" dirty="0"/>
              <a:t> </a:t>
            </a:r>
            <a:r>
              <a:rPr lang="en-US" dirty="0" err="1"/>
              <a:t>ArrayList</a:t>
            </a:r>
            <a:r>
              <a:rPr lang="en-US" dirty="0"/>
              <a:t> provides us with dynamic arrays in Java. Though, it may be slower than standard arrays but can be helpful in programs where lots of manipulation in the array is needed. The size of an </a:t>
            </a:r>
            <a:r>
              <a:rPr lang="en-US" dirty="0" err="1"/>
              <a:t>ArrayList</a:t>
            </a:r>
            <a:r>
              <a:rPr lang="en-US" dirty="0"/>
              <a:t> is increased automatically if the collection grows or shrinks if the objects are removed from the collection. Java </a:t>
            </a:r>
            <a:r>
              <a:rPr lang="en-US" dirty="0" err="1"/>
              <a:t>ArrayList</a:t>
            </a:r>
            <a:r>
              <a:rPr lang="en-US" dirty="0"/>
              <a:t> allows us to randomly access the list</a:t>
            </a:r>
            <a:endParaRPr lang="en-IN" dirty="0"/>
          </a:p>
        </p:txBody>
      </p:sp>
    </p:spTree>
    <p:extLst>
      <p:ext uri="{BB962C8B-B14F-4D97-AF65-F5344CB8AC3E}">
        <p14:creationId xmlns:p14="http://schemas.microsoft.com/office/powerpoint/2010/main" val="2203861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3C06FD-78EE-477A-BB64-CD0091CE6B05}"/>
              </a:ext>
            </a:extLst>
          </p:cNvPr>
          <p:cNvSpPr txBox="1"/>
          <p:nvPr/>
        </p:nvSpPr>
        <p:spPr>
          <a:xfrm>
            <a:off x="2895599" y="277090"/>
            <a:ext cx="1413164" cy="461665"/>
          </a:xfrm>
          <a:prstGeom prst="rect">
            <a:avLst/>
          </a:prstGeom>
          <a:noFill/>
        </p:spPr>
        <p:txBody>
          <a:bodyPr wrap="square" rtlCol="0">
            <a:spAutoFit/>
          </a:bodyPr>
          <a:lstStyle/>
          <a:p>
            <a:r>
              <a:rPr lang="en-US" sz="2400" dirty="0" err="1"/>
              <a:t>ArrayList</a:t>
            </a:r>
            <a:r>
              <a:rPr lang="en-US" dirty="0"/>
              <a:t> </a:t>
            </a:r>
            <a:endParaRPr lang="en-IN" dirty="0"/>
          </a:p>
        </p:txBody>
      </p:sp>
      <p:sp>
        <p:nvSpPr>
          <p:cNvPr id="5" name="TextBox 4">
            <a:extLst>
              <a:ext uri="{FF2B5EF4-FFF2-40B4-BE49-F238E27FC236}">
                <a16:creationId xmlns:a16="http://schemas.microsoft.com/office/drawing/2014/main" id="{1C1A7983-FA7E-4278-B341-20EEB70E9C37}"/>
              </a:ext>
            </a:extLst>
          </p:cNvPr>
          <p:cNvSpPr txBox="1"/>
          <p:nvPr/>
        </p:nvSpPr>
        <p:spPr>
          <a:xfrm>
            <a:off x="1898072" y="671600"/>
            <a:ext cx="8395855" cy="5909310"/>
          </a:xfrm>
          <a:prstGeom prst="rect">
            <a:avLst/>
          </a:prstGeom>
          <a:noFill/>
        </p:spPr>
        <p:txBody>
          <a:bodyPr wrap="square" rtlCol="0">
            <a:spAutoFit/>
          </a:bodyPr>
          <a:lstStyle/>
          <a:p>
            <a:pPr algn="l"/>
            <a:r>
              <a:rPr lang="en-IN" sz="1800" dirty="0">
                <a:solidFill>
                  <a:srgbClr val="FFC000"/>
                </a:solidFill>
                <a:latin typeface="Consolas" panose="020B0609020204030204" pitchFamily="49" charset="0"/>
              </a:rPr>
              <a:t>/* </a:t>
            </a:r>
            <a:r>
              <a:rPr lang="en-IN" sz="1800" dirty="0" err="1">
                <a:solidFill>
                  <a:srgbClr val="FFC000"/>
                </a:solidFill>
                <a:latin typeface="Consolas" panose="020B0609020204030204" pitchFamily="49" charset="0"/>
              </a:rPr>
              <a:t>Title:ArrayListJava.java</a:t>
            </a:r>
            <a:endParaRPr lang="en-IN" sz="1800" dirty="0">
              <a:solidFill>
                <a:srgbClr val="FFC000"/>
              </a:solidFill>
              <a:latin typeface="Consolas" panose="020B0609020204030204" pitchFamily="49" charset="0"/>
            </a:endParaRPr>
          </a:p>
          <a:p>
            <a:pPr algn="l"/>
            <a:r>
              <a:rPr lang="en-IN" sz="1800" dirty="0">
                <a:solidFill>
                  <a:srgbClr val="FFC000"/>
                </a:solidFill>
                <a:latin typeface="Consolas" panose="020B0609020204030204" pitchFamily="49" charset="0"/>
              </a:rPr>
              <a:t> * </a:t>
            </a:r>
            <a:r>
              <a:rPr lang="en-IN" sz="1800" dirty="0" err="1">
                <a:solidFill>
                  <a:srgbClr val="FFC000"/>
                </a:solidFill>
                <a:latin typeface="Consolas" panose="020B0609020204030204" pitchFamily="49" charset="0"/>
              </a:rPr>
              <a:t>Author:Rajiv</a:t>
            </a:r>
            <a:r>
              <a:rPr lang="en-IN" sz="1800" dirty="0">
                <a:solidFill>
                  <a:srgbClr val="FFC000"/>
                </a:solidFill>
                <a:latin typeface="Consolas" panose="020B0609020204030204" pitchFamily="49" charset="0"/>
              </a:rPr>
              <a:t> </a:t>
            </a:r>
            <a:r>
              <a:rPr lang="en-IN" sz="1800" u="sng" dirty="0">
                <a:solidFill>
                  <a:srgbClr val="FFC000"/>
                </a:solidFill>
                <a:latin typeface="Consolas" panose="020B0609020204030204" pitchFamily="49" charset="0"/>
              </a:rPr>
              <a:t>Ranjan</a:t>
            </a:r>
          </a:p>
          <a:p>
            <a:pPr algn="l"/>
            <a:r>
              <a:rPr lang="en-US" sz="1800" dirty="0">
                <a:solidFill>
                  <a:srgbClr val="FFC000"/>
                </a:solidFill>
                <a:latin typeface="Consolas" panose="020B0609020204030204" pitchFamily="49" charset="0"/>
              </a:rPr>
              <a:t> * </a:t>
            </a:r>
            <a:r>
              <a:rPr lang="en-US" sz="1800" dirty="0" err="1">
                <a:solidFill>
                  <a:srgbClr val="FFC000"/>
                </a:solidFill>
                <a:latin typeface="Consolas" panose="020B0609020204030204" pitchFamily="49" charset="0"/>
              </a:rPr>
              <a:t>Description:Program</a:t>
            </a:r>
            <a:r>
              <a:rPr lang="en-US" sz="1800" dirty="0">
                <a:solidFill>
                  <a:srgbClr val="FFC000"/>
                </a:solidFill>
                <a:latin typeface="Consolas" panose="020B0609020204030204" pitchFamily="49" charset="0"/>
              </a:rPr>
              <a:t> to demonstrate working of </a:t>
            </a:r>
            <a:r>
              <a:rPr lang="en-US" sz="1800" dirty="0" err="1">
                <a:solidFill>
                  <a:srgbClr val="FFC000"/>
                </a:solidFill>
                <a:latin typeface="Consolas" panose="020B0609020204030204" pitchFamily="49" charset="0"/>
              </a:rPr>
              <a:t>ArrayaList</a:t>
            </a:r>
            <a:endParaRPr lang="en-US" sz="1800" dirty="0">
              <a:solidFill>
                <a:srgbClr val="FFC000"/>
              </a:solidFill>
              <a:latin typeface="Consolas" panose="020B0609020204030204" pitchFamily="49" charset="0"/>
            </a:endParaRPr>
          </a:p>
          <a:p>
            <a:pPr algn="l"/>
            <a:r>
              <a:rPr lang="en-IN" sz="1800" dirty="0">
                <a:solidFill>
                  <a:srgbClr val="FFC000"/>
                </a:solidFill>
                <a:latin typeface="Consolas" panose="020B0609020204030204" pitchFamily="49" charset="0"/>
              </a:rPr>
              <a:t> * Date:12-1-2022</a:t>
            </a:r>
          </a:p>
          <a:p>
            <a:pPr algn="l"/>
            <a:r>
              <a:rPr lang="en-IN" sz="1800" dirty="0">
                <a:solidFill>
                  <a:srgbClr val="FFC000"/>
                </a:solidFill>
                <a:latin typeface="Consolas" panose="020B0609020204030204" pitchFamily="49" charset="0"/>
              </a:rPr>
              <a:t> */</a:t>
            </a:r>
          </a:p>
          <a:p>
            <a:pPr algn="l"/>
            <a:r>
              <a:rPr lang="en-IN" dirty="0">
                <a:solidFill>
                  <a:srgbClr val="00B050"/>
                </a:solidFill>
              </a:rPr>
              <a:t>package </a:t>
            </a:r>
            <a:r>
              <a:rPr lang="en-IN" dirty="0" err="1">
                <a:solidFill>
                  <a:srgbClr val="00B050"/>
                </a:solidFill>
              </a:rPr>
              <a:t>javaprogram</a:t>
            </a:r>
            <a:r>
              <a:rPr lang="en-IN" dirty="0">
                <a:solidFill>
                  <a:srgbClr val="00B050"/>
                </a:solidFill>
              </a:rPr>
              <a:t>;</a:t>
            </a:r>
          </a:p>
          <a:p>
            <a:pPr algn="l"/>
            <a:r>
              <a:rPr lang="en-IN" dirty="0">
                <a:solidFill>
                  <a:srgbClr val="00B050"/>
                </a:solidFill>
              </a:rPr>
              <a:t>import </a:t>
            </a:r>
            <a:r>
              <a:rPr lang="en-IN" dirty="0" err="1">
                <a:solidFill>
                  <a:srgbClr val="00B050"/>
                </a:solidFill>
              </a:rPr>
              <a:t>java.util</a:t>
            </a:r>
            <a:r>
              <a:rPr lang="en-IN" dirty="0">
                <a:solidFill>
                  <a:srgbClr val="00B050"/>
                </a:solidFill>
              </a:rPr>
              <a:t>.*;</a:t>
            </a:r>
          </a:p>
          <a:p>
            <a:pPr algn="l"/>
            <a:r>
              <a:rPr lang="en-IN" dirty="0">
                <a:solidFill>
                  <a:srgbClr val="00B050"/>
                </a:solidFill>
              </a:rPr>
              <a:t>class </a:t>
            </a:r>
            <a:r>
              <a:rPr lang="en-IN" dirty="0" err="1">
                <a:solidFill>
                  <a:srgbClr val="00B050"/>
                </a:solidFill>
              </a:rPr>
              <a:t>ArrayListJava</a:t>
            </a:r>
            <a:endParaRPr lang="en-IN" dirty="0">
              <a:solidFill>
                <a:srgbClr val="00B050"/>
              </a:solidFill>
            </a:endParaRPr>
          </a:p>
          <a:p>
            <a:pPr algn="l"/>
            <a:r>
              <a:rPr lang="en-IN" dirty="0">
                <a:solidFill>
                  <a:srgbClr val="00B050"/>
                </a:solidFill>
              </a:rPr>
              <a:t>{</a:t>
            </a:r>
          </a:p>
          <a:p>
            <a:pPr algn="l"/>
            <a:r>
              <a:rPr lang="en-IN" dirty="0">
                <a:solidFill>
                  <a:srgbClr val="00B050"/>
                </a:solidFill>
              </a:rPr>
              <a:t>public static void main(String </a:t>
            </a:r>
            <a:r>
              <a:rPr lang="en-IN" dirty="0" err="1">
                <a:solidFill>
                  <a:srgbClr val="00B050"/>
                </a:solidFill>
              </a:rPr>
              <a:t>ar</a:t>
            </a:r>
            <a:r>
              <a:rPr lang="en-IN" dirty="0">
                <a:solidFill>
                  <a:srgbClr val="00B050"/>
                </a:solidFill>
              </a:rPr>
              <a:t>[])</a:t>
            </a:r>
          </a:p>
          <a:p>
            <a:pPr algn="l"/>
            <a:r>
              <a:rPr lang="en-IN" dirty="0" err="1">
                <a:solidFill>
                  <a:srgbClr val="00B050"/>
                </a:solidFill>
              </a:rPr>
              <a:t>ArrayList</a:t>
            </a:r>
            <a:r>
              <a:rPr lang="en-IN" dirty="0">
                <a:solidFill>
                  <a:srgbClr val="00B050"/>
                </a:solidFill>
              </a:rPr>
              <a:t> </a:t>
            </a:r>
            <a:r>
              <a:rPr lang="en-IN" dirty="0" err="1">
                <a:solidFill>
                  <a:srgbClr val="00B050"/>
                </a:solidFill>
              </a:rPr>
              <a:t>ob</a:t>
            </a:r>
            <a:r>
              <a:rPr lang="en-IN" dirty="0">
                <a:solidFill>
                  <a:srgbClr val="00B050"/>
                </a:solidFill>
              </a:rPr>
              <a:t>= new </a:t>
            </a:r>
            <a:r>
              <a:rPr lang="en-IN" dirty="0" err="1">
                <a:solidFill>
                  <a:srgbClr val="00B050"/>
                </a:solidFill>
              </a:rPr>
              <a:t>ArrayList</a:t>
            </a:r>
            <a:r>
              <a:rPr lang="en-IN" dirty="0">
                <a:solidFill>
                  <a:srgbClr val="00B050"/>
                </a:solidFill>
              </a:rPr>
              <a:t>();</a:t>
            </a:r>
          </a:p>
          <a:p>
            <a:pPr algn="l"/>
            <a:r>
              <a:rPr lang="en-IN" dirty="0" err="1">
                <a:solidFill>
                  <a:srgbClr val="00B050"/>
                </a:solidFill>
              </a:rPr>
              <a:t>ob.add</a:t>
            </a:r>
            <a:r>
              <a:rPr lang="en-IN" dirty="0">
                <a:solidFill>
                  <a:srgbClr val="00B050"/>
                </a:solidFill>
              </a:rPr>
              <a:t>("first");</a:t>
            </a:r>
          </a:p>
          <a:p>
            <a:pPr algn="l"/>
            <a:r>
              <a:rPr lang="en-IN" dirty="0" err="1">
                <a:solidFill>
                  <a:srgbClr val="00B050"/>
                </a:solidFill>
              </a:rPr>
              <a:t>ob.add</a:t>
            </a:r>
            <a:r>
              <a:rPr lang="en-IN" dirty="0">
                <a:solidFill>
                  <a:srgbClr val="00B050"/>
                </a:solidFill>
              </a:rPr>
              <a:t>("second");</a:t>
            </a:r>
          </a:p>
          <a:p>
            <a:pPr algn="l"/>
            <a:r>
              <a:rPr lang="en-IN" dirty="0" err="1">
                <a:solidFill>
                  <a:srgbClr val="00B050"/>
                </a:solidFill>
              </a:rPr>
              <a:t>ob.add</a:t>
            </a:r>
            <a:r>
              <a:rPr lang="en-IN" dirty="0">
                <a:solidFill>
                  <a:srgbClr val="00B050"/>
                </a:solidFill>
              </a:rPr>
              <a:t>("third");</a:t>
            </a:r>
          </a:p>
          <a:p>
            <a:pPr algn="l"/>
            <a:r>
              <a:rPr lang="en-IN" dirty="0" err="1">
                <a:solidFill>
                  <a:srgbClr val="00B050"/>
                </a:solidFill>
              </a:rPr>
              <a:t>ob.add</a:t>
            </a:r>
            <a:r>
              <a:rPr lang="en-IN" dirty="0">
                <a:solidFill>
                  <a:srgbClr val="00B050"/>
                </a:solidFill>
              </a:rPr>
              <a:t>("five");</a:t>
            </a:r>
          </a:p>
          <a:p>
            <a:pPr algn="l"/>
            <a:r>
              <a:rPr lang="en-IN" dirty="0" err="1">
                <a:solidFill>
                  <a:srgbClr val="00B050"/>
                </a:solidFill>
              </a:rPr>
              <a:t>System.out.println</a:t>
            </a:r>
            <a:r>
              <a:rPr lang="en-IN" dirty="0">
                <a:solidFill>
                  <a:srgbClr val="00B050"/>
                </a:solidFill>
              </a:rPr>
              <a:t>(</a:t>
            </a:r>
            <a:r>
              <a:rPr lang="en-IN" dirty="0" err="1">
                <a:solidFill>
                  <a:srgbClr val="00B050"/>
                </a:solidFill>
              </a:rPr>
              <a:t>ob</a:t>
            </a:r>
            <a:r>
              <a:rPr lang="en-IN" dirty="0">
                <a:solidFill>
                  <a:srgbClr val="00B050"/>
                </a:solidFill>
              </a:rPr>
              <a:t>);</a:t>
            </a:r>
          </a:p>
          <a:p>
            <a:pPr algn="l"/>
            <a:r>
              <a:rPr lang="en-IN" dirty="0">
                <a:solidFill>
                  <a:srgbClr val="00B050"/>
                </a:solidFill>
              </a:rPr>
              <a:t>Iterator it= </a:t>
            </a:r>
            <a:r>
              <a:rPr lang="en-IN" dirty="0" err="1">
                <a:solidFill>
                  <a:srgbClr val="00B050"/>
                </a:solidFill>
              </a:rPr>
              <a:t>ob.iterator</a:t>
            </a:r>
            <a:r>
              <a:rPr lang="en-IN" dirty="0">
                <a:solidFill>
                  <a:srgbClr val="00B050"/>
                </a:solidFill>
              </a:rPr>
              <a:t>();</a:t>
            </a:r>
          </a:p>
          <a:p>
            <a:pPr algn="l"/>
            <a:r>
              <a:rPr lang="en-IN" dirty="0">
                <a:solidFill>
                  <a:srgbClr val="00B050"/>
                </a:solidFill>
              </a:rPr>
              <a:t>while(</a:t>
            </a:r>
            <a:r>
              <a:rPr lang="en-IN" dirty="0" err="1">
                <a:solidFill>
                  <a:srgbClr val="00B050"/>
                </a:solidFill>
              </a:rPr>
              <a:t>it.hasNext</a:t>
            </a:r>
            <a:r>
              <a:rPr lang="en-IN" dirty="0">
                <a:solidFill>
                  <a:srgbClr val="00B050"/>
                </a:solidFill>
              </a:rPr>
              <a:t>())</a:t>
            </a:r>
          </a:p>
          <a:p>
            <a:pPr algn="l"/>
            <a:r>
              <a:rPr lang="en-IN" dirty="0" err="1">
                <a:solidFill>
                  <a:srgbClr val="00B050"/>
                </a:solidFill>
              </a:rPr>
              <a:t>System.out.println</a:t>
            </a:r>
            <a:r>
              <a:rPr lang="en-IN" dirty="0">
                <a:solidFill>
                  <a:srgbClr val="00B050"/>
                </a:solidFill>
              </a:rPr>
              <a:t>("elements are  "+</a:t>
            </a:r>
            <a:r>
              <a:rPr lang="en-IN" dirty="0" err="1">
                <a:solidFill>
                  <a:srgbClr val="00B050"/>
                </a:solidFill>
              </a:rPr>
              <a:t>it.next</a:t>
            </a:r>
            <a:r>
              <a:rPr lang="en-IN" dirty="0">
                <a:solidFill>
                  <a:srgbClr val="00B050"/>
                </a:solidFill>
              </a:rPr>
              <a:t>());</a:t>
            </a:r>
          </a:p>
          <a:p>
            <a:pPr algn="l"/>
            <a:r>
              <a:rPr lang="en-IN" dirty="0">
                <a:solidFill>
                  <a:srgbClr val="00B050"/>
                </a:solidFill>
              </a:rPr>
              <a:t>}</a:t>
            </a:r>
          </a:p>
          <a:p>
            <a:pPr algn="l"/>
            <a:r>
              <a:rPr lang="en-IN" dirty="0">
                <a:solidFill>
                  <a:srgbClr val="00B050"/>
                </a:solidFill>
              </a:rPr>
              <a:t>}</a:t>
            </a:r>
          </a:p>
        </p:txBody>
      </p:sp>
      <p:sp>
        <p:nvSpPr>
          <p:cNvPr id="6" name="TextBox 5">
            <a:extLst>
              <a:ext uri="{FF2B5EF4-FFF2-40B4-BE49-F238E27FC236}">
                <a16:creationId xmlns:a16="http://schemas.microsoft.com/office/drawing/2014/main" id="{C60DF4AA-F49A-409D-B581-8F8B0D81EC7E}"/>
              </a:ext>
            </a:extLst>
          </p:cNvPr>
          <p:cNvSpPr txBox="1"/>
          <p:nvPr/>
        </p:nvSpPr>
        <p:spPr>
          <a:xfrm>
            <a:off x="8562109" y="4432074"/>
            <a:ext cx="3463636" cy="1754326"/>
          </a:xfrm>
          <a:prstGeom prst="rect">
            <a:avLst/>
          </a:prstGeom>
          <a:noFill/>
        </p:spPr>
        <p:txBody>
          <a:bodyPr wrap="square" rtlCol="0">
            <a:spAutoFit/>
          </a:bodyPr>
          <a:lstStyle/>
          <a:p>
            <a:pPr algn="l"/>
            <a:r>
              <a:rPr lang="en-IN" sz="1800" dirty="0">
                <a:latin typeface="Consolas" panose="020B0609020204030204" pitchFamily="49" charset="0"/>
              </a:rPr>
              <a:t>[first, second, third, five]</a:t>
            </a:r>
          </a:p>
          <a:p>
            <a:pPr algn="l"/>
            <a:r>
              <a:rPr lang="en-IN" sz="1800" dirty="0">
                <a:latin typeface="Consolas" panose="020B0609020204030204" pitchFamily="49" charset="0"/>
              </a:rPr>
              <a:t>elements are  first</a:t>
            </a:r>
          </a:p>
          <a:p>
            <a:pPr algn="l"/>
            <a:r>
              <a:rPr lang="en-IN" sz="1800" dirty="0">
                <a:latin typeface="Consolas" panose="020B0609020204030204" pitchFamily="49" charset="0"/>
              </a:rPr>
              <a:t>elements are  second</a:t>
            </a:r>
          </a:p>
          <a:p>
            <a:pPr algn="l"/>
            <a:r>
              <a:rPr lang="en-IN" sz="1800" dirty="0">
                <a:latin typeface="Consolas" panose="020B0609020204030204" pitchFamily="49" charset="0"/>
              </a:rPr>
              <a:t>elements are  third</a:t>
            </a:r>
          </a:p>
          <a:p>
            <a:pPr algn="l"/>
            <a:r>
              <a:rPr lang="en-IN" sz="1800" dirty="0">
                <a:latin typeface="Consolas" panose="020B0609020204030204" pitchFamily="49" charset="0"/>
              </a:rPr>
              <a:t>elements are  five</a:t>
            </a:r>
            <a:endParaRPr lang="en-IN" dirty="0"/>
          </a:p>
        </p:txBody>
      </p:sp>
    </p:spTree>
    <p:extLst>
      <p:ext uri="{BB962C8B-B14F-4D97-AF65-F5344CB8AC3E}">
        <p14:creationId xmlns:p14="http://schemas.microsoft.com/office/powerpoint/2010/main" val="2735287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26ADE7-F4A9-471A-80EA-B2BC843074DA}"/>
              </a:ext>
            </a:extLst>
          </p:cNvPr>
          <p:cNvSpPr txBox="1"/>
          <p:nvPr/>
        </p:nvSpPr>
        <p:spPr>
          <a:xfrm>
            <a:off x="1537854" y="900545"/>
            <a:ext cx="7467600" cy="1754326"/>
          </a:xfrm>
          <a:prstGeom prst="rect">
            <a:avLst/>
          </a:prstGeom>
          <a:noFill/>
        </p:spPr>
        <p:txBody>
          <a:bodyPr wrap="square" rtlCol="0">
            <a:spAutoFit/>
          </a:bodyPr>
          <a:lstStyle/>
          <a:p>
            <a:r>
              <a:rPr lang="en-US" dirty="0">
                <a:solidFill>
                  <a:srgbClr val="FFFF00"/>
                </a:solidFill>
              </a:rPr>
              <a:t>LinkedList: </a:t>
            </a:r>
            <a:r>
              <a:rPr lang="en-US" dirty="0"/>
              <a:t>LinkedList implements the Collection interface. It uses a doubly linked list internally to store the elements. It can store the duplicate elements. It maintains the insertion order and is not synchronized. In LinkedList, the manipulation is fast because no shifting is required.</a:t>
            </a:r>
          </a:p>
          <a:p>
            <a:endParaRPr lang="en-IN" dirty="0"/>
          </a:p>
        </p:txBody>
      </p:sp>
    </p:spTree>
    <p:extLst>
      <p:ext uri="{BB962C8B-B14F-4D97-AF65-F5344CB8AC3E}">
        <p14:creationId xmlns:p14="http://schemas.microsoft.com/office/powerpoint/2010/main" val="2236586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679264-23D7-482F-868E-2EFDAC4920BA}"/>
              </a:ext>
            </a:extLst>
          </p:cNvPr>
          <p:cNvSpPr txBox="1"/>
          <p:nvPr/>
        </p:nvSpPr>
        <p:spPr>
          <a:xfrm>
            <a:off x="2265218" y="574709"/>
            <a:ext cx="7661564" cy="5909310"/>
          </a:xfrm>
          <a:prstGeom prst="rect">
            <a:avLst/>
          </a:prstGeom>
          <a:noFill/>
        </p:spPr>
        <p:txBody>
          <a:bodyPr wrap="square" rtlCol="0">
            <a:spAutoFit/>
          </a:bodyPr>
          <a:lstStyle/>
          <a:p>
            <a:r>
              <a:rPr lang="en-IN" dirty="0"/>
              <a:t>package </a:t>
            </a:r>
            <a:r>
              <a:rPr lang="en-IN" dirty="0" err="1"/>
              <a:t>javaprogram</a:t>
            </a:r>
            <a:r>
              <a:rPr lang="en-IN" dirty="0"/>
              <a:t>;</a:t>
            </a:r>
          </a:p>
          <a:p>
            <a:r>
              <a:rPr lang="en-IN" dirty="0">
                <a:solidFill>
                  <a:srgbClr val="FFFF00"/>
                </a:solidFill>
              </a:rPr>
              <a:t>/* </a:t>
            </a:r>
            <a:r>
              <a:rPr lang="en-IN" dirty="0" err="1">
                <a:solidFill>
                  <a:srgbClr val="FFFF00"/>
                </a:solidFill>
              </a:rPr>
              <a:t>Title:LinkedListJava.java</a:t>
            </a:r>
            <a:endParaRPr lang="en-IN" dirty="0">
              <a:solidFill>
                <a:srgbClr val="FFFF00"/>
              </a:solidFill>
            </a:endParaRPr>
          </a:p>
          <a:p>
            <a:r>
              <a:rPr lang="en-IN" dirty="0">
                <a:solidFill>
                  <a:srgbClr val="FFFF00"/>
                </a:solidFill>
              </a:rPr>
              <a:t> * </a:t>
            </a:r>
            <a:r>
              <a:rPr lang="en-IN" dirty="0" err="1">
                <a:solidFill>
                  <a:srgbClr val="FFFF00"/>
                </a:solidFill>
              </a:rPr>
              <a:t>Author:Rajiv</a:t>
            </a:r>
            <a:r>
              <a:rPr lang="en-IN" dirty="0">
                <a:solidFill>
                  <a:srgbClr val="FFFF00"/>
                </a:solidFill>
              </a:rPr>
              <a:t> Ranjan</a:t>
            </a:r>
          </a:p>
          <a:p>
            <a:r>
              <a:rPr lang="en-IN" dirty="0">
                <a:solidFill>
                  <a:srgbClr val="FFFF00"/>
                </a:solidFill>
              </a:rPr>
              <a:t> * </a:t>
            </a:r>
            <a:r>
              <a:rPr lang="en-IN" dirty="0" err="1">
                <a:solidFill>
                  <a:srgbClr val="FFFF00"/>
                </a:solidFill>
              </a:rPr>
              <a:t>Description:Program</a:t>
            </a:r>
            <a:r>
              <a:rPr lang="en-IN" dirty="0">
                <a:solidFill>
                  <a:srgbClr val="FFFF00"/>
                </a:solidFill>
              </a:rPr>
              <a:t> to demonstrate working of LinkedList</a:t>
            </a:r>
          </a:p>
          <a:p>
            <a:r>
              <a:rPr lang="en-IN" dirty="0">
                <a:solidFill>
                  <a:srgbClr val="FFFF00"/>
                </a:solidFill>
              </a:rPr>
              <a:t> * Date:12-1-2022</a:t>
            </a:r>
          </a:p>
          <a:p>
            <a:r>
              <a:rPr lang="en-IN" dirty="0">
                <a:solidFill>
                  <a:srgbClr val="FFFF00"/>
                </a:solidFill>
              </a:rPr>
              <a:t> */</a:t>
            </a:r>
          </a:p>
          <a:p>
            <a:r>
              <a:rPr lang="en-IN" dirty="0"/>
              <a:t>import </a:t>
            </a:r>
            <a:r>
              <a:rPr lang="en-IN" dirty="0" err="1"/>
              <a:t>java.util</a:t>
            </a:r>
            <a:r>
              <a:rPr lang="en-IN" dirty="0"/>
              <a:t>.*;</a:t>
            </a:r>
          </a:p>
          <a:p>
            <a:r>
              <a:rPr lang="en-IN" dirty="0"/>
              <a:t>public class </a:t>
            </a:r>
            <a:r>
              <a:rPr lang="en-IN" dirty="0" err="1"/>
              <a:t>LinkedListJava</a:t>
            </a:r>
            <a:r>
              <a:rPr lang="en-IN" dirty="0"/>
              <a:t> {</a:t>
            </a:r>
          </a:p>
          <a:p>
            <a:r>
              <a:rPr lang="en-IN" dirty="0"/>
              <a:t>public static void main(String </a:t>
            </a:r>
            <a:r>
              <a:rPr lang="en-IN" dirty="0" err="1"/>
              <a:t>ar</a:t>
            </a:r>
            <a:r>
              <a:rPr lang="en-IN" dirty="0"/>
              <a:t>[])</a:t>
            </a:r>
          </a:p>
          <a:p>
            <a:r>
              <a:rPr lang="en-IN" dirty="0"/>
              <a:t>{</a:t>
            </a:r>
          </a:p>
          <a:p>
            <a:r>
              <a:rPr lang="en-IN" dirty="0"/>
              <a:t>		LinkedList&lt;String&gt; al=new LinkedList&lt;String&gt;();  </a:t>
            </a:r>
          </a:p>
          <a:p>
            <a:r>
              <a:rPr lang="en-IN" dirty="0"/>
              <a:t>		</a:t>
            </a:r>
            <a:r>
              <a:rPr lang="en-IN" dirty="0" err="1"/>
              <a:t>al.add</a:t>
            </a:r>
            <a:r>
              <a:rPr lang="en-IN" dirty="0"/>
              <a:t>("Mohit");  </a:t>
            </a:r>
          </a:p>
          <a:p>
            <a:r>
              <a:rPr lang="en-IN" dirty="0"/>
              <a:t>		</a:t>
            </a:r>
            <a:r>
              <a:rPr lang="en-IN" dirty="0" err="1"/>
              <a:t>al.add</a:t>
            </a:r>
            <a:r>
              <a:rPr lang="en-IN" dirty="0"/>
              <a:t>("Vijay");  </a:t>
            </a:r>
          </a:p>
          <a:p>
            <a:r>
              <a:rPr lang="en-IN" dirty="0"/>
              <a:t>		</a:t>
            </a:r>
            <a:r>
              <a:rPr lang="en-IN" dirty="0" err="1"/>
              <a:t>al.add</a:t>
            </a:r>
            <a:r>
              <a:rPr lang="en-IN" dirty="0"/>
              <a:t>("Sanjay");  </a:t>
            </a:r>
          </a:p>
          <a:p>
            <a:r>
              <a:rPr lang="en-IN" dirty="0"/>
              <a:t>		</a:t>
            </a:r>
            <a:r>
              <a:rPr lang="en-IN" dirty="0" err="1"/>
              <a:t>al.add</a:t>
            </a:r>
            <a:r>
              <a:rPr lang="en-IN" dirty="0"/>
              <a:t>("Ajay");  </a:t>
            </a:r>
          </a:p>
          <a:p>
            <a:r>
              <a:rPr lang="en-IN" dirty="0"/>
              <a:t>		Iterator&lt;String&gt; </a:t>
            </a:r>
            <a:r>
              <a:rPr lang="en-IN" dirty="0" err="1"/>
              <a:t>itr</a:t>
            </a:r>
            <a:r>
              <a:rPr lang="en-IN" dirty="0"/>
              <a:t>=</a:t>
            </a:r>
            <a:r>
              <a:rPr lang="en-IN" dirty="0" err="1"/>
              <a:t>al.iterator</a:t>
            </a:r>
            <a:r>
              <a:rPr lang="en-IN" dirty="0"/>
              <a:t>();  </a:t>
            </a:r>
          </a:p>
          <a:p>
            <a:r>
              <a:rPr lang="en-IN" dirty="0"/>
              <a:t>		while(</a:t>
            </a:r>
            <a:r>
              <a:rPr lang="en-IN" dirty="0" err="1"/>
              <a:t>itr.hasNext</a:t>
            </a:r>
            <a:r>
              <a:rPr lang="en-IN" dirty="0"/>
              <a:t>()){  </a:t>
            </a:r>
          </a:p>
          <a:p>
            <a:r>
              <a:rPr lang="en-IN" dirty="0"/>
              <a:t>		</a:t>
            </a:r>
            <a:r>
              <a:rPr lang="en-IN" dirty="0" err="1"/>
              <a:t>System.out.println</a:t>
            </a:r>
            <a:r>
              <a:rPr lang="en-IN" dirty="0"/>
              <a:t>(</a:t>
            </a:r>
            <a:r>
              <a:rPr lang="en-IN" dirty="0" err="1"/>
              <a:t>itr.next</a:t>
            </a:r>
            <a:r>
              <a:rPr lang="en-IN" dirty="0"/>
              <a:t>());  </a:t>
            </a:r>
          </a:p>
          <a:p>
            <a:r>
              <a:rPr lang="en-IN" dirty="0"/>
              <a:t>		}  </a:t>
            </a:r>
          </a:p>
          <a:p>
            <a:r>
              <a:rPr lang="en-IN" dirty="0"/>
              <a:t>		}  </a:t>
            </a:r>
          </a:p>
          <a:p>
            <a:r>
              <a:rPr lang="en-IN" dirty="0"/>
              <a:t>}</a:t>
            </a:r>
          </a:p>
        </p:txBody>
      </p:sp>
      <p:sp>
        <p:nvSpPr>
          <p:cNvPr id="5" name="TextBox 4">
            <a:extLst>
              <a:ext uri="{FF2B5EF4-FFF2-40B4-BE49-F238E27FC236}">
                <a16:creationId xmlns:a16="http://schemas.microsoft.com/office/drawing/2014/main" id="{B9B8EFED-794E-4904-8F3A-2709C68FF8AF}"/>
              </a:ext>
            </a:extLst>
          </p:cNvPr>
          <p:cNvSpPr txBox="1"/>
          <p:nvPr/>
        </p:nvSpPr>
        <p:spPr>
          <a:xfrm>
            <a:off x="10099963" y="4100946"/>
            <a:ext cx="1274618" cy="1200329"/>
          </a:xfrm>
          <a:prstGeom prst="rect">
            <a:avLst/>
          </a:prstGeom>
          <a:noFill/>
        </p:spPr>
        <p:txBody>
          <a:bodyPr wrap="square" rtlCol="0">
            <a:spAutoFit/>
          </a:bodyPr>
          <a:lstStyle/>
          <a:p>
            <a:pPr algn="l"/>
            <a:r>
              <a:rPr lang="en-IN" sz="1800" dirty="0">
                <a:latin typeface="Consolas" panose="020B0609020204030204" pitchFamily="49" charset="0"/>
              </a:rPr>
              <a:t>Mohit</a:t>
            </a:r>
          </a:p>
          <a:p>
            <a:pPr algn="l"/>
            <a:r>
              <a:rPr lang="en-IN" sz="1800" dirty="0">
                <a:latin typeface="Consolas" panose="020B0609020204030204" pitchFamily="49" charset="0"/>
              </a:rPr>
              <a:t>Vijay</a:t>
            </a:r>
          </a:p>
          <a:p>
            <a:pPr algn="l"/>
            <a:r>
              <a:rPr lang="en-IN" sz="1800" dirty="0">
                <a:latin typeface="Consolas" panose="020B0609020204030204" pitchFamily="49" charset="0"/>
              </a:rPr>
              <a:t>Sanjay</a:t>
            </a:r>
          </a:p>
          <a:p>
            <a:pPr algn="l"/>
            <a:r>
              <a:rPr lang="en-IN" sz="1800" dirty="0">
                <a:latin typeface="Consolas" panose="020B0609020204030204" pitchFamily="49" charset="0"/>
              </a:rPr>
              <a:t>Ajay</a:t>
            </a:r>
            <a:endParaRPr lang="en-IN" dirty="0"/>
          </a:p>
        </p:txBody>
      </p:sp>
    </p:spTree>
    <p:extLst>
      <p:ext uri="{BB962C8B-B14F-4D97-AF65-F5344CB8AC3E}">
        <p14:creationId xmlns:p14="http://schemas.microsoft.com/office/powerpoint/2010/main" val="315650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D2E382-DC82-4A08-A002-0145EF2065D2}"/>
              </a:ext>
            </a:extLst>
          </p:cNvPr>
          <p:cNvSpPr txBox="1"/>
          <p:nvPr/>
        </p:nvSpPr>
        <p:spPr>
          <a:xfrm>
            <a:off x="1510145" y="1039091"/>
            <a:ext cx="7550728" cy="2554545"/>
          </a:xfrm>
          <a:prstGeom prst="rect">
            <a:avLst/>
          </a:prstGeom>
          <a:noFill/>
        </p:spPr>
        <p:txBody>
          <a:bodyPr wrap="square" rtlCol="0">
            <a:spAutoFit/>
          </a:bodyPr>
          <a:lstStyle/>
          <a:p>
            <a:r>
              <a:rPr lang="en-US" dirty="0">
                <a:solidFill>
                  <a:srgbClr val="FFFF00"/>
                </a:solidFill>
              </a:rPr>
              <a:t>Vector: </a:t>
            </a:r>
            <a:r>
              <a:rPr lang="en-IN" sz="2000" dirty="0">
                <a:solidFill>
                  <a:schemeClr val="accent6"/>
                </a:solidFill>
                <a:effectLst/>
                <a:ea typeface="Times New Roman" panose="02020603050405020304" pitchFamily="18" charset="0"/>
                <a:cs typeface="Times New Roman" panose="02020603050405020304" pitchFamily="18" charset="0"/>
              </a:rPr>
              <a:t>A vector provides us with dynamic arrays in Java. Though, it may be slower than standard arrays but can be helpful in programs where lots of manipulation in the array is needed. This is identical to </a:t>
            </a:r>
            <a:r>
              <a:rPr lang="en-IN" sz="2000" dirty="0" err="1">
                <a:solidFill>
                  <a:schemeClr val="accent6"/>
                </a:solidFill>
                <a:effectLst/>
                <a:ea typeface="Times New Roman" panose="02020603050405020304" pitchFamily="18" charset="0"/>
                <a:cs typeface="Times New Roman" panose="02020603050405020304" pitchFamily="18" charset="0"/>
              </a:rPr>
              <a:t>ArrayList</a:t>
            </a:r>
            <a:r>
              <a:rPr lang="en-IN" sz="2000" dirty="0">
                <a:solidFill>
                  <a:schemeClr val="accent6"/>
                </a:solidFill>
                <a:effectLst/>
                <a:ea typeface="Times New Roman" panose="02020603050405020304" pitchFamily="18" charset="0"/>
                <a:cs typeface="Times New Roman" panose="02020603050405020304" pitchFamily="18" charset="0"/>
              </a:rPr>
              <a:t> in terms of implementation. However, the primary difference between a vector and an </a:t>
            </a:r>
            <a:r>
              <a:rPr lang="en-IN" sz="2000" dirty="0" err="1">
                <a:solidFill>
                  <a:schemeClr val="accent6"/>
                </a:solidFill>
                <a:effectLst/>
                <a:ea typeface="Times New Roman" panose="02020603050405020304" pitchFamily="18" charset="0"/>
                <a:cs typeface="Times New Roman" panose="02020603050405020304" pitchFamily="18" charset="0"/>
              </a:rPr>
              <a:t>ArrayList</a:t>
            </a:r>
            <a:r>
              <a:rPr lang="en-IN" sz="2000" dirty="0">
                <a:solidFill>
                  <a:schemeClr val="accent6"/>
                </a:solidFill>
                <a:effectLst/>
                <a:ea typeface="Times New Roman" panose="02020603050405020304" pitchFamily="18" charset="0"/>
                <a:cs typeface="Times New Roman" panose="02020603050405020304" pitchFamily="18" charset="0"/>
              </a:rPr>
              <a:t> is that a Vector is synchronized and an </a:t>
            </a:r>
            <a:r>
              <a:rPr lang="en-IN" sz="2000" dirty="0" err="1">
                <a:solidFill>
                  <a:schemeClr val="accent6"/>
                </a:solidFill>
                <a:effectLst/>
                <a:ea typeface="Times New Roman" panose="02020603050405020304" pitchFamily="18" charset="0"/>
                <a:cs typeface="Times New Roman" panose="02020603050405020304" pitchFamily="18" charset="0"/>
              </a:rPr>
              <a:t>ArrayList</a:t>
            </a:r>
            <a:r>
              <a:rPr lang="en-IN" sz="2000" dirty="0">
                <a:solidFill>
                  <a:schemeClr val="accent6"/>
                </a:solidFill>
                <a:effectLst/>
                <a:ea typeface="Times New Roman" panose="02020603050405020304" pitchFamily="18" charset="0"/>
                <a:cs typeface="Times New Roman" panose="02020603050405020304" pitchFamily="18" charset="0"/>
              </a:rPr>
              <a:t> is non-synchronized. Let’s understand the Vector </a:t>
            </a:r>
            <a:endParaRPr lang="en-IN" sz="2000" dirty="0">
              <a:solidFill>
                <a:schemeClr val="accent6"/>
              </a:solidFill>
            </a:endParaRPr>
          </a:p>
        </p:txBody>
      </p:sp>
    </p:spTree>
    <p:extLst>
      <p:ext uri="{BB962C8B-B14F-4D97-AF65-F5344CB8AC3E}">
        <p14:creationId xmlns:p14="http://schemas.microsoft.com/office/powerpoint/2010/main" val="3083104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8D682F-99B3-41BE-9DD1-CB6F6454F785}"/>
              </a:ext>
            </a:extLst>
          </p:cNvPr>
          <p:cNvSpPr txBox="1"/>
          <p:nvPr/>
        </p:nvSpPr>
        <p:spPr>
          <a:xfrm>
            <a:off x="1302327" y="0"/>
            <a:ext cx="7952509" cy="7571303"/>
          </a:xfrm>
          <a:prstGeom prst="rect">
            <a:avLst/>
          </a:prstGeom>
          <a:noFill/>
        </p:spPr>
        <p:txBody>
          <a:bodyPr wrap="square" rtlCol="0">
            <a:spAutoFit/>
          </a:bodyPr>
          <a:lstStyle/>
          <a:p>
            <a:r>
              <a:rPr lang="en-IN" dirty="0"/>
              <a:t>package </a:t>
            </a:r>
            <a:r>
              <a:rPr lang="en-IN" dirty="0" err="1"/>
              <a:t>javaprogram</a:t>
            </a:r>
            <a:r>
              <a:rPr lang="en-IN" dirty="0"/>
              <a:t>;</a:t>
            </a:r>
          </a:p>
          <a:p>
            <a:r>
              <a:rPr lang="en-IN" dirty="0"/>
              <a:t>import </a:t>
            </a:r>
            <a:r>
              <a:rPr lang="en-IN" dirty="0" err="1"/>
              <a:t>java.util</a:t>
            </a:r>
            <a:r>
              <a:rPr lang="en-IN" dirty="0"/>
              <a:t>.*;</a:t>
            </a:r>
          </a:p>
          <a:p>
            <a:r>
              <a:rPr lang="en-IN" dirty="0">
                <a:solidFill>
                  <a:srgbClr val="FFFF00"/>
                </a:solidFill>
              </a:rPr>
              <a:t>/* </a:t>
            </a:r>
            <a:r>
              <a:rPr lang="en-IN" dirty="0" err="1">
                <a:solidFill>
                  <a:srgbClr val="FFFF00"/>
                </a:solidFill>
              </a:rPr>
              <a:t>Title:VectorJava.java</a:t>
            </a:r>
            <a:endParaRPr lang="en-IN" dirty="0">
              <a:solidFill>
                <a:srgbClr val="FFFF00"/>
              </a:solidFill>
            </a:endParaRPr>
          </a:p>
          <a:p>
            <a:r>
              <a:rPr lang="en-IN" dirty="0">
                <a:solidFill>
                  <a:srgbClr val="FFFF00"/>
                </a:solidFill>
              </a:rPr>
              <a:t> * </a:t>
            </a:r>
            <a:r>
              <a:rPr lang="en-IN" dirty="0" err="1">
                <a:solidFill>
                  <a:srgbClr val="FFFF00"/>
                </a:solidFill>
              </a:rPr>
              <a:t>Author:Rajiv</a:t>
            </a:r>
            <a:r>
              <a:rPr lang="en-IN" dirty="0">
                <a:solidFill>
                  <a:srgbClr val="FFFF00"/>
                </a:solidFill>
              </a:rPr>
              <a:t> Ranjan</a:t>
            </a:r>
          </a:p>
          <a:p>
            <a:r>
              <a:rPr lang="en-IN" dirty="0">
                <a:solidFill>
                  <a:srgbClr val="FFFF00"/>
                </a:solidFill>
              </a:rPr>
              <a:t> * </a:t>
            </a:r>
            <a:r>
              <a:rPr lang="en-IN" dirty="0" err="1">
                <a:solidFill>
                  <a:srgbClr val="FFFF00"/>
                </a:solidFill>
              </a:rPr>
              <a:t>Description:Program</a:t>
            </a:r>
            <a:r>
              <a:rPr lang="en-IN" dirty="0">
                <a:solidFill>
                  <a:srgbClr val="FFFF00"/>
                </a:solidFill>
              </a:rPr>
              <a:t> to demonstrate working of Vector</a:t>
            </a:r>
          </a:p>
          <a:p>
            <a:r>
              <a:rPr lang="en-IN" dirty="0">
                <a:solidFill>
                  <a:srgbClr val="FFFF00"/>
                </a:solidFill>
              </a:rPr>
              <a:t> * Date:12-1-2022</a:t>
            </a:r>
          </a:p>
          <a:p>
            <a:r>
              <a:rPr lang="en-IN" dirty="0">
                <a:solidFill>
                  <a:srgbClr val="FFFF00"/>
                </a:solidFill>
              </a:rPr>
              <a:t> */</a:t>
            </a:r>
          </a:p>
          <a:p>
            <a:r>
              <a:rPr lang="en-IN" dirty="0"/>
              <a:t>public class </a:t>
            </a:r>
            <a:r>
              <a:rPr lang="en-IN" dirty="0" err="1"/>
              <a:t>VectorJava</a:t>
            </a:r>
            <a:r>
              <a:rPr lang="en-IN" dirty="0"/>
              <a:t> {</a:t>
            </a:r>
          </a:p>
          <a:p>
            <a:r>
              <a:rPr lang="en-IN" dirty="0"/>
              <a:t>	public static void main(String </a:t>
            </a:r>
            <a:r>
              <a:rPr lang="en-IN" dirty="0" err="1"/>
              <a:t>ar</a:t>
            </a:r>
            <a:r>
              <a:rPr lang="en-IN" dirty="0"/>
              <a:t>[])</a:t>
            </a:r>
          </a:p>
          <a:p>
            <a:r>
              <a:rPr lang="en-IN" dirty="0"/>
              <a:t>	{</a:t>
            </a:r>
          </a:p>
          <a:p>
            <a:r>
              <a:rPr lang="en-IN" dirty="0"/>
              <a:t>	Vector </a:t>
            </a:r>
            <a:r>
              <a:rPr lang="en-IN" dirty="0" err="1"/>
              <a:t>vec</a:t>
            </a:r>
            <a:r>
              <a:rPr lang="en-IN" dirty="0"/>
              <a:t>= new Vector();</a:t>
            </a:r>
          </a:p>
          <a:p>
            <a:r>
              <a:rPr lang="en-IN" dirty="0"/>
              <a:t>	</a:t>
            </a:r>
            <a:r>
              <a:rPr lang="en-IN" dirty="0" err="1"/>
              <a:t>vec.add</a:t>
            </a:r>
            <a:r>
              <a:rPr lang="en-IN" dirty="0"/>
              <a:t>("moon");</a:t>
            </a:r>
          </a:p>
          <a:p>
            <a:r>
              <a:rPr lang="en-IN" dirty="0"/>
              <a:t>	</a:t>
            </a:r>
            <a:r>
              <a:rPr lang="en-IN" dirty="0" err="1"/>
              <a:t>vec.add</a:t>
            </a:r>
            <a:r>
              <a:rPr lang="en-IN" dirty="0"/>
              <a:t>("star");</a:t>
            </a:r>
          </a:p>
          <a:p>
            <a:r>
              <a:rPr lang="en-IN" dirty="0"/>
              <a:t>	</a:t>
            </a:r>
            <a:r>
              <a:rPr lang="en-IN" dirty="0" err="1"/>
              <a:t>vec.add</a:t>
            </a:r>
            <a:r>
              <a:rPr lang="en-IN" dirty="0"/>
              <a:t>("</a:t>
            </a:r>
            <a:r>
              <a:rPr lang="en-IN" dirty="0" err="1"/>
              <a:t>pluto</a:t>
            </a:r>
            <a:r>
              <a:rPr lang="en-IN" dirty="0"/>
              <a:t>");</a:t>
            </a:r>
          </a:p>
          <a:p>
            <a:r>
              <a:rPr lang="en-IN" dirty="0"/>
              <a:t>	</a:t>
            </a:r>
            <a:r>
              <a:rPr lang="en-IN" dirty="0" err="1"/>
              <a:t>vec.add</a:t>
            </a:r>
            <a:r>
              <a:rPr lang="en-IN" dirty="0"/>
              <a:t>("sun");</a:t>
            </a:r>
          </a:p>
          <a:p>
            <a:r>
              <a:rPr lang="en-IN" dirty="0"/>
              <a:t>	</a:t>
            </a:r>
            <a:r>
              <a:rPr lang="en-IN" dirty="0" err="1"/>
              <a:t>System.out.println</a:t>
            </a:r>
            <a:r>
              <a:rPr lang="en-IN" dirty="0"/>
              <a:t>(</a:t>
            </a:r>
            <a:r>
              <a:rPr lang="en-IN" dirty="0" err="1"/>
              <a:t>vec</a:t>
            </a:r>
            <a:r>
              <a:rPr lang="en-IN" dirty="0"/>
              <a:t>);</a:t>
            </a:r>
          </a:p>
          <a:p>
            <a:r>
              <a:rPr lang="en-IN" dirty="0"/>
              <a:t>	</a:t>
            </a:r>
            <a:r>
              <a:rPr lang="en-IN" dirty="0" err="1"/>
              <a:t>System.out.println</a:t>
            </a:r>
            <a:r>
              <a:rPr lang="en-IN" dirty="0"/>
              <a:t>("size of vector"+</a:t>
            </a:r>
            <a:r>
              <a:rPr lang="en-IN" dirty="0" err="1"/>
              <a:t>vec.size</a:t>
            </a:r>
            <a:r>
              <a:rPr lang="en-IN" dirty="0"/>
              <a:t>());</a:t>
            </a:r>
          </a:p>
          <a:p>
            <a:r>
              <a:rPr lang="en-IN" dirty="0"/>
              <a:t>	</a:t>
            </a:r>
            <a:r>
              <a:rPr lang="en-IN" dirty="0" err="1"/>
              <a:t>System.out.println</a:t>
            </a:r>
            <a:r>
              <a:rPr lang="en-IN" dirty="0"/>
              <a:t>("element at 0  "+</a:t>
            </a:r>
            <a:r>
              <a:rPr lang="en-IN" dirty="0" err="1"/>
              <a:t>vec.elementAt</a:t>
            </a:r>
            <a:r>
              <a:rPr lang="en-IN" dirty="0"/>
              <a:t>(0));</a:t>
            </a:r>
          </a:p>
          <a:p>
            <a:r>
              <a:rPr lang="en-IN" dirty="0"/>
              <a:t>	Iterator it = </a:t>
            </a:r>
            <a:r>
              <a:rPr lang="en-IN" dirty="0" err="1"/>
              <a:t>vec.iterator</a:t>
            </a:r>
            <a:r>
              <a:rPr lang="en-IN" dirty="0"/>
              <a:t>();</a:t>
            </a:r>
          </a:p>
          <a:p>
            <a:r>
              <a:rPr lang="en-IN" dirty="0"/>
              <a:t>	while(</a:t>
            </a:r>
            <a:r>
              <a:rPr lang="en-IN" dirty="0" err="1"/>
              <a:t>it.hasNext</a:t>
            </a:r>
            <a:r>
              <a:rPr lang="en-IN" dirty="0"/>
              <a:t>())</a:t>
            </a:r>
          </a:p>
          <a:p>
            <a:r>
              <a:rPr lang="en-IN" dirty="0"/>
              <a:t>	{</a:t>
            </a:r>
          </a:p>
          <a:p>
            <a:r>
              <a:rPr lang="en-IN" dirty="0"/>
              <a:t>	</a:t>
            </a:r>
            <a:r>
              <a:rPr lang="en-IN" dirty="0" err="1"/>
              <a:t>System.out.println</a:t>
            </a:r>
            <a:r>
              <a:rPr lang="en-IN" dirty="0"/>
              <a:t>(</a:t>
            </a:r>
            <a:r>
              <a:rPr lang="en-IN" dirty="0" err="1"/>
              <a:t>it.next</a:t>
            </a:r>
            <a:r>
              <a:rPr lang="en-IN" dirty="0"/>
              <a:t>());</a:t>
            </a:r>
          </a:p>
          <a:p>
            <a:r>
              <a:rPr lang="en-IN" dirty="0"/>
              <a:t>	}</a:t>
            </a:r>
          </a:p>
          <a:p>
            <a:r>
              <a:rPr lang="en-IN" dirty="0"/>
              <a:t>	} </a:t>
            </a:r>
          </a:p>
          <a:p>
            <a:r>
              <a:rPr lang="en-IN" dirty="0"/>
              <a:t>}</a:t>
            </a:r>
          </a:p>
          <a:p>
            <a:endParaRPr lang="en-IN" dirty="0"/>
          </a:p>
        </p:txBody>
      </p:sp>
    </p:spTree>
    <p:extLst>
      <p:ext uri="{BB962C8B-B14F-4D97-AF65-F5344CB8AC3E}">
        <p14:creationId xmlns:p14="http://schemas.microsoft.com/office/powerpoint/2010/main" val="1992022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0AB181-2C3E-423A-8ADF-0892939D97A0}"/>
              </a:ext>
            </a:extLst>
          </p:cNvPr>
          <p:cNvSpPr txBox="1"/>
          <p:nvPr/>
        </p:nvSpPr>
        <p:spPr>
          <a:xfrm>
            <a:off x="1440873" y="1177637"/>
            <a:ext cx="8977745" cy="1200329"/>
          </a:xfrm>
          <a:prstGeom prst="rect">
            <a:avLst/>
          </a:prstGeom>
          <a:noFill/>
        </p:spPr>
        <p:txBody>
          <a:bodyPr wrap="square" rtlCol="0">
            <a:spAutoFit/>
          </a:bodyPr>
          <a:lstStyle/>
          <a:p>
            <a:r>
              <a:rPr lang="en-US" dirty="0">
                <a:solidFill>
                  <a:srgbClr val="FFFF00"/>
                </a:solidFill>
              </a:rPr>
              <a:t>Stack: </a:t>
            </a:r>
            <a:r>
              <a:rPr lang="en-US" dirty="0"/>
              <a:t>The stack is the subclass of Vector. It implements the last-in-first-out data structure, i.e., Stack. The stack contains all of the methods of Vector class and also provides its methods like </a:t>
            </a:r>
            <a:r>
              <a:rPr lang="en-US" dirty="0" err="1"/>
              <a:t>boolean</a:t>
            </a:r>
            <a:r>
              <a:rPr lang="en-US" dirty="0"/>
              <a:t> push(), </a:t>
            </a:r>
            <a:r>
              <a:rPr lang="en-US" dirty="0" err="1"/>
              <a:t>boolean</a:t>
            </a:r>
            <a:r>
              <a:rPr lang="en-US" dirty="0"/>
              <a:t> peek(), </a:t>
            </a:r>
            <a:r>
              <a:rPr lang="en-US" dirty="0" err="1"/>
              <a:t>boolean</a:t>
            </a:r>
            <a:r>
              <a:rPr lang="en-US" dirty="0"/>
              <a:t> push(object o), which defines its properties.</a:t>
            </a:r>
          </a:p>
        </p:txBody>
      </p:sp>
    </p:spTree>
    <p:extLst>
      <p:ext uri="{BB962C8B-B14F-4D97-AF65-F5344CB8AC3E}">
        <p14:creationId xmlns:p14="http://schemas.microsoft.com/office/powerpoint/2010/main" val="2426915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DD8150-B405-4A14-8B17-E09E4465C027}"/>
              </a:ext>
            </a:extLst>
          </p:cNvPr>
          <p:cNvSpPr txBox="1"/>
          <p:nvPr/>
        </p:nvSpPr>
        <p:spPr>
          <a:xfrm>
            <a:off x="1620982" y="0"/>
            <a:ext cx="8354291" cy="7294305"/>
          </a:xfrm>
          <a:prstGeom prst="rect">
            <a:avLst/>
          </a:prstGeom>
          <a:noFill/>
        </p:spPr>
        <p:txBody>
          <a:bodyPr wrap="square" rtlCol="0">
            <a:spAutoFit/>
          </a:bodyPr>
          <a:lstStyle/>
          <a:p>
            <a:r>
              <a:rPr lang="en-IN" dirty="0"/>
              <a:t>package </a:t>
            </a:r>
            <a:r>
              <a:rPr lang="en-IN" dirty="0" err="1"/>
              <a:t>javaprogram</a:t>
            </a:r>
            <a:r>
              <a:rPr lang="en-IN" dirty="0"/>
              <a:t>;</a:t>
            </a:r>
          </a:p>
          <a:p>
            <a:r>
              <a:rPr lang="en-IN" dirty="0">
                <a:solidFill>
                  <a:srgbClr val="FFFF00"/>
                </a:solidFill>
              </a:rPr>
              <a:t>/* </a:t>
            </a:r>
            <a:r>
              <a:rPr lang="en-IN" dirty="0" err="1">
                <a:solidFill>
                  <a:srgbClr val="FFFF00"/>
                </a:solidFill>
              </a:rPr>
              <a:t>Title:StackJava.java</a:t>
            </a:r>
            <a:endParaRPr lang="en-IN" dirty="0">
              <a:solidFill>
                <a:srgbClr val="FFFF00"/>
              </a:solidFill>
            </a:endParaRPr>
          </a:p>
          <a:p>
            <a:r>
              <a:rPr lang="en-IN" dirty="0">
                <a:solidFill>
                  <a:srgbClr val="FFFF00"/>
                </a:solidFill>
              </a:rPr>
              <a:t> * </a:t>
            </a:r>
            <a:r>
              <a:rPr lang="en-IN" dirty="0" err="1">
                <a:solidFill>
                  <a:srgbClr val="FFFF00"/>
                </a:solidFill>
              </a:rPr>
              <a:t>Author:Rajiv</a:t>
            </a:r>
            <a:r>
              <a:rPr lang="en-IN" dirty="0">
                <a:solidFill>
                  <a:srgbClr val="FFFF00"/>
                </a:solidFill>
              </a:rPr>
              <a:t> Ranjan</a:t>
            </a:r>
          </a:p>
          <a:p>
            <a:r>
              <a:rPr lang="en-IN" dirty="0">
                <a:solidFill>
                  <a:srgbClr val="FFFF00"/>
                </a:solidFill>
              </a:rPr>
              <a:t> * </a:t>
            </a:r>
            <a:r>
              <a:rPr lang="en-IN" dirty="0" err="1">
                <a:solidFill>
                  <a:srgbClr val="FFFF00"/>
                </a:solidFill>
              </a:rPr>
              <a:t>Description:Program</a:t>
            </a:r>
            <a:r>
              <a:rPr lang="en-IN" dirty="0">
                <a:solidFill>
                  <a:srgbClr val="FFFF00"/>
                </a:solidFill>
              </a:rPr>
              <a:t> to demonstrate working of Stack</a:t>
            </a:r>
          </a:p>
          <a:p>
            <a:r>
              <a:rPr lang="en-IN" dirty="0">
                <a:solidFill>
                  <a:srgbClr val="FFFF00"/>
                </a:solidFill>
              </a:rPr>
              <a:t> * Date:12-1-2022</a:t>
            </a:r>
          </a:p>
          <a:p>
            <a:r>
              <a:rPr lang="en-IN" dirty="0">
                <a:solidFill>
                  <a:srgbClr val="FFFF00"/>
                </a:solidFill>
              </a:rPr>
              <a:t> */</a:t>
            </a:r>
          </a:p>
          <a:p>
            <a:r>
              <a:rPr lang="en-IN" dirty="0"/>
              <a:t>import </a:t>
            </a:r>
            <a:r>
              <a:rPr lang="en-IN" dirty="0" err="1"/>
              <a:t>java.util</a:t>
            </a:r>
            <a:r>
              <a:rPr lang="en-IN" dirty="0"/>
              <a:t>.*;</a:t>
            </a:r>
          </a:p>
          <a:p>
            <a:r>
              <a:rPr lang="en-IN" dirty="0"/>
              <a:t>public class </a:t>
            </a:r>
            <a:r>
              <a:rPr lang="en-IN" dirty="0" err="1"/>
              <a:t>StackJava</a:t>
            </a:r>
            <a:r>
              <a:rPr lang="en-IN" dirty="0"/>
              <a:t> </a:t>
            </a:r>
          </a:p>
          <a:p>
            <a:r>
              <a:rPr lang="en-IN" dirty="0"/>
              <a:t>{</a:t>
            </a:r>
          </a:p>
          <a:p>
            <a:r>
              <a:rPr lang="en-IN" dirty="0"/>
              <a:t>	public static void main(String </a:t>
            </a:r>
            <a:r>
              <a:rPr lang="en-IN" dirty="0" err="1"/>
              <a:t>ar</a:t>
            </a:r>
            <a:r>
              <a:rPr lang="en-IN" dirty="0"/>
              <a:t>[])</a:t>
            </a:r>
          </a:p>
          <a:p>
            <a:r>
              <a:rPr lang="en-IN" dirty="0"/>
              <a:t>	{</a:t>
            </a:r>
          </a:p>
          <a:p>
            <a:r>
              <a:rPr lang="en-IN" dirty="0"/>
              <a:t>	Stack stack= new Stack();</a:t>
            </a:r>
          </a:p>
          <a:p>
            <a:r>
              <a:rPr lang="en-IN" dirty="0"/>
              <a:t>	</a:t>
            </a:r>
            <a:r>
              <a:rPr lang="en-IN" dirty="0" err="1"/>
              <a:t>stack.push</a:t>
            </a:r>
            <a:r>
              <a:rPr lang="en-IN" dirty="0"/>
              <a:t>("first");//adding element on top</a:t>
            </a:r>
          </a:p>
          <a:p>
            <a:r>
              <a:rPr lang="en-IN" dirty="0"/>
              <a:t>	</a:t>
            </a:r>
            <a:r>
              <a:rPr lang="en-IN" dirty="0" err="1"/>
              <a:t>stack.push</a:t>
            </a:r>
            <a:r>
              <a:rPr lang="en-IN" dirty="0"/>
              <a:t>("second");</a:t>
            </a:r>
          </a:p>
          <a:p>
            <a:r>
              <a:rPr lang="en-IN" dirty="0"/>
              <a:t>	</a:t>
            </a:r>
            <a:r>
              <a:rPr lang="en-IN" dirty="0" err="1"/>
              <a:t>stack.push</a:t>
            </a:r>
            <a:r>
              <a:rPr lang="en-IN" dirty="0"/>
              <a:t>("third");</a:t>
            </a:r>
          </a:p>
          <a:p>
            <a:r>
              <a:rPr lang="en-IN" dirty="0"/>
              <a:t>	Iterator it = </a:t>
            </a:r>
            <a:r>
              <a:rPr lang="en-IN" dirty="0" err="1"/>
              <a:t>stack.iterator</a:t>
            </a:r>
            <a:r>
              <a:rPr lang="en-IN" dirty="0"/>
              <a:t>();</a:t>
            </a:r>
          </a:p>
          <a:p>
            <a:r>
              <a:rPr lang="en-IN" dirty="0"/>
              <a:t>	while(</a:t>
            </a:r>
            <a:r>
              <a:rPr lang="en-IN" dirty="0" err="1"/>
              <a:t>it.hasNext</a:t>
            </a:r>
            <a:r>
              <a:rPr lang="en-IN" dirty="0"/>
              <a:t>())</a:t>
            </a:r>
          </a:p>
          <a:p>
            <a:r>
              <a:rPr lang="en-IN" dirty="0"/>
              <a:t>	{</a:t>
            </a:r>
          </a:p>
          <a:p>
            <a:r>
              <a:rPr lang="en-IN" dirty="0"/>
              <a:t>	</a:t>
            </a:r>
            <a:r>
              <a:rPr lang="en-IN" dirty="0" err="1"/>
              <a:t>System.out.println</a:t>
            </a:r>
            <a:r>
              <a:rPr lang="en-IN" dirty="0"/>
              <a:t>(</a:t>
            </a:r>
            <a:r>
              <a:rPr lang="en-IN" dirty="0" err="1"/>
              <a:t>it.next</a:t>
            </a:r>
            <a:r>
              <a:rPr lang="en-IN" dirty="0"/>
              <a:t>());</a:t>
            </a:r>
          </a:p>
          <a:p>
            <a:r>
              <a:rPr lang="en-IN" dirty="0"/>
              <a:t>	}</a:t>
            </a:r>
          </a:p>
          <a:p>
            <a:r>
              <a:rPr lang="en-IN" dirty="0"/>
              <a:t>	</a:t>
            </a:r>
            <a:r>
              <a:rPr lang="en-IN" dirty="0" err="1"/>
              <a:t>stack.pop</a:t>
            </a:r>
            <a:r>
              <a:rPr lang="en-IN" dirty="0"/>
              <a:t>();//remove element from top</a:t>
            </a:r>
          </a:p>
          <a:p>
            <a:endParaRPr lang="en-IN" dirty="0"/>
          </a:p>
          <a:p>
            <a:r>
              <a:rPr lang="en-IN" dirty="0"/>
              <a:t>	</a:t>
            </a:r>
            <a:r>
              <a:rPr lang="en-IN" dirty="0" err="1"/>
              <a:t>System.out.println</a:t>
            </a:r>
            <a:r>
              <a:rPr lang="en-IN" dirty="0"/>
              <a:t>("size after pop operation  "+</a:t>
            </a:r>
            <a:r>
              <a:rPr lang="en-IN" dirty="0" err="1"/>
              <a:t>stack.size</a:t>
            </a:r>
            <a:r>
              <a:rPr lang="en-IN" dirty="0"/>
              <a:t>());</a:t>
            </a:r>
          </a:p>
          <a:p>
            <a:r>
              <a:rPr lang="en-IN" dirty="0"/>
              <a:t>	} </a:t>
            </a:r>
          </a:p>
          <a:p>
            <a:r>
              <a:rPr lang="en-IN" dirty="0"/>
              <a:t>}</a:t>
            </a:r>
          </a:p>
          <a:p>
            <a:endParaRPr lang="en-IN" dirty="0"/>
          </a:p>
        </p:txBody>
      </p:sp>
      <p:sp>
        <p:nvSpPr>
          <p:cNvPr id="5" name="TextBox 4">
            <a:extLst>
              <a:ext uri="{FF2B5EF4-FFF2-40B4-BE49-F238E27FC236}">
                <a16:creationId xmlns:a16="http://schemas.microsoft.com/office/drawing/2014/main" id="{B1CAFB28-2B9E-447C-B9EF-C3998E097C0D}"/>
              </a:ext>
            </a:extLst>
          </p:cNvPr>
          <p:cNvSpPr txBox="1"/>
          <p:nvPr/>
        </p:nvSpPr>
        <p:spPr>
          <a:xfrm>
            <a:off x="8991600" y="2050473"/>
            <a:ext cx="1884218" cy="1754326"/>
          </a:xfrm>
          <a:prstGeom prst="rect">
            <a:avLst/>
          </a:prstGeom>
          <a:noFill/>
        </p:spPr>
        <p:txBody>
          <a:bodyPr wrap="square" rtlCol="0">
            <a:spAutoFit/>
          </a:bodyPr>
          <a:lstStyle/>
          <a:p>
            <a:pPr algn="l"/>
            <a:r>
              <a:rPr lang="en-IN" sz="1800" dirty="0">
                <a:latin typeface="Consolas" panose="020B0609020204030204" pitchFamily="49" charset="0"/>
              </a:rPr>
              <a:t>first</a:t>
            </a:r>
          </a:p>
          <a:p>
            <a:pPr algn="l"/>
            <a:r>
              <a:rPr lang="en-IN" sz="1800" dirty="0">
                <a:latin typeface="Consolas" panose="020B0609020204030204" pitchFamily="49" charset="0"/>
              </a:rPr>
              <a:t>second</a:t>
            </a:r>
          </a:p>
          <a:p>
            <a:pPr algn="l"/>
            <a:r>
              <a:rPr lang="en-IN" sz="1800" dirty="0">
                <a:latin typeface="Consolas" panose="020B0609020204030204" pitchFamily="49" charset="0"/>
              </a:rPr>
              <a:t>third</a:t>
            </a:r>
          </a:p>
          <a:p>
            <a:pPr algn="l"/>
            <a:r>
              <a:rPr lang="en-US" sz="1800" dirty="0">
                <a:latin typeface="Consolas" panose="020B0609020204030204" pitchFamily="49" charset="0"/>
              </a:rPr>
              <a:t>size after pop operation  2</a:t>
            </a:r>
            <a:endParaRPr lang="en-IN" dirty="0"/>
          </a:p>
        </p:txBody>
      </p:sp>
    </p:spTree>
    <p:extLst>
      <p:ext uri="{BB962C8B-B14F-4D97-AF65-F5344CB8AC3E}">
        <p14:creationId xmlns:p14="http://schemas.microsoft.com/office/powerpoint/2010/main" val="742122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0F7D4A-E63B-45CF-961D-D1DA3091A150}"/>
              </a:ext>
            </a:extLst>
          </p:cNvPr>
          <p:cNvSpPr txBox="1"/>
          <p:nvPr/>
        </p:nvSpPr>
        <p:spPr>
          <a:xfrm>
            <a:off x="2459181" y="245677"/>
            <a:ext cx="6941127" cy="6612323"/>
          </a:xfrm>
          <a:prstGeom prst="rect">
            <a:avLst/>
          </a:prstGeom>
          <a:noFill/>
        </p:spPr>
        <p:txBody>
          <a:bodyPr wrap="square" rtlCol="0">
            <a:spAutoFit/>
          </a:bodyPr>
          <a:lstStyle/>
          <a:p>
            <a:pPr fontAlgn="base">
              <a:lnSpc>
                <a:spcPct val="107000"/>
              </a:lnSpc>
              <a:spcAft>
                <a:spcPts val="800"/>
              </a:spcAft>
            </a:pPr>
            <a:r>
              <a:rPr lang="en-US" dirty="0">
                <a:solidFill>
                  <a:srgbClr val="FFFF00"/>
                </a:solidFill>
              </a:rPr>
              <a:t>Deque Interface: </a:t>
            </a:r>
          </a:p>
          <a:p>
            <a:pPr fontAlgn="base">
              <a:lnSpc>
                <a:spcPct val="107000"/>
              </a:lnSpc>
              <a:spcAft>
                <a:spcPts val="800"/>
              </a:spcAft>
            </a:pPr>
            <a:r>
              <a:rPr lang="en-US" dirty="0"/>
              <a:t>This is a very slight variation of the queue data structure. Deque</a:t>
            </a:r>
            <a:r>
              <a:rPr lang="en-US" dirty="0">
                <a:solidFill>
                  <a:srgbClr val="FFFF00"/>
                </a:solidFill>
              </a:rPr>
              <a:t>, also known as a double-ended queue</a:t>
            </a:r>
            <a:r>
              <a:rPr lang="en-US" dirty="0"/>
              <a:t>, is a data structure where we can add and remove the elements from both ends of the queue. This interface extends the queue interface. The class which implements this interface is</a:t>
            </a:r>
            <a:r>
              <a:rPr lang="en-US" dirty="0">
                <a:solidFill>
                  <a:srgbClr val="FFFF00"/>
                </a:solidFill>
              </a:rPr>
              <a:t> </a:t>
            </a:r>
            <a:r>
              <a:rPr lang="en-US" dirty="0" err="1">
                <a:solidFill>
                  <a:srgbClr val="FFFF00"/>
                </a:solidFill>
              </a:rPr>
              <a:t>ArrayDeque</a:t>
            </a:r>
            <a:r>
              <a:rPr lang="en-US" dirty="0"/>
              <a:t>. Since </a:t>
            </a:r>
            <a:r>
              <a:rPr lang="en-US" dirty="0" err="1"/>
              <a:t>ArrayDeque</a:t>
            </a:r>
            <a:r>
              <a:rPr lang="en-US" dirty="0"/>
              <a:t> class implements the </a:t>
            </a:r>
            <a:r>
              <a:rPr lang="en-US" dirty="0">
                <a:solidFill>
                  <a:srgbClr val="FFFF00"/>
                </a:solidFill>
              </a:rPr>
              <a:t>Deque</a:t>
            </a:r>
            <a:r>
              <a:rPr lang="en-US" dirty="0"/>
              <a:t> interface, we can instantiate a deque object with this class. For example, </a:t>
            </a:r>
          </a:p>
          <a:p>
            <a:pPr fontAlgn="base">
              <a:lnSpc>
                <a:spcPct val="107000"/>
              </a:lnSpc>
              <a:spcAft>
                <a:spcPts val="800"/>
              </a:spcAft>
            </a:pPr>
            <a:r>
              <a:rPr lang="en-US" dirty="0">
                <a:solidFill>
                  <a:srgbClr val="FFFF00"/>
                </a:solidFill>
              </a:rPr>
              <a:t>Deque&lt;T&gt; ad = new </a:t>
            </a:r>
            <a:r>
              <a:rPr lang="en-US" dirty="0" err="1">
                <a:solidFill>
                  <a:srgbClr val="FFFF00"/>
                </a:solidFill>
              </a:rPr>
              <a:t>ArrayDeque</a:t>
            </a:r>
            <a:r>
              <a:rPr lang="en-US" dirty="0">
                <a:solidFill>
                  <a:srgbClr val="FFFF00"/>
                </a:solidFill>
              </a:rPr>
              <a:t>&lt;&gt; (); </a:t>
            </a:r>
          </a:p>
          <a:p>
            <a:pPr fontAlgn="base">
              <a:lnSpc>
                <a:spcPct val="107000"/>
              </a:lnSpc>
              <a:spcAft>
                <a:spcPts val="800"/>
              </a:spcAft>
            </a:pPr>
            <a:r>
              <a:rPr lang="en-US" dirty="0"/>
              <a:t>Where T is the type of the object.  </a:t>
            </a:r>
          </a:p>
          <a:p>
            <a:pPr fontAlgn="base">
              <a:lnSpc>
                <a:spcPct val="107000"/>
              </a:lnSpc>
              <a:spcAft>
                <a:spcPts val="800"/>
              </a:spcAft>
            </a:pPr>
            <a:r>
              <a:rPr lang="en-US" dirty="0"/>
              <a:t>The class which implements the deque interface is </a:t>
            </a:r>
            <a:r>
              <a:rPr lang="en-US" dirty="0" err="1">
                <a:solidFill>
                  <a:srgbClr val="FFFF00"/>
                </a:solidFill>
              </a:rPr>
              <a:t>ArrayDeque</a:t>
            </a:r>
            <a:r>
              <a:rPr lang="en-US" dirty="0">
                <a:solidFill>
                  <a:srgbClr val="FFFF00"/>
                </a:solidFill>
              </a:rPr>
              <a:t>. </a:t>
            </a:r>
          </a:p>
          <a:p>
            <a:pPr fontAlgn="base">
              <a:lnSpc>
                <a:spcPct val="107000"/>
              </a:lnSpc>
              <a:spcAft>
                <a:spcPts val="800"/>
              </a:spcAft>
            </a:pPr>
            <a:r>
              <a:rPr lang="en-US" dirty="0" err="1">
                <a:solidFill>
                  <a:srgbClr val="FFFF00"/>
                </a:solidFill>
              </a:rPr>
              <a:t>ArrayDeque</a:t>
            </a:r>
            <a:r>
              <a:rPr lang="en-US" dirty="0">
                <a:solidFill>
                  <a:srgbClr val="FFFF00"/>
                </a:solidFill>
              </a:rPr>
              <a:t>: </a:t>
            </a:r>
            <a:r>
              <a:rPr lang="en-US" dirty="0" err="1"/>
              <a:t>ArrayDeque</a:t>
            </a:r>
            <a:r>
              <a:rPr lang="en-US" dirty="0"/>
              <a:t> class which is implemented in the collection framework provides us with a way to apply resizable-array. This is a special kind of array that grows and allows users to add or remove an element from both sides of the queue. Array deques have no capacity restrictions and they grow as necessary to support usage</a:t>
            </a:r>
          </a:p>
          <a:p>
            <a:pPr fontAlgn="base">
              <a:lnSpc>
                <a:spcPct val="107000"/>
              </a:lnSpc>
              <a:spcAft>
                <a:spcPts val="800"/>
              </a:spcAft>
            </a:pPr>
            <a:endParaRPr lang="en-IN" dirty="0"/>
          </a:p>
        </p:txBody>
      </p:sp>
    </p:spTree>
    <p:extLst>
      <p:ext uri="{BB962C8B-B14F-4D97-AF65-F5344CB8AC3E}">
        <p14:creationId xmlns:p14="http://schemas.microsoft.com/office/powerpoint/2010/main" val="2940809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75FE6A-E847-4226-929E-C8FDA1C10EF0}"/>
              </a:ext>
            </a:extLst>
          </p:cNvPr>
          <p:cNvSpPr txBox="1"/>
          <p:nvPr/>
        </p:nvSpPr>
        <p:spPr>
          <a:xfrm>
            <a:off x="2299855" y="0"/>
            <a:ext cx="6968836" cy="6740307"/>
          </a:xfrm>
          <a:prstGeom prst="rect">
            <a:avLst/>
          </a:prstGeom>
          <a:noFill/>
        </p:spPr>
        <p:txBody>
          <a:bodyPr wrap="square" rtlCol="0">
            <a:spAutoFit/>
          </a:bodyPr>
          <a:lstStyle/>
          <a:p>
            <a:r>
              <a:rPr lang="en-IN" dirty="0"/>
              <a:t>package </a:t>
            </a:r>
            <a:r>
              <a:rPr lang="en-IN" dirty="0" err="1"/>
              <a:t>javaprogram</a:t>
            </a:r>
            <a:r>
              <a:rPr lang="en-IN" dirty="0"/>
              <a:t>;</a:t>
            </a:r>
          </a:p>
          <a:p>
            <a:r>
              <a:rPr lang="en-IN" dirty="0">
                <a:solidFill>
                  <a:srgbClr val="FFFF00"/>
                </a:solidFill>
              </a:rPr>
              <a:t>/* </a:t>
            </a:r>
            <a:r>
              <a:rPr lang="en-IN" dirty="0" err="1">
                <a:solidFill>
                  <a:srgbClr val="FFFF00"/>
                </a:solidFill>
              </a:rPr>
              <a:t>Title:DQueueJava.java</a:t>
            </a:r>
            <a:endParaRPr lang="en-IN" dirty="0">
              <a:solidFill>
                <a:srgbClr val="FFFF00"/>
              </a:solidFill>
            </a:endParaRPr>
          </a:p>
          <a:p>
            <a:r>
              <a:rPr lang="en-IN" dirty="0">
                <a:solidFill>
                  <a:srgbClr val="FFFF00"/>
                </a:solidFill>
              </a:rPr>
              <a:t> * </a:t>
            </a:r>
            <a:r>
              <a:rPr lang="en-IN" dirty="0" err="1">
                <a:solidFill>
                  <a:srgbClr val="FFFF00"/>
                </a:solidFill>
              </a:rPr>
              <a:t>Author:Rajiv</a:t>
            </a:r>
            <a:r>
              <a:rPr lang="en-IN" dirty="0">
                <a:solidFill>
                  <a:srgbClr val="FFFF00"/>
                </a:solidFill>
              </a:rPr>
              <a:t> Ranjan</a:t>
            </a:r>
          </a:p>
          <a:p>
            <a:r>
              <a:rPr lang="en-IN" dirty="0">
                <a:solidFill>
                  <a:srgbClr val="FFFF00"/>
                </a:solidFill>
              </a:rPr>
              <a:t> * </a:t>
            </a:r>
            <a:r>
              <a:rPr lang="en-IN" dirty="0" err="1">
                <a:solidFill>
                  <a:srgbClr val="FFFF00"/>
                </a:solidFill>
              </a:rPr>
              <a:t>Description:Program</a:t>
            </a:r>
            <a:r>
              <a:rPr lang="en-IN" dirty="0">
                <a:solidFill>
                  <a:srgbClr val="FFFF00"/>
                </a:solidFill>
              </a:rPr>
              <a:t> to demonstrate working of Dequeue</a:t>
            </a:r>
          </a:p>
          <a:p>
            <a:r>
              <a:rPr lang="en-IN" dirty="0">
                <a:solidFill>
                  <a:srgbClr val="FFFF00"/>
                </a:solidFill>
              </a:rPr>
              <a:t> * Date:12-1-2022</a:t>
            </a:r>
          </a:p>
          <a:p>
            <a:r>
              <a:rPr lang="en-IN" dirty="0">
                <a:solidFill>
                  <a:srgbClr val="FFFF00"/>
                </a:solidFill>
              </a:rPr>
              <a:t> */</a:t>
            </a:r>
          </a:p>
          <a:p>
            <a:r>
              <a:rPr lang="en-IN" dirty="0"/>
              <a:t>import </a:t>
            </a:r>
            <a:r>
              <a:rPr lang="en-IN" dirty="0" err="1"/>
              <a:t>java.util</a:t>
            </a:r>
            <a:r>
              <a:rPr lang="en-IN" dirty="0"/>
              <a:t>.*;</a:t>
            </a:r>
          </a:p>
          <a:p>
            <a:r>
              <a:rPr lang="en-IN" dirty="0"/>
              <a:t>public class </a:t>
            </a:r>
            <a:r>
              <a:rPr lang="en-IN" dirty="0" err="1"/>
              <a:t>DQueueJava</a:t>
            </a:r>
            <a:r>
              <a:rPr lang="en-IN" dirty="0"/>
              <a:t> {</a:t>
            </a:r>
          </a:p>
          <a:p>
            <a:r>
              <a:rPr lang="en-IN" dirty="0"/>
              <a:t>public static void main(String </a:t>
            </a:r>
            <a:r>
              <a:rPr lang="en-IN" dirty="0" err="1"/>
              <a:t>ar</a:t>
            </a:r>
            <a:r>
              <a:rPr lang="en-IN" dirty="0"/>
              <a:t>[])</a:t>
            </a:r>
          </a:p>
          <a:p>
            <a:r>
              <a:rPr lang="en-IN" dirty="0"/>
              <a:t>{</a:t>
            </a:r>
          </a:p>
          <a:p>
            <a:r>
              <a:rPr lang="en-IN" dirty="0"/>
              <a:t>	</a:t>
            </a:r>
            <a:r>
              <a:rPr lang="en-IN" dirty="0" err="1"/>
              <a:t>ArrayDeque</a:t>
            </a:r>
            <a:r>
              <a:rPr lang="en-IN" dirty="0"/>
              <a:t>&lt;Integer&gt; </a:t>
            </a:r>
            <a:r>
              <a:rPr lang="en-IN" dirty="0" err="1"/>
              <a:t>dequeob</a:t>
            </a:r>
            <a:r>
              <a:rPr lang="en-IN" dirty="0"/>
              <a:t> = new </a:t>
            </a:r>
            <a:r>
              <a:rPr lang="en-IN" dirty="0" err="1"/>
              <a:t>ArrayDeque</a:t>
            </a:r>
            <a:r>
              <a:rPr lang="en-IN" dirty="0"/>
              <a:t>&lt;Integer&gt;(10);</a:t>
            </a:r>
          </a:p>
          <a:p>
            <a:r>
              <a:rPr lang="en-IN" dirty="0"/>
              <a:t>	</a:t>
            </a:r>
            <a:r>
              <a:rPr lang="en-IN" dirty="0" err="1"/>
              <a:t>dequeob.add</a:t>
            </a:r>
            <a:r>
              <a:rPr lang="en-IN" dirty="0"/>
              <a:t>(5);</a:t>
            </a:r>
          </a:p>
          <a:p>
            <a:r>
              <a:rPr lang="en-IN" dirty="0"/>
              <a:t>	</a:t>
            </a:r>
            <a:r>
              <a:rPr lang="en-IN" dirty="0" err="1"/>
              <a:t>dequeob.add</a:t>
            </a:r>
            <a:r>
              <a:rPr lang="en-IN" dirty="0"/>
              <a:t>(6);</a:t>
            </a:r>
          </a:p>
          <a:p>
            <a:r>
              <a:rPr lang="en-IN" dirty="0"/>
              <a:t>	</a:t>
            </a:r>
            <a:r>
              <a:rPr lang="en-IN" dirty="0" err="1"/>
              <a:t>dequeob.add</a:t>
            </a:r>
            <a:r>
              <a:rPr lang="en-IN" dirty="0"/>
              <a:t>(7);</a:t>
            </a:r>
          </a:p>
          <a:p>
            <a:r>
              <a:rPr lang="en-IN" dirty="0"/>
              <a:t>	</a:t>
            </a:r>
            <a:r>
              <a:rPr lang="en-IN" dirty="0" err="1"/>
              <a:t>dequeob.add</a:t>
            </a:r>
            <a:r>
              <a:rPr lang="en-IN" dirty="0"/>
              <a:t>(8);</a:t>
            </a:r>
          </a:p>
          <a:p>
            <a:r>
              <a:rPr lang="en-IN" dirty="0"/>
              <a:t>	</a:t>
            </a:r>
            <a:r>
              <a:rPr lang="en-IN" dirty="0" err="1"/>
              <a:t>dequeob.add</a:t>
            </a:r>
            <a:r>
              <a:rPr lang="en-IN" dirty="0"/>
              <a:t>(9);</a:t>
            </a:r>
          </a:p>
          <a:p>
            <a:r>
              <a:rPr lang="en-IN" dirty="0"/>
              <a:t>	</a:t>
            </a:r>
            <a:r>
              <a:rPr lang="en-IN" dirty="0" err="1"/>
              <a:t>dequeob.add</a:t>
            </a:r>
            <a:r>
              <a:rPr lang="en-IN" dirty="0"/>
              <a:t>(10);</a:t>
            </a:r>
          </a:p>
          <a:p>
            <a:r>
              <a:rPr lang="en-IN" dirty="0"/>
              <a:t>	</a:t>
            </a:r>
            <a:r>
              <a:rPr lang="en-IN" dirty="0" err="1"/>
              <a:t>dequeob.addFirst</a:t>
            </a:r>
            <a:r>
              <a:rPr lang="en-IN" dirty="0"/>
              <a:t>(564);//add in beginning</a:t>
            </a:r>
          </a:p>
          <a:p>
            <a:r>
              <a:rPr lang="en-IN" dirty="0"/>
              <a:t>	</a:t>
            </a:r>
            <a:r>
              <a:rPr lang="en-IN" dirty="0" err="1"/>
              <a:t>dequeob.addLast</a:t>
            </a:r>
            <a:r>
              <a:rPr lang="en-IN" dirty="0"/>
              <a:t>(400);//add in last</a:t>
            </a:r>
          </a:p>
          <a:p>
            <a:r>
              <a:rPr lang="en-IN" dirty="0"/>
              <a:t>	</a:t>
            </a:r>
            <a:r>
              <a:rPr lang="en-IN" dirty="0" err="1"/>
              <a:t>System.out.println</a:t>
            </a:r>
            <a:r>
              <a:rPr lang="en-IN" dirty="0"/>
              <a:t>("</a:t>
            </a:r>
            <a:r>
              <a:rPr lang="en-IN" dirty="0" err="1"/>
              <a:t>Dqueue</a:t>
            </a:r>
            <a:r>
              <a:rPr lang="en-IN" dirty="0"/>
              <a:t> "+</a:t>
            </a:r>
            <a:r>
              <a:rPr lang="en-IN" dirty="0" err="1"/>
              <a:t>dequeob</a:t>
            </a:r>
            <a:r>
              <a:rPr lang="en-IN" dirty="0"/>
              <a:t>);</a:t>
            </a:r>
          </a:p>
          <a:p>
            <a:r>
              <a:rPr lang="en-IN" dirty="0"/>
              <a:t>}</a:t>
            </a:r>
          </a:p>
          <a:p>
            <a:endParaRPr lang="en-IN" dirty="0"/>
          </a:p>
          <a:p>
            <a:r>
              <a:rPr lang="en-IN" dirty="0"/>
              <a:t>}</a:t>
            </a:r>
          </a:p>
        </p:txBody>
      </p:sp>
      <p:sp>
        <p:nvSpPr>
          <p:cNvPr id="5" name="TextBox 4">
            <a:extLst>
              <a:ext uri="{FF2B5EF4-FFF2-40B4-BE49-F238E27FC236}">
                <a16:creationId xmlns:a16="http://schemas.microsoft.com/office/drawing/2014/main" id="{8DA677AD-76A5-41BE-A798-B97F64520E6C}"/>
              </a:ext>
            </a:extLst>
          </p:cNvPr>
          <p:cNvSpPr txBox="1"/>
          <p:nvPr/>
        </p:nvSpPr>
        <p:spPr>
          <a:xfrm>
            <a:off x="9393382" y="4045527"/>
            <a:ext cx="2549236" cy="646331"/>
          </a:xfrm>
          <a:prstGeom prst="rect">
            <a:avLst/>
          </a:prstGeom>
          <a:noFill/>
        </p:spPr>
        <p:txBody>
          <a:bodyPr wrap="square" rtlCol="0">
            <a:spAutoFit/>
          </a:bodyPr>
          <a:lstStyle/>
          <a:p>
            <a:r>
              <a:rPr lang="de-DE" sz="1800" dirty="0">
                <a:solidFill>
                  <a:srgbClr val="FFFF00"/>
                </a:solidFill>
                <a:latin typeface="Consolas" panose="020B0609020204030204" pitchFamily="49" charset="0"/>
              </a:rPr>
              <a:t>Dqueue [564, 5, 6, 7, 8, 9, 10, 400]</a:t>
            </a:r>
            <a:endParaRPr lang="en-IN" dirty="0">
              <a:solidFill>
                <a:srgbClr val="FFFF00"/>
              </a:solidFill>
            </a:endParaRPr>
          </a:p>
        </p:txBody>
      </p:sp>
    </p:spTree>
    <p:extLst>
      <p:ext uri="{BB962C8B-B14F-4D97-AF65-F5344CB8AC3E}">
        <p14:creationId xmlns:p14="http://schemas.microsoft.com/office/powerpoint/2010/main" val="309371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7D15B0-E778-44AC-8B19-D2B3EB4BAEBB}"/>
              </a:ext>
            </a:extLst>
          </p:cNvPr>
          <p:cNvSpPr txBox="1"/>
          <p:nvPr/>
        </p:nvSpPr>
        <p:spPr>
          <a:xfrm>
            <a:off x="2092035" y="817418"/>
            <a:ext cx="6761019" cy="1754326"/>
          </a:xfrm>
          <a:prstGeom prst="rect">
            <a:avLst/>
          </a:prstGeom>
          <a:noFill/>
        </p:spPr>
        <p:txBody>
          <a:bodyPr wrap="square" rtlCol="0">
            <a:spAutoFit/>
          </a:bodyPr>
          <a:lstStyle/>
          <a:p>
            <a:r>
              <a:rPr lang="en-US" dirty="0">
                <a:solidFill>
                  <a:srgbClr val="FFFF00"/>
                </a:solidFill>
              </a:rPr>
              <a:t>HashSet</a:t>
            </a:r>
          </a:p>
          <a:p>
            <a:r>
              <a:rPr lang="en-US" dirty="0"/>
              <a:t>HashSet class implements Set Interface. It represents the collection that uses a hash table for storage. Hashing is used to store the elements in the HashSet. It contains unique items.</a:t>
            </a:r>
          </a:p>
          <a:p>
            <a:endParaRPr lang="en-IN" dirty="0"/>
          </a:p>
        </p:txBody>
      </p:sp>
    </p:spTree>
    <p:extLst>
      <p:ext uri="{BB962C8B-B14F-4D97-AF65-F5344CB8AC3E}">
        <p14:creationId xmlns:p14="http://schemas.microsoft.com/office/powerpoint/2010/main" val="3557322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D48447F-2424-4966-BE19-2E3877E24E79}"/>
              </a:ext>
            </a:extLst>
          </p:cNvPr>
          <p:cNvSpPr txBox="1"/>
          <p:nvPr/>
        </p:nvSpPr>
        <p:spPr>
          <a:xfrm>
            <a:off x="1828800" y="207818"/>
            <a:ext cx="7370618" cy="7294305"/>
          </a:xfrm>
          <a:prstGeom prst="rect">
            <a:avLst/>
          </a:prstGeom>
          <a:noFill/>
        </p:spPr>
        <p:txBody>
          <a:bodyPr wrap="square" rtlCol="0">
            <a:spAutoFit/>
          </a:bodyPr>
          <a:lstStyle/>
          <a:p>
            <a:r>
              <a:rPr lang="en-IN" dirty="0"/>
              <a:t>package </a:t>
            </a:r>
            <a:r>
              <a:rPr lang="en-IN" dirty="0" err="1"/>
              <a:t>javaprogram</a:t>
            </a:r>
            <a:r>
              <a:rPr lang="en-IN" dirty="0"/>
              <a:t>;</a:t>
            </a:r>
          </a:p>
          <a:p>
            <a:r>
              <a:rPr lang="en-IN" dirty="0">
                <a:solidFill>
                  <a:srgbClr val="FFFF00"/>
                </a:solidFill>
              </a:rPr>
              <a:t>/* </a:t>
            </a:r>
            <a:r>
              <a:rPr lang="en-IN" dirty="0" err="1">
                <a:solidFill>
                  <a:srgbClr val="FFFF00"/>
                </a:solidFill>
              </a:rPr>
              <a:t>Title:JavaHashSet.java</a:t>
            </a:r>
            <a:endParaRPr lang="en-IN" dirty="0">
              <a:solidFill>
                <a:srgbClr val="FFFF00"/>
              </a:solidFill>
            </a:endParaRPr>
          </a:p>
          <a:p>
            <a:r>
              <a:rPr lang="en-IN" dirty="0">
                <a:solidFill>
                  <a:srgbClr val="FFFF00"/>
                </a:solidFill>
              </a:rPr>
              <a:t> * </a:t>
            </a:r>
            <a:r>
              <a:rPr lang="en-IN" dirty="0" err="1">
                <a:solidFill>
                  <a:srgbClr val="FFFF00"/>
                </a:solidFill>
              </a:rPr>
              <a:t>Author:Rajiv</a:t>
            </a:r>
            <a:r>
              <a:rPr lang="en-IN" dirty="0">
                <a:solidFill>
                  <a:srgbClr val="FFFF00"/>
                </a:solidFill>
              </a:rPr>
              <a:t> Ranjan</a:t>
            </a:r>
          </a:p>
          <a:p>
            <a:r>
              <a:rPr lang="en-IN" dirty="0">
                <a:solidFill>
                  <a:srgbClr val="FFFF00"/>
                </a:solidFill>
              </a:rPr>
              <a:t> * </a:t>
            </a:r>
            <a:r>
              <a:rPr lang="en-IN" dirty="0" err="1">
                <a:solidFill>
                  <a:srgbClr val="FFFF00"/>
                </a:solidFill>
              </a:rPr>
              <a:t>Description:Program</a:t>
            </a:r>
            <a:r>
              <a:rPr lang="en-IN" dirty="0">
                <a:solidFill>
                  <a:srgbClr val="FFFF00"/>
                </a:solidFill>
              </a:rPr>
              <a:t> to demonstrate working of HashSet</a:t>
            </a:r>
          </a:p>
          <a:p>
            <a:r>
              <a:rPr lang="en-IN" dirty="0">
                <a:solidFill>
                  <a:srgbClr val="FFFF00"/>
                </a:solidFill>
              </a:rPr>
              <a:t> * Date:12-1-2022</a:t>
            </a:r>
          </a:p>
          <a:p>
            <a:r>
              <a:rPr lang="en-IN" dirty="0">
                <a:solidFill>
                  <a:srgbClr val="FFFF00"/>
                </a:solidFill>
              </a:rPr>
              <a:t> */</a:t>
            </a:r>
          </a:p>
          <a:p>
            <a:r>
              <a:rPr lang="en-IN" dirty="0"/>
              <a:t>import </a:t>
            </a:r>
            <a:r>
              <a:rPr lang="en-IN" dirty="0" err="1"/>
              <a:t>java.util</a:t>
            </a:r>
            <a:r>
              <a:rPr lang="en-IN" dirty="0"/>
              <a:t>.*;</a:t>
            </a:r>
          </a:p>
          <a:p>
            <a:r>
              <a:rPr lang="en-IN" dirty="0"/>
              <a:t>public class </a:t>
            </a:r>
            <a:r>
              <a:rPr lang="en-IN" dirty="0" err="1"/>
              <a:t>JavaHashSet</a:t>
            </a:r>
            <a:r>
              <a:rPr lang="en-IN" dirty="0"/>
              <a:t> {</a:t>
            </a:r>
          </a:p>
          <a:p>
            <a:r>
              <a:rPr lang="en-IN" dirty="0"/>
              <a:t>	public static void main(String </a:t>
            </a:r>
            <a:r>
              <a:rPr lang="en-IN" dirty="0" err="1"/>
              <a:t>ar</a:t>
            </a:r>
            <a:r>
              <a:rPr lang="en-IN" dirty="0"/>
              <a:t>[])</a:t>
            </a:r>
          </a:p>
          <a:p>
            <a:r>
              <a:rPr lang="en-IN" dirty="0"/>
              <a:t>	{</a:t>
            </a:r>
          </a:p>
          <a:p>
            <a:r>
              <a:rPr lang="en-IN" dirty="0"/>
              <a:t>	HashSet </a:t>
            </a:r>
            <a:r>
              <a:rPr lang="en-IN" dirty="0" err="1"/>
              <a:t>hset</a:t>
            </a:r>
            <a:r>
              <a:rPr lang="en-IN" dirty="0"/>
              <a:t>= new HashSet();</a:t>
            </a:r>
          </a:p>
          <a:p>
            <a:r>
              <a:rPr lang="en-IN" dirty="0"/>
              <a:t>	</a:t>
            </a:r>
            <a:r>
              <a:rPr lang="en-IN" dirty="0" err="1"/>
              <a:t>hset.add</a:t>
            </a:r>
            <a:r>
              <a:rPr lang="en-IN" dirty="0"/>
              <a:t>("</a:t>
            </a:r>
            <a:r>
              <a:rPr lang="en-IN" dirty="0" err="1"/>
              <a:t>amit</a:t>
            </a:r>
            <a:r>
              <a:rPr lang="en-IN" dirty="0"/>
              <a:t>");</a:t>
            </a:r>
          </a:p>
          <a:p>
            <a:r>
              <a:rPr lang="en-IN" dirty="0"/>
              <a:t>	</a:t>
            </a:r>
            <a:r>
              <a:rPr lang="en-IN" dirty="0" err="1"/>
              <a:t>hset.add</a:t>
            </a:r>
            <a:r>
              <a:rPr lang="en-IN" dirty="0"/>
              <a:t>("</a:t>
            </a:r>
            <a:r>
              <a:rPr lang="en-IN" dirty="0" err="1"/>
              <a:t>mohit</a:t>
            </a:r>
            <a:r>
              <a:rPr lang="en-IN" dirty="0"/>
              <a:t>");</a:t>
            </a:r>
          </a:p>
          <a:p>
            <a:r>
              <a:rPr lang="en-IN" dirty="0"/>
              <a:t>	</a:t>
            </a:r>
            <a:r>
              <a:rPr lang="en-IN" dirty="0" err="1"/>
              <a:t>hset.add</a:t>
            </a:r>
            <a:r>
              <a:rPr lang="en-IN" dirty="0"/>
              <a:t>("</a:t>
            </a:r>
            <a:r>
              <a:rPr lang="en-IN" dirty="0" err="1"/>
              <a:t>vijay</a:t>
            </a:r>
            <a:r>
              <a:rPr lang="en-IN" dirty="0"/>
              <a:t>");</a:t>
            </a:r>
          </a:p>
          <a:p>
            <a:r>
              <a:rPr lang="en-IN" dirty="0"/>
              <a:t>	</a:t>
            </a:r>
            <a:r>
              <a:rPr lang="en-IN" dirty="0" err="1"/>
              <a:t>hset.add</a:t>
            </a:r>
            <a:r>
              <a:rPr lang="en-IN" dirty="0"/>
              <a:t>("</a:t>
            </a:r>
            <a:r>
              <a:rPr lang="en-IN" dirty="0" err="1"/>
              <a:t>sanjay</a:t>
            </a:r>
            <a:r>
              <a:rPr lang="en-IN" dirty="0"/>
              <a:t>");</a:t>
            </a:r>
          </a:p>
          <a:p>
            <a:endParaRPr lang="en-IN" dirty="0"/>
          </a:p>
          <a:p>
            <a:r>
              <a:rPr lang="en-IN" dirty="0"/>
              <a:t>	Iterator it = </a:t>
            </a:r>
            <a:r>
              <a:rPr lang="en-IN" dirty="0" err="1"/>
              <a:t>hset.iterator</a:t>
            </a:r>
            <a:r>
              <a:rPr lang="en-IN" dirty="0"/>
              <a:t>();</a:t>
            </a:r>
          </a:p>
          <a:p>
            <a:r>
              <a:rPr lang="en-IN" dirty="0"/>
              <a:t>	while(</a:t>
            </a:r>
            <a:r>
              <a:rPr lang="en-IN" dirty="0" err="1"/>
              <a:t>it.hasNext</a:t>
            </a:r>
            <a:r>
              <a:rPr lang="en-IN" dirty="0"/>
              <a:t>())</a:t>
            </a:r>
          </a:p>
          <a:p>
            <a:r>
              <a:rPr lang="en-IN" dirty="0"/>
              <a:t>	{</a:t>
            </a:r>
          </a:p>
          <a:p>
            <a:r>
              <a:rPr lang="en-IN" dirty="0"/>
              <a:t>	</a:t>
            </a:r>
            <a:r>
              <a:rPr lang="en-IN" dirty="0" err="1"/>
              <a:t>System.out.println</a:t>
            </a:r>
            <a:r>
              <a:rPr lang="en-IN" dirty="0"/>
              <a:t>("elements are..."+</a:t>
            </a:r>
            <a:r>
              <a:rPr lang="en-IN" dirty="0" err="1"/>
              <a:t>it.next</a:t>
            </a:r>
            <a:r>
              <a:rPr lang="en-IN" dirty="0"/>
              <a:t>());</a:t>
            </a:r>
          </a:p>
          <a:p>
            <a:r>
              <a:rPr lang="en-IN" dirty="0"/>
              <a:t>	}</a:t>
            </a:r>
          </a:p>
          <a:p>
            <a:endParaRPr lang="en-IN" dirty="0"/>
          </a:p>
          <a:p>
            <a:r>
              <a:rPr lang="en-IN" dirty="0"/>
              <a:t>}</a:t>
            </a:r>
          </a:p>
          <a:p>
            <a:r>
              <a:rPr lang="en-IN" dirty="0"/>
              <a:t>}</a:t>
            </a:r>
          </a:p>
          <a:p>
            <a:endParaRPr lang="en-IN" dirty="0"/>
          </a:p>
        </p:txBody>
      </p:sp>
      <p:sp>
        <p:nvSpPr>
          <p:cNvPr id="5" name="TextBox 4">
            <a:extLst>
              <a:ext uri="{FF2B5EF4-FFF2-40B4-BE49-F238E27FC236}">
                <a16:creationId xmlns:a16="http://schemas.microsoft.com/office/drawing/2014/main" id="{73BB5BF6-C338-4497-9FD2-654895B3A208}"/>
              </a:ext>
            </a:extLst>
          </p:cNvPr>
          <p:cNvSpPr txBox="1"/>
          <p:nvPr/>
        </p:nvSpPr>
        <p:spPr>
          <a:xfrm>
            <a:off x="9074726" y="3990109"/>
            <a:ext cx="3006437" cy="1200329"/>
          </a:xfrm>
          <a:prstGeom prst="rect">
            <a:avLst/>
          </a:prstGeom>
          <a:noFill/>
        </p:spPr>
        <p:txBody>
          <a:bodyPr wrap="square" rtlCol="0">
            <a:spAutoFit/>
          </a:bodyPr>
          <a:lstStyle/>
          <a:p>
            <a:pPr algn="l"/>
            <a:r>
              <a:rPr lang="en-IN" sz="1800" dirty="0">
                <a:solidFill>
                  <a:srgbClr val="FFFF00"/>
                </a:solidFill>
                <a:latin typeface="Consolas" panose="020B0609020204030204" pitchFamily="49" charset="0"/>
              </a:rPr>
              <a:t>elements are...</a:t>
            </a:r>
            <a:r>
              <a:rPr lang="en-IN" sz="1800" dirty="0" err="1">
                <a:solidFill>
                  <a:srgbClr val="FFFF00"/>
                </a:solidFill>
                <a:latin typeface="Consolas" panose="020B0609020204030204" pitchFamily="49" charset="0"/>
              </a:rPr>
              <a:t>mohit</a:t>
            </a:r>
            <a:endParaRPr lang="en-IN" sz="1800" dirty="0">
              <a:solidFill>
                <a:srgbClr val="FFFF00"/>
              </a:solidFill>
              <a:latin typeface="Consolas" panose="020B0609020204030204" pitchFamily="49" charset="0"/>
            </a:endParaRPr>
          </a:p>
          <a:p>
            <a:pPr algn="l"/>
            <a:r>
              <a:rPr lang="en-IN" sz="1800" dirty="0">
                <a:solidFill>
                  <a:srgbClr val="FFFF00"/>
                </a:solidFill>
                <a:latin typeface="Consolas" panose="020B0609020204030204" pitchFamily="49" charset="0"/>
              </a:rPr>
              <a:t>elements are...</a:t>
            </a:r>
            <a:r>
              <a:rPr lang="en-IN" sz="1800" dirty="0" err="1">
                <a:solidFill>
                  <a:srgbClr val="FFFF00"/>
                </a:solidFill>
                <a:latin typeface="Consolas" panose="020B0609020204030204" pitchFamily="49" charset="0"/>
              </a:rPr>
              <a:t>sanjay</a:t>
            </a:r>
            <a:endParaRPr lang="en-IN" sz="1800" dirty="0">
              <a:solidFill>
                <a:srgbClr val="FFFF00"/>
              </a:solidFill>
              <a:latin typeface="Consolas" panose="020B0609020204030204" pitchFamily="49" charset="0"/>
            </a:endParaRPr>
          </a:p>
          <a:p>
            <a:pPr algn="l"/>
            <a:r>
              <a:rPr lang="en-IN" sz="1800" dirty="0">
                <a:solidFill>
                  <a:srgbClr val="FFFF00"/>
                </a:solidFill>
                <a:latin typeface="Consolas" panose="020B0609020204030204" pitchFamily="49" charset="0"/>
              </a:rPr>
              <a:t>elements are...</a:t>
            </a:r>
            <a:r>
              <a:rPr lang="en-IN" sz="1800" dirty="0" err="1">
                <a:solidFill>
                  <a:srgbClr val="FFFF00"/>
                </a:solidFill>
                <a:latin typeface="Consolas" panose="020B0609020204030204" pitchFamily="49" charset="0"/>
              </a:rPr>
              <a:t>amit</a:t>
            </a:r>
            <a:endParaRPr lang="en-IN" sz="1800" dirty="0">
              <a:solidFill>
                <a:srgbClr val="FFFF00"/>
              </a:solidFill>
              <a:latin typeface="Consolas" panose="020B0609020204030204" pitchFamily="49" charset="0"/>
            </a:endParaRPr>
          </a:p>
          <a:p>
            <a:pPr algn="l"/>
            <a:r>
              <a:rPr lang="en-IN" sz="1800" dirty="0">
                <a:solidFill>
                  <a:srgbClr val="FFFF00"/>
                </a:solidFill>
                <a:latin typeface="Consolas" panose="020B0609020204030204" pitchFamily="49" charset="0"/>
              </a:rPr>
              <a:t>elements are...</a:t>
            </a:r>
            <a:r>
              <a:rPr lang="en-IN" sz="1800" dirty="0" err="1">
                <a:solidFill>
                  <a:srgbClr val="FFFF00"/>
                </a:solidFill>
                <a:latin typeface="Consolas" panose="020B0609020204030204" pitchFamily="49" charset="0"/>
              </a:rPr>
              <a:t>vijay</a:t>
            </a:r>
            <a:endParaRPr lang="en-IN" dirty="0">
              <a:solidFill>
                <a:srgbClr val="FFFF00"/>
              </a:solidFill>
            </a:endParaRPr>
          </a:p>
        </p:txBody>
      </p:sp>
    </p:spTree>
    <p:extLst>
      <p:ext uri="{BB962C8B-B14F-4D97-AF65-F5344CB8AC3E}">
        <p14:creationId xmlns:p14="http://schemas.microsoft.com/office/powerpoint/2010/main" val="1070390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C1A645-67E8-438A-8168-412DFA6F4BA4}"/>
              </a:ext>
            </a:extLst>
          </p:cNvPr>
          <p:cNvSpPr txBox="1"/>
          <p:nvPr/>
        </p:nvSpPr>
        <p:spPr>
          <a:xfrm>
            <a:off x="1122218" y="471055"/>
            <a:ext cx="1995054" cy="646331"/>
          </a:xfrm>
          <a:prstGeom prst="rect">
            <a:avLst/>
          </a:prstGeom>
          <a:noFill/>
        </p:spPr>
        <p:txBody>
          <a:bodyPr wrap="square" rtlCol="0">
            <a:spAutoFit/>
          </a:bodyPr>
          <a:lstStyle/>
          <a:p>
            <a:r>
              <a:rPr lang="en-US" dirty="0" err="1"/>
              <a:t>LinkedHashSet</a:t>
            </a:r>
            <a:endParaRPr lang="en-US" dirty="0"/>
          </a:p>
          <a:p>
            <a:endParaRPr lang="en-IN" dirty="0"/>
          </a:p>
        </p:txBody>
      </p:sp>
      <p:sp>
        <p:nvSpPr>
          <p:cNvPr id="5" name="TextBox 4">
            <a:extLst>
              <a:ext uri="{FF2B5EF4-FFF2-40B4-BE49-F238E27FC236}">
                <a16:creationId xmlns:a16="http://schemas.microsoft.com/office/drawing/2014/main" id="{DD8CC1A8-0FBB-4075-8BC4-3C7184173A9E}"/>
              </a:ext>
            </a:extLst>
          </p:cNvPr>
          <p:cNvSpPr txBox="1"/>
          <p:nvPr/>
        </p:nvSpPr>
        <p:spPr>
          <a:xfrm>
            <a:off x="1995054" y="1219200"/>
            <a:ext cx="6331527" cy="1754326"/>
          </a:xfrm>
          <a:prstGeom prst="rect">
            <a:avLst/>
          </a:prstGeom>
          <a:noFill/>
        </p:spPr>
        <p:txBody>
          <a:bodyPr wrap="square" rtlCol="0">
            <a:spAutoFit/>
          </a:bodyPr>
          <a:lstStyle/>
          <a:p>
            <a:r>
              <a:rPr lang="en-US" dirty="0" err="1"/>
              <a:t>LinkedHashSet</a:t>
            </a:r>
            <a:r>
              <a:rPr lang="en-US" dirty="0"/>
              <a:t> class represents the LinkedList implementation of Set Interface. It extends the HashSet class and implements Set interface. Like HashSet, It also contains unique elements. It maintains the insertion order and permits null elements.</a:t>
            </a:r>
          </a:p>
          <a:p>
            <a:endParaRPr lang="en-IN" dirty="0"/>
          </a:p>
        </p:txBody>
      </p:sp>
    </p:spTree>
    <p:extLst>
      <p:ext uri="{BB962C8B-B14F-4D97-AF65-F5344CB8AC3E}">
        <p14:creationId xmlns:p14="http://schemas.microsoft.com/office/powerpoint/2010/main" val="3313742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18DD37-6783-46B9-8501-33CD680738ED}"/>
              </a:ext>
            </a:extLst>
          </p:cNvPr>
          <p:cNvSpPr txBox="1"/>
          <p:nvPr/>
        </p:nvSpPr>
        <p:spPr>
          <a:xfrm>
            <a:off x="2029690" y="197346"/>
            <a:ext cx="6885709" cy="6463308"/>
          </a:xfrm>
          <a:prstGeom prst="rect">
            <a:avLst/>
          </a:prstGeom>
          <a:noFill/>
        </p:spPr>
        <p:txBody>
          <a:bodyPr wrap="square" rtlCol="0">
            <a:spAutoFit/>
          </a:bodyPr>
          <a:lstStyle/>
          <a:p>
            <a:r>
              <a:rPr lang="en-IN" dirty="0"/>
              <a:t>package </a:t>
            </a:r>
            <a:r>
              <a:rPr lang="en-IN" dirty="0" err="1"/>
              <a:t>javaprogram</a:t>
            </a:r>
            <a:r>
              <a:rPr lang="en-IN" dirty="0"/>
              <a:t>;</a:t>
            </a:r>
          </a:p>
          <a:p>
            <a:r>
              <a:rPr lang="en-IN" dirty="0">
                <a:solidFill>
                  <a:srgbClr val="FFFF00"/>
                </a:solidFill>
              </a:rPr>
              <a:t>/* </a:t>
            </a:r>
            <a:r>
              <a:rPr lang="en-IN" dirty="0" err="1">
                <a:solidFill>
                  <a:srgbClr val="FFFF00"/>
                </a:solidFill>
              </a:rPr>
              <a:t>Title:TestLinkedHashSet.java</a:t>
            </a:r>
            <a:endParaRPr lang="en-IN" dirty="0">
              <a:solidFill>
                <a:srgbClr val="FFFF00"/>
              </a:solidFill>
            </a:endParaRPr>
          </a:p>
          <a:p>
            <a:r>
              <a:rPr lang="en-IN" dirty="0">
                <a:solidFill>
                  <a:srgbClr val="FFFF00"/>
                </a:solidFill>
              </a:rPr>
              <a:t> * </a:t>
            </a:r>
            <a:r>
              <a:rPr lang="en-IN" dirty="0" err="1">
                <a:solidFill>
                  <a:srgbClr val="FFFF00"/>
                </a:solidFill>
              </a:rPr>
              <a:t>Author:Rajiv</a:t>
            </a:r>
            <a:r>
              <a:rPr lang="en-IN" dirty="0">
                <a:solidFill>
                  <a:srgbClr val="FFFF00"/>
                </a:solidFill>
              </a:rPr>
              <a:t> Ranjan</a:t>
            </a:r>
          </a:p>
          <a:p>
            <a:r>
              <a:rPr lang="en-IN" dirty="0">
                <a:solidFill>
                  <a:srgbClr val="FFFF00"/>
                </a:solidFill>
              </a:rPr>
              <a:t> * </a:t>
            </a:r>
            <a:r>
              <a:rPr lang="en-IN" dirty="0" err="1">
                <a:solidFill>
                  <a:srgbClr val="FFFF00"/>
                </a:solidFill>
              </a:rPr>
              <a:t>Description:Program</a:t>
            </a:r>
            <a:r>
              <a:rPr lang="en-IN" dirty="0">
                <a:solidFill>
                  <a:srgbClr val="FFFF00"/>
                </a:solidFill>
              </a:rPr>
              <a:t> to demonstrate working of HashSet</a:t>
            </a:r>
          </a:p>
          <a:p>
            <a:r>
              <a:rPr lang="en-IN" dirty="0">
                <a:solidFill>
                  <a:srgbClr val="FFFF00"/>
                </a:solidFill>
              </a:rPr>
              <a:t> * Date:12-1-2022</a:t>
            </a:r>
          </a:p>
          <a:p>
            <a:r>
              <a:rPr lang="en-IN" dirty="0">
                <a:solidFill>
                  <a:srgbClr val="FFFF00"/>
                </a:solidFill>
              </a:rPr>
              <a:t> */</a:t>
            </a:r>
          </a:p>
          <a:p>
            <a:r>
              <a:rPr lang="en-IN" dirty="0"/>
              <a:t>import </a:t>
            </a:r>
            <a:r>
              <a:rPr lang="en-IN" dirty="0" err="1"/>
              <a:t>java.util</a:t>
            </a:r>
            <a:r>
              <a:rPr lang="en-IN" dirty="0"/>
              <a:t>.*;</a:t>
            </a:r>
          </a:p>
          <a:p>
            <a:r>
              <a:rPr lang="en-IN" dirty="0"/>
              <a:t>public class </a:t>
            </a:r>
            <a:r>
              <a:rPr lang="en-IN" dirty="0" err="1"/>
              <a:t>TestLinkedHashSet</a:t>
            </a:r>
            <a:r>
              <a:rPr lang="en-IN" dirty="0"/>
              <a:t> {</a:t>
            </a:r>
          </a:p>
          <a:p>
            <a:r>
              <a:rPr lang="en-IN" dirty="0"/>
              <a:t>public static void main(String </a:t>
            </a:r>
            <a:r>
              <a:rPr lang="en-IN" dirty="0" err="1"/>
              <a:t>ar</a:t>
            </a:r>
            <a:r>
              <a:rPr lang="en-IN" dirty="0"/>
              <a:t>[])</a:t>
            </a:r>
          </a:p>
          <a:p>
            <a:r>
              <a:rPr lang="en-IN" dirty="0"/>
              <a:t>{</a:t>
            </a:r>
          </a:p>
          <a:p>
            <a:r>
              <a:rPr lang="en-IN" dirty="0"/>
              <a:t>	</a:t>
            </a:r>
            <a:r>
              <a:rPr lang="en-IN" dirty="0" err="1"/>
              <a:t>LinkedHashSet</a:t>
            </a:r>
            <a:r>
              <a:rPr lang="en-IN" dirty="0"/>
              <a:t>&lt;String&gt; set=new </a:t>
            </a:r>
            <a:r>
              <a:rPr lang="en-IN" dirty="0" err="1"/>
              <a:t>LinkedHashSet</a:t>
            </a:r>
            <a:r>
              <a:rPr lang="en-IN" dirty="0"/>
              <a:t>&lt;String&gt;();  </a:t>
            </a:r>
          </a:p>
          <a:p>
            <a:r>
              <a:rPr lang="en-IN" dirty="0"/>
              <a:t>	</a:t>
            </a:r>
            <a:r>
              <a:rPr lang="en-IN" dirty="0" err="1"/>
              <a:t>set.add</a:t>
            </a:r>
            <a:r>
              <a:rPr lang="en-IN" dirty="0"/>
              <a:t>("Rajesh");  </a:t>
            </a:r>
          </a:p>
          <a:p>
            <a:r>
              <a:rPr lang="en-IN" dirty="0"/>
              <a:t>	</a:t>
            </a:r>
            <a:r>
              <a:rPr lang="en-IN" dirty="0" err="1"/>
              <a:t>set.add</a:t>
            </a:r>
            <a:r>
              <a:rPr lang="en-IN" dirty="0"/>
              <a:t>("Vijay");  </a:t>
            </a:r>
          </a:p>
          <a:p>
            <a:r>
              <a:rPr lang="en-IN" dirty="0"/>
              <a:t>	</a:t>
            </a:r>
            <a:r>
              <a:rPr lang="en-IN" dirty="0" err="1"/>
              <a:t>set.add</a:t>
            </a:r>
            <a:r>
              <a:rPr lang="en-IN" dirty="0"/>
              <a:t>("Rajesh");  </a:t>
            </a:r>
          </a:p>
          <a:p>
            <a:r>
              <a:rPr lang="en-IN" dirty="0"/>
              <a:t>	</a:t>
            </a:r>
            <a:r>
              <a:rPr lang="en-IN" dirty="0" err="1"/>
              <a:t>set.add</a:t>
            </a:r>
            <a:r>
              <a:rPr lang="en-IN" dirty="0"/>
              <a:t>("Ajay");  </a:t>
            </a:r>
          </a:p>
          <a:p>
            <a:r>
              <a:rPr lang="en-IN" dirty="0"/>
              <a:t>	Iterator&lt;String&gt; </a:t>
            </a:r>
            <a:r>
              <a:rPr lang="en-IN" dirty="0" err="1"/>
              <a:t>itr</a:t>
            </a:r>
            <a:r>
              <a:rPr lang="en-IN" dirty="0"/>
              <a:t>=</a:t>
            </a:r>
            <a:r>
              <a:rPr lang="en-IN" dirty="0" err="1"/>
              <a:t>set.iterator</a:t>
            </a:r>
            <a:r>
              <a:rPr lang="en-IN" dirty="0"/>
              <a:t>();  </a:t>
            </a:r>
          </a:p>
          <a:p>
            <a:r>
              <a:rPr lang="en-IN" dirty="0"/>
              <a:t>	while(</a:t>
            </a:r>
            <a:r>
              <a:rPr lang="en-IN" dirty="0" err="1"/>
              <a:t>itr.hasNext</a:t>
            </a:r>
            <a:r>
              <a:rPr lang="en-IN" dirty="0"/>
              <a:t>()){  </a:t>
            </a:r>
          </a:p>
          <a:p>
            <a:r>
              <a:rPr lang="en-IN" dirty="0"/>
              <a:t>	</a:t>
            </a:r>
            <a:r>
              <a:rPr lang="en-IN" dirty="0" err="1"/>
              <a:t>System.out.println</a:t>
            </a:r>
            <a:r>
              <a:rPr lang="en-IN" dirty="0"/>
              <a:t>(</a:t>
            </a:r>
            <a:r>
              <a:rPr lang="en-IN" dirty="0" err="1"/>
              <a:t>itr.next</a:t>
            </a:r>
            <a:r>
              <a:rPr lang="en-IN" dirty="0"/>
              <a:t>());  </a:t>
            </a:r>
          </a:p>
          <a:p>
            <a:r>
              <a:rPr lang="en-IN" dirty="0"/>
              <a:t>	}  </a:t>
            </a:r>
          </a:p>
          <a:p>
            <a:endParaRPr lang="en-IN" dirty="0"/>
          </a:p>
          <a:p>
            <a:r>
              <a:rPr lang="en-IN" dirty="0"/>
              <a:t>}</a:t>
            </a:r>
          </a:p>
          <a:p>
            <a:r>
              <a:rPr lang="en-IN" dirty="0"/>
              <a:t>}</a:t>
            </a:r>
          </a:p>
          <a:p>
            <a:endParaRPr lang="en-IN" dirty="0"/>
          </a:p>
        </p:txBody>
      </p:sp>
      <p:sp>
        <p:nvSpPr>
          <p:cNvPr id="5" name="TextBox 4">
            <a:extLst>
              <a:ext uri="{FF2B5EF4-FFF2-40B4-BE49-F238E27FC236}">
                <a16:creationId xmlns:a16="http://schemas.microsoft.com/office/drawing/2014/main" id="{F569DCCA-63BE-4730-B784-AF30F33EADE9}"/>
              </a:ext>
            </a:extLst>
          </p:cNvPr>
          <p:cNvSpPr txBox="1"/>
          <p:nvPr/>
        </p:nvSpPr>
        <p:spPr>
          <a:xfrm>
            <a:off x="9989126" y="3117273"/>
            <a:ext cx="1288473" cy="1200329"/>
          </a:xfrm>
          <a:prstGeom prst="rect">
            <a:avLst/>
          </a:prstGeom>
          <a:noFill/>
        </p:spPr>
        <p:txBody>
          <a:bodyPr wrap="square" rtlCol="0">
            <a:spAutoFit/>
          </a:bodyPr>
          <a:lstStyle/>
          <a:p>
            <a:pPr algn="l"/>
            <a:r>
              <a:rPr lang="en-IN" sz="1800" dirty="0">
                <a:solidFill>
                  <a:srgbClr val="FFFF00"/>
                </a:solidFill>
                <a:latin typeface="Consolas" panose="020B0609020204030204" pitchFamily="49" charset="0"/>
              </a:rPr>
              <a:t>Rajesh</a:t>
            </a:r>
          </a:p>
          <a:p>
            <a:pPr algn="l"/>
            <a:r>
              <a:rPr lang="en-IN" sz="1800" dirty="0">
                <a:solidFill>
                  <a:srgbClr val="FFFF00"/>
                </a:solidFill>
                <a:latin typeface="Consolas" panose="020B0609020204030204" pitchFamily="49" charset="0"/>
              </a:rPr>
              <a:t>Vijay</a:t>
            </a:r>
          </a:p>
          <a:p>
            <a:pPr algn="l"/>
            <a:r>
              <a:rPr lang="en-IN" sz="1800" dirty="0">
                <a:solidFill>
                  <a:srgbClr val="FFFF00"/>
                </a:solidFill>
                <a:latin typeface="Consolas" panose="020B0609020204030204" pitchFamily="49" charset="0"/>
              </a:rPr>
              <a:t>Ajay</a:t>
            </a:r>
          </a:p>
          <a:p>
            <a:endParaRPr lang="en-IN" dirty="0">
              <a:solidFill>
                <a:srgbClr val="FFFF00"/>
              </a:solidFill>
            </a:endParaRPr>
          </a:p>
        </p:txBody>
      </p:sp>
    </p:spTree>
    <p:extLst>
      <p:ext uri="{BB962C8B-B14F-4D97-AF65-F5344CB8AC3E}">
        <p14:creationId xmlns:p14="http://schemas.microsoft.com/office/powerpoint/2010/main" val="983143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1107E2-3F62-4955-943E-E747F76DF0E9}"/>
              </a:ext>
            </a:extLst>
          </p:cNvPr>
          <p:cNvSpPr txBox="1"/>
          <p:nvPr/>
        </p:nvSpPr>
        <p:spPr>
          <a:xfrm>
            <a:off x="2881744" y="886691"/>
            <a:ext cx="6622473" cy="2031325"/>
          </a:xfrm>
          <a:prstGeom prst="rect">
            <a:avLst/>
          </a:prstGeom>
          <a:noFill/>
        </p:spPr>
        <p:txBody>
          <a:bodyPr wrap="square" rtlCol="0">
            <a:spAutoFit/>
          </a:bodyPr>
          <a:lstStyle/>
          <a:p>
            <a:r>
              <a:rPr lang="en-US" dirty="0" err="1">
                <a:solidFill>
                  <a:srgbClr val="FFFF00"/>
                </a:solidFill>
              </a:rPr>
              <a:t>TreeSet</a:t>
            </a:r>
            <a:endParaRPr lang="en-US" dirty="0">
              <a:solidFill>
                <a:srgbClr val="FFFF00"/>
              </a:solidFill>
            </a:endParaRPr>
          </a:p>
          <a:p>
            <a:r>
              <a:rPr lang="en-US" dirty="0"/>
              <a:t>Java </a:t>
            </a:r>
            <a:r>
              <a:rPr lang="en-US" dirty="0" err="1"/>
              <a:t>TreeSet</a:t>
            </a:r>
            <a:r>
              <a:rPr lang="en-US" dirty="0"/>
              <a:t> class implements the Set interface that uses a tree for storage. Like HashSet, </a:t>
            </a:r>
            <a:r>
              <a:rPr lang="en-US" dirty="0" err="1"/>
              <a:t>TreeSet</a:t>
            </a:r>
            <a:r>
              <a:rPr lang="en-US" dirty="0"/>
              <a:t> also contains unique elements. However, the access and retrieval time of </a:t>
            </a:r>
            <a:r>
              <a:rPr lang="en-US" dirty="0" err="1"/>
              <a:t>TreeSet</a:t>
            </a:r>
            <a:r>
              <a:rPr lang="en-US" dirty="0"/>
              <a:t> is quite fast. The elements in </a:t>
            </a:r>
            <a:r>
              <a:rPr lang="en-US" dirty="0" err="1"/>
              <a:t>TreeSet</a:t>
            </a:r>
            <a:r>
              <a:rPr lang="en-US" dirty="0"/>
              <a:t> stored in ascending order.</a:t>
            </a:r>
          </a:p>
          <a:p>
            <a:endParaRPr lang="en-IN" dirty="0"/>
          </a:p>
        </p:txBody>
      </p:sp>
    </p:spTree>
    <p:extLst>
      <p:ext uri="{BB962C8B-B14F-4D97-AF65-F5344CB8AC3E}">
        <p14:creationId xmlns:p14="http://schemas.microsoft.com/office/powerpoint/2010/main" val="991054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59DE75-64BE-4412-A0D7-5A5DC1B17DEA}"/>
              </a:ext>
            </a:extLst>
          </p:cNvPr>
          <p:cNvSpPr txBox="1"/>
          <p:nvPr/>
        </p:nvSpPr>
        <p:spPr>
          <a:xfrm>
            <a:off x="2369127" y="457200"/>
            <a:ext cx="7453745" cy="6186309"/>
          </a:xfrm>
          <a:prstGeom prst="rect">
            <a:avLst/>
          </a:prstGeom>
          <a:noFill/>
        </p:spPr>
        <p:txBody>
          <a:bodyPr wrap="square" rtlCol="0">
            <a:spAutoFit/>
          </a:bodyPr>
          <a:lstStyle/>
          <a:p>
            <a:r>
              <a:rPr lang="en-IN" dirty="0"/>
              <a:t>package </a:t>
            </a:r>
            <a:r>
              <a:rPr lang="en-IN" dirty="0" err="1"/>
              <a:t>javaprogram</a:t>
            </a:r>
            <a:r>
              <a:rPr lang="en-IN" dirty="0"/>
              <a:t>;</a:t>
            </a:r>
          </a:p>
          <a:p>
            <a:r>
              <a:rPr lang="en-IN" dirty="0"/>
              <a:t>/* </a:t>
            </a:r>
            <a:r>
              <a:rPr lang="en-IN" dirty="0" err="1"/>
              <a:t>Title:JavaTreeSet.java</a:t>
            </a:r>
            <a:endParaRPr lang="en-IN" dirty="0"/>
          </a:p>
          <a:p>
            <a:r>
              <a:rPr lang="en-IN" dirty="0"/>
              <a:t> * </a:t>
            </a:r>
            <a:r>
              <a:rPr lang="en-IN" dirty="0" err="1"/>
              <a:t>Author:Rajiv</a:t>
            </a:r>
            <a:r>
              <a:rPr lang="en-IN" dirty="0"/>
              <a:t> Ranjan</a:t>
            </a:r>
          </a:p>
          <a:p>
            <a:r>
              <a:rPr lang="en-IN" dirty="0"/>
              <a:t> * </a:t>
            </a:r>
            <a:r>
              <a:rPr lang="en-IN" dirty="0" err="1"/>
              <a:t>Description:Program</a:t>
            </a:r>
            <a:r>
              <a:rPr lang="en-IN" dirty="0"/>
              <a:t> to demonstrate working of </a:t>
            </a:r>
            <a:r>
              <a:rPr lang="en-IN" dirty="0" err="1"/>
              <a:t>TreeSet</a:t>
            </a:r>
            <a:endParaRPr lang="en-IN" dirty="0"/>
          </a:p>
          <a:p>
            <a:r>
              <a:rPr lang="en-IN" dirty="0"/>
              <a:t> * Date:12-1-2022</a:t>
            </a:r>
          </a:p>
          <a:p>
            <a:r>
              <a:rPr lang="en-IN" dirty="0"/>
              <a:t> */</a:t>
            </a:r>
          </a:p>
          <a:p>
            <a:r>
              <a:rPr lang="en-IN" dirty="0"/>
              <a:t>import </a:t>
            </a:r>
            <a:r>
              <a:rPr lang="en-IN" dirty="0" err="1"/>
              <a:t>java.util</a:t>
            </a:r>
            <a:r>
              <a:rPr lang="en-IN" dirty="0"/>
              <a:t>.*;</a:t>
            </a:r>
          </a:p>
          <a:p>
            <a:r>
              <a:rPr lang="en-IN" dirty="0"/>
              <a:t>public class </a:t>
            </a:r>
            <a:r>
              <a:rPr lang="en-IN" dirty="0" err="1"/>
              <a:t>JavaTreeSet</a:t>
            </a:r>
            <a:r>
              <a:rPr lang="en-IN" dirty="0"/>
              <a:t> {</a:t>
            </a:r>
          </a:p>
          <a:p>
            <a:r>
              <a:rPr lang="en-IN" dirty="0"/>
              <a:t>	public static void main(String </a:t>
            </a:r>
            <a:r>
              <a:rPr lang="en-IN" dirty="0" err="1"/>
              <a:t>ar</a:t>
            </a:r>
            <a:r>
              <a:rPr lang="en-IN" dirty="0"/>
              <a:t>[]) {</a:t>
            </a:r>
          </a:p>
          <a:p>
            <a:r>
              <a:rPr lang="en-IN" dirty="0"/>
              <a:t>	</a:t>
            </a:r>
            <a:r>
              <a:rPr lang="en-IN" dirty="0" err="1"/>
              <a:t>TreeSet</a:t>
            </a:r>
            <a:r>
              <a:rPr lang="en-IN" dirty="0"/>
              <a:t> </a:t>
            </a:r>
            <a:r>
              <a:rPr lang="en-IN" dirty="0" err="1"/>
              <a:t>obt</a:t>
            </a:r>
            <a:r>
              <a:rPr lang="en-IN" dirty="0"/>
              <a:t>= new </a:t>
            </a:r>
            <a:r>
              <a:rPr lang="en-IN" dirty="0" err="1"/>
              <a:t>TreeSet</a:t>
            </a:r>
            <a:r>
              <a:rPr lang="en-IN" dirty="0"/>
              <a:t>();</a:t>
            </a:r>
          </a:p>
          <a:p>
            <a:r>
              <a:rPr lang="en-IN" dirty="0"/>
              <a:t>	</a:t>
            </a:r>
            <a:r>
              <a:rPr lang="en-IN" dirty="0" err="1"/>
              <a:t>obt.add</a:t>
            </a:r>
            <a:r>
              <a:rPr lang="en-IN" dirty="0"/>
              <a:t>("</a:t>
            </a:r>
            <a:r>
              <a:rPr lang="en-IN" dirty="0" err="1"/>
              <a:t>mohit</a:t>
            </a:r>
            <a:r>
              <a:rPr lang="en-IN" dirty="0"/>
              <a:t>");</a:t>
            </a:r>
          </a:p>
          <a:p>
            <a:r>
              <a:rPr lang="en-IN" dirty="0"/>
              <a:t>	</a:t>
            </a:r>
            <a:r>
              <a:rPr lang="en-IN" dirty="0" err="1"/>
              <a:t>obt.add</a:t>
            </a:r>
            <a:r>
              <a:rPr lang="en-IN" dirty="0"/>
              <a:t>("</a:t>
            </a:r>
            <a:r>
              <a:rPr lang="en-IN" dirty="0" err="1"/>
              <a:t>rajesh</a:t>
            </a:r>
            <a:r>
              <a:rPr lang="en-IN" dirty="0"/>
              <a:t>");</a:t>
            </a:r>
          </a:p>
          <a:p>
            <a:r>
              <a:rPr lang="en-IN" dirty="0"/>
              <a:t>	</a:t>
            </a:r>
            <a:r>
              <a:rPr lang="en-IN" dirty="0" err="1"/>
              <a:t>obt.add</a:t>
            </a:r>
            <a:r>
              <a:rPr lang="en-IN" dirty="0"/>
              <a:t>("</a:t>
            </a:r>
            <a:r>
              <a:rPr lang="en-IN" dirty="0" err="1"/>
              <a:t>mohit</a:t>
            </a:r>
            <a:r>
              <a:rPr lang="en-IN" dirty="0"/>
              <a:t>");</a:t>
            </a:r>
          </a:p>
          <a:p>
            <a:r>
              <a:rPr lang="en-IN" dirty="0"/>
              <a:t>	</a:t>
            </a:r>
            <a:r>
              <a:rPr lang="en-IN" dirty="0" err="1"/>
              <a:t>obt.add</a:t>
            </a:r>
            <a:r>
              <a:rPr lang="en-IN" dirty="0"/>
              <a:t>("</a:t>
            </a:r>
            <a:r>
              <a:rPr lang="en-IN" dirty="0" err="1"/>
              <a:t>vijay</a:t>
            </a:r>
            <a:r>
              <a:rPr lang="en-IN" dirty="0"/>
              <a:t>");</a:t>
            </a:r>
          </a:p>
          <a:p>
            <a:r>
              <a:rPr lang="en-IN" dirty="0"/>
              <a:t>	</a:t>
            </a:r>
            <a:r>
              <a:rPr lang="en-IN" dirty="0" err="1"/>
              <a:t>obt.add</a:t>
            </a:r>
            <a:r>
              <a:rPr lang="en-IN" dirty="0"/>
              <a:t>("</a:t>
            </a:r>
            <a:r>
              <a:rPr lang="en-IN" dirty="0" err="1"/>
              <a:t>vijay</a:t>
            </a:r>
            <a:r>
              <a:rPr lang="en-IN" dirty="0"/>
              <a:t>");</a:t>
            </a:r>
          </a:p>
          <a:p>
            <a:r>
              <a:rPr lang="en-IN" dirty="0"/>
              <a:t>	Iterator it= </a:t>
            </a:r>
            <a:r>
              <a:rPr lang="en-IN" dirty="0" err="1"/>
              <a:t>obt.iterator</a:t>
            </a:r>
            <a:r>
              <a:rPr lang="en-IN" dirty="0"/>
              <a:t>();</a:t>
            </a:r>
          </a:p>
          <a:p>
            <a:r>
              <a:rPr lang="en-IN" dirty="0"/>
              <a:t>	while(</a:t>
            </a:r>
            <a:r>
              <a:rPr lang="en-IN" dirty="0" err="1"/>
              <a:t>it.hasNext</a:t>
            </a:r>
            <a:r>
              <a:rPr lang="en-IN" dirty="0"/>
              <a:t>())</a:t>
            </a:r>
          </a:p>
          <a:p>
            <a:r>
              <a:rPr lang="en-IN" dirty="0"/>
              <a:t>	</a:t>
            </a:r>
            <a:r>
              <a:rPr lang="en-IN" dirty="0" err="1"/>
              <a:t>System.out.println</a:t>
            </a:r>
            <a:r>
              <a:rPr lang="en-IN" dirty="0"/>
              <a:t>(</a:t>
            </a:r>
            <a:r>
              <a:rPr lang="en-IN" dirty="0" err="1"/>
              <a:t>it.next</a:t>
            </a:r>
            <a:r>
              <a:rPr lang="en-IN" dirty="0"/>
              <a:t>());</a:t>
            </a:r>
          </a:p>
          <a:p>
            <a:endParaRPr lang="en-IN" dirty="0"/>
          </a:p>
          <a:p>
            <a:r>
              <a:rPr lang="en-IN" dirty="0"/>
              <a:t>	}</a:t>
            </a:r>
          </a:p>
          <a:p>
            <a:r>
              <a:rPr lang="en-IN" dirty="0"/>
              <a:t>}</a:t>
            </a:r>
          </a:p>
          <a:p>
            <a:endParaRPr lang="en-IN" dirty="0"/>
          </a:p>
        </p:txBody>
      </p:sp>
    </p:spTree>
    <p:extLst>
      <p:ext uri="{BB962C8B-B14F-4D97-AF65-F5344CB8AC3E}">
        <p14:creationId xmlns:p14="http://schemas.microsoft.com/office/powerpoint/2010/main" val="2862546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ECE3EE-EE03-44A4-9576-919C811792E7}"/>
              </a:ext>
            </a:extLst>
          </p:cNvPr>
          <p:cNvSpPr txBox="1"/>
          <p:nvPr/>
        </p:nvSpPr>
        <p:spPr>
          <a:xfrm>
            <a:off x="1787235" y="401782"/>
            <a:ext cx="8007927" cy="3139321"/>
          </a:xfrm>
          <a:prstGeom prst="rect">
            <a:avLst/>
          </a:prstGeom>
          <a:noFill/>
        </p:spPr>
        <p:txBody>
          <a:bodyPr wrap="square" rtlCol="0">
            <a:spAutoFit/>
          </a:bodyPr>
          <a:lstStyle/>
          <a:p>
            <a:r>
              <a:rPr lang="en-US" dirty="0"/>
              <a:t> </a:t>
            </a:r>
            <a:r>
              <a:rPr lang="en-US" dirty="0" err="1">
                <a:solidFill>
                  <a:srgbClr val="FFFF00"/>
                </a:solidFill>
              </a:rPr>
              <a:t>Hashtable</a:t>
            </a:r>
            <a:r>
              <a:rPr lang="en-US" dirty="0">
                <a:solidFill>
                  <a:srgbClr val="FFFF00"/>
                </a:solidFill>
              </a:rPr>
              <a:t> </a:t>
            </a:r>
          </a:p>
          <a:p>
            <a:endParaRPr lang="en-US" dirty="0"/>
          </a:p>
          <a:p>
            <a:r>
              <a:rPr lang="en-US" dirty="0"/>
              <a:t>Java </a:t>
            </a:r>
            <a:r>
              <a:rPr lang="en-US" dirty="0" err="1"/>
              <a:t>Hashtable</a:t>
            </a:r>
            <a:r>
              <a:rPr lang="en-US" dirty="0"/>
              <a:t> class implements a </a:t>
            </a:r>
            <a:r>
              <a:rPr lang="en-US" dirty="0" err="1"/>
              <a:t>hashtable</a:t>
            </a:r>
            <a:r>
              <a:rPr lang="en-US" dirty="0"/>
              <a:t>, which maps keys to values. It inherits Dictionary class and implements the Map interface.</a:t>
            </a:r>
          </a:p>
          <a:p>
            <a:endParaRPr lang="en-US" dirty="0"/>
          </a:p>
          <a:p>
            <a:r>
              <a:rPr lang="en-US" dirty="0"/>
              <a:t>Points to remember</a:t>
            </a:r>
          </a:p>
          <a:p>
            <a:r>
              <a:rPr lang="en-US" dirty="0"/>
              <a:t>A </a:t>
            </a:r>
            <a:r>
              <a:rPr lang="en-US" dirty="0" err="1"/>
              <a:t>Hashtable</a:t>
            </a:r>
            <a:r>
              <a:rPr lang="en-US" dirty="0"/>
              <a:t> contains values based on the key.</a:t>
            </a:r>
          </a:p>
          <a:p>
            <a:r>
              <a:rPr lang="en-US" dirty="0"/>
              <a:t>Java </a:t>
            </a:r>
            <a:r>
              <a:rPr lang="en-US" dirty="0" err="1"/>
              <a:t>Hashtable</a:t>
            </a:r>
            <a:r>
              <a:rPr lang="en-US" dirty="0"/>
              <a:t> class contains unique elements.</a:t>
            </a:r>
          </a:p>
          <a:p>
            <a:r>
              <a:rPr lang="en-US" dirty="0"/>
              <a:t>Java </a:t>
            </a:r>
            <a:r>
              <a:rPr lang="en-US" dirty="0" err="1"/>
              <a:t>Hashtable</a:t>
            </a:r>
            <a:r>
              <a:rPr lang="en-US" dirty="0"/>
              <a:t> class doesn't allow null key or value.</a:t>
            </a:r>
          </a:p>
          <a:p>
            <a:r>
              <a:rPr lang="en-US" dirty="0"/>
              <a:t>Java </a:t>
            </a:r>
            <a:r>
              <a:rPr lang="en-US" dirty="0" err="1"/>
              <a:t>Hashtable</a:t>
            </a:r>
            <a:r>
              <a:rPr lang="en-US" dirty="0"/>
              <a:t> class is synchronized.</a:t>
            </a:r>
          </a:p>
          <a:p>
            <a:endParaRPr lang="en-IN" dirty="0"/>
          </a:p>
        </p:txBody>
      </p:sp>
    </p:spTree>
    <p:extLst>
      <p:ext uri="{BB962C8B-B14F-4D97-AF65-F5344CB8AC3E}">
        <p14:creationId xmlns:p14="http://schemas.microsoft.com/office/powerpoint/2010/main" val="1122121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123F16-0AB9-4F69-9D42-D56DA345549B}"/>
              </a:ext>
            </a:extLst>
          </p:cNvPr>
          <p:cNvSpPr txBox="1"/>
          <p:nvPr/>
        </p:nvSpPr>
        <p:spPr>
          <a:xfrm>
            <a:off x="1648692" y="401782"/>
            <a:ext cx="7107381" cy="5078313"/>
          </a:xfrm>
          <a:prstGeom prst="rect">
            <a:avLst/>
          </a:prstGeom>
          <a:noFill/>
        </p:spPr>
        <p:txBody>
          <a:bodyPr wrap="square" rtlCol="0">
            <a:spAutoFit/>
          </a:bodyPr>
          <a:lstStyle/>
          <a:p>
            <a:r>
              <a:rPr lang="en-IN" dirty="0"/>
              <a:t>package </a:t>
            </a:r>
            <a:r>
              <a:rPr lang="en-IN" dirty="0" err="1"/>
              <a:t>javaprogram</a:t>
            </a:r>
            <a:r>
              <a:rPr lang="en-IN" dirty="0"/>
              <a:t>;</a:t>
            </a:r>
          </a:p>
          <a:p>
            <a:r>
              <a:rPr lang="en-IN" dirty="0">
                <a:solidFill>
                  <a:srgbClr val="FFFF00"/>
                </a:solidFill>
              </a:rPr>
              <a:t>import </a:t>
            </a:r>
            <a:r>
              <a:rPr lang="en-IN" dirty="0" err="1">
                <a:solidFill>
                  <a:srgbClr val="FFFF00"/>
                </a:solidFill>
              </a:rPr>
              <a:t>java.util</a:t>
            </a:r>
            <a:r>
              <a:rPr lang="en-IN" dirty="0">
                <a:solidFill>
                  <a:srgbClr val="FFFF00"/>
                </a:solidFill>
              </a:rPr>
              <a:t>.*;</a:t>
            </a:r>
          </a:p>
          <a:p>
            <a:r>
              <a:rPr lang="en-IN" dirty="0">
                <a:solidFill>
                  <a:srgbClr val="FFFF00"/>
                </a:solidFill>
              </a:rPr>
              <a:t>/* </a:t>
            </a:r>
            <a:r>
              <a:rPr lang="en-IN" dirty="0" err="1">
                <a:solidFill>
                  <a:srgbClr val="FFFF00"/>
                </a:solidFill>
              </a:rPr>
              <a:t>Title:JavaTreeSet.java</a:t>
            </a:r>
            <a:endParaRPr lang="en-IN" dirty="0">
              <a:solidFill>
                <a:srgbClr val="FFFF00"/>
              </a:solidFill>
            </a:endParaRPr>
          </a:p>
          <a:p>
            <a:r>
              <a:rPr lang="en-IN" dirty="0">
                <a:solidFill>
                  <a:srgbClr val="FFFF00"/>
                </a:solidFill>
              </a:rPr>
              <a:t> * </a:t>
            </a:r>
            <a:r>
              <a:rPr lang="en-IN" dirty="0" err="1">
                <a:solidFill>
                  <a:srgbClr val="FFFF00"/>
                </a:solidFill>
              </a:rPr>
              <a:t>Author:Rajiv</a:t>
            </a:r>
            <a:r>
              <a:rPr lang="en-IN" dirty="0">
                <a:solidFill>
                  <a:srgbClr val="FFFF00"/>
                </a:solidFill>
              </a:rPr>
              <a:t> Ranjan</a:t>
            </a:r>
          </a:p>
          <a:p>
            <a:r>
              <a:rPr lang="en-IN" dirty="0">
                <a:solidFill>
                  <a:srgbClr val="FFFF00"/>
                </a:solidFill>
              </a:rPr>
              <a:t> * </a:t>
            </a:r>
            <a:r>
              <a:rPr lang="en-IN" dirty="0" err="1">
                <a:solidFill>
                  <a:srgbClr val="FFFF00"/>
                </a:solidFill>
              </a:rPr>
              <a:t>Description:Program</a:t>
            </a:r>
            <a:r>
              <a:rPr lang="en-IN" dirty="0">
                <a:solidFill>
                  <a:srgbClr val="FFFF00"/>
                </a:solidFill>
              </a:rPr>
              <a:t> to demonstrate working of </a:t>
            </a:r>
            <a:r>
              <a:rPr lang="en-IN" dirty="0" err="1">
                <a:solidFill>
                  <a:srgbClr val="FFFF00"/>
                </a:solidFill>
              </a:rPr>
              <a:t>Hashtable</a:t>
            </a:r>
            <a:endParaRPr lang="en-IN" dirty="0">
              <a:solidFill>
                <a:srgbClr val="FFFF00"/>
              </a:solidFill>
            </a:endParaRPr>
          </a:p>
          <a:p>
            <a:r>
              <a:rPr lang="en-IN" dirty="0">
                <a:solidFill>
                  <a:srgbClr val="FFFF00"/>
                </a:solidFill>
              </a:rPr>
              <a:t> * Date:12-1-2022</a:t>
            </a:r>
          </a:p>
          <a:p>
            <a:r>
              <a:rPr lang="en-IN" dirty="0">
                <a:solidFill>
                  <a:srgbClr val="FFFF00"/>
                </a:solidFill>
              </a:rPr>
              <a:t> */</a:t>
            </a:r>
          </a:p>
          <a:p>
            <a:r>
              <a:rPr lang="en-IN" dirty="0"/>
              <a:t>public class </a:t>
            </a:r>
            <a:r>
              <a:rPr lang="en-IN" dirty="0" err="1"/>
              <a:t>JavaHashTable</a:t>
            </a:r>
            <a:r>
              <a:rPr lang="en-IN" dirty="0"/>
              <a:t> {</a:t>
            </a:r>
          </a:p>
          <a:p>
            <a:r>
              <a:rPr lang="en-IN" dirty="0"/>
              <a:t>public static void main(String </a:t>
            </a:r>
            <a:r>
              <a:rPr lang="en-IN" dirty="0" err="1"/>
              <a:t>ar</a:t>
            </a:r>
            <a:r>
              <a:rPr lang="en-IN" dirty="0"/>
              <a:t>[])</a:t>
            </a:r>
          </a:p>
          <a:p>
            <a:r>
              <a:rPr lang="en-IN" dirty="0"/>
              <a:t>{</a:t>
            </a:r>
          </a:p>
          <a:p>
            <a:r>
              <a:rPr lang="en-IN" dirty="0"/>
              <a:t>	</a:t>
            </a:r>
            <a:r>
              <a:rPr lang="en-IN" dirty="0" err="1"/>
              <a:t>Hashtable</a:t>
            </a:r>
            <a:r>
              <a:rPr lang="en-IN" dirty="0"/>
              <a:t> </a:t>
            </a:r>
            <a:r>
              <a:rPr lang="en-IN" dirty="0" err="1"/>
              <a:t>ht</a:t>
            </a:r>
            <a:r>
              <a:rPr lang="en-IN" dirty="0"/>
              <a:t> = new </a:t>
            </a:r>
            <a:r>
              <a:rPr lang="en-IN" dirty="0" err="1"/>
              <a:t>Hashtable</a:t>
            </a:r>
            <a:r>
              <a:rPr lang="en-IN" dirty="0"/>
              <a:t>();</a:t>
            </a:r>
          </a:p>
          <a:p>
            <a:r>
              <a:rPr lang="en-IN" dirty="0"/>
              <a:t>	</a:t>
            </a:r>
            <a:r>
              <a:rPr lang="en-IN" dirty="0" err="1"/>
              <a:t>ht.put</a:t>
            </a:r>
            <a:r>
              <a:rPr lang="en-IN" dirty="0"/>
              <a:t>("first","</a:t>
            </a:r>
            <a:r>
              <a:rPr lang="en-IN" dirty="0" err="1"/>
              <a:t>mohit</a:t>
            </a:r>
            <a:r>
              <a:rPr lang="en-IN" dirty="0"/>
              <a:t>");</a:t>
            </a:r>
          </a:p>
          <a:p>
            <a:r>
              <a:rPr lang="en-IN" dirty="0"/>
              <a:t>	</a:t>
            </a:r>
            <a:r>
              <a:rPr lang="en-IN" dirty="0" err="1"/>
              <a:t>ht.put</a:t>
            </a:r>
            <a:r>
              <a:rPr lang="en-IN" dirty="0"/>
              <a:t>("second","</a:t>
            </a:r>
            <a:r>
              <a:rPr lang="en-IN" dirty="0" err="1"/>
              <a:t>vijay</a:t>
            </a:r>
            <a:r>
              <a:rPr lang="en-IN" dirty="0"/>
              <a:t>");</a:t>
            </a:r>
          </a:p>
          <a:p>
            <a:r>
              <a:rPr lang="en-IN" dirty="0"/>
              <a:t>	</a:t>
            </a:r>
            <a:r>
              <a:rPr lang="en-IN" dirty="0" err="1"/>
              <a:t>ht.put</a:t>
            </a:r>
            <a:r>
              <a:rPr lang="en-IN" dirty="0"/>
              <a:t>("</a:t>
            </a:r>
            <a:r>
              <a:rPr lang="en-IN" dirty="0" err="1"/>
              <a:t>third","Pooja</a:t>
            </a:r>
            <a:r>
              <a:rPr lang="en-IN" dirty="0"/>
              <a:t>");</a:t>
            </a:r>
          </a:p>
          <a:p>
            <a:r>
              <a:rPr lang="en-IN" dirty="0"/>
              <a:t>	</a:t>
            </a:r>
            <a:r>
              <a:rPr lang="en-IN" dirty="0" err="1"/>
              <a:t>System.out.println</a:t>
            </a:r>
            <a:r>
              <a:rPr lang="en-IN" dirty="0"/>
              <a:t>("value of key is.."+</a:t>
            </a:r>
            <a:r>
              <a:rPr lang="en-IN" dirty="0" err="1"/>
              <a:t>ht.get</a:t>
            </a:r>
            <a:r>
              <a:rPr lang="en-IN" dirty="0"/>
              <a:t>("first"));</a:t>
            </a:r>
          </a:p>
          <a:p>
            <a:r>
              <a:rPr lang="en-IN" dirty="0"/>
              <a:t>	</a:t>
            </a:r>
          </a:p>
          <a:p>
            <a:r>
              <a:rPr lang="en-IN" dirty="0"/>
              <a:t>}</a:t>
            </a:r>
          </a:p>
          <a:p>
            <a:r>
              <a:rPr lang="en-IN" dirty="0"/>
              <a:t>}</a:t>
            </a:r>
          </a:p>
        </p:txBody>
      </p:sp>
      <p:sp>
        <p:nvSpPr>
          <p:cNvPr id="5" name="TextBox 4">
            <a:extLst>
              <a:ext uri="{FF2B5EF4-FFF2-40B4-BE49-F238E27FC236}">
                <a16:creationId xmlns:a16="http://schemas.microsoft.com/office/drawing/2014/main" id="{CA0B24D7-0108-4915-892B-1DFEFA78A100}"/>
              </a:ext>
            </a:extLst>
          </p:cNvPr>
          <p:cNvSpPr txBox="1"/>
          <p:nvPr/>
        </p:nvSpPr>
        <p:spPr>
          <a:xfrm>
            <a:off x="9670473" y="3953378"/>
            <a:ext cx="2189018" cy="646331"/>
          </a:xfrm>
          <a:prstGeom prst="rect">
            <a:avLst/>
          </a:prstGeom>
          <a:noFill/>
        </p:spPr>
        <p:txBody>
          <a:bodyPr wrap="square" rtlCol="0">
            <a:spAutoFit/>
          </a:bodyPr>
          <a:lstStyle/>
          <a:p>
            <a:r>
              <a:rPr lang="en-US" sz="1800" dirty="0">
                <a:solidFill>
                  <a:srgbClr val="FFFF00"/>
                </a:solidFill>
                <a:latin typeface="Consolas" panose="020B0609020204030204" pitchFamily="49" charset="0"/>
              </a:rPr>
              <a:t>value of key is..</a:t>
            </a:r>
            <a:r>
              <a:rPr lang="en-US" sz="1800" dirty="0" err="1">
                <a:solidFill>
                  <a:srgbClr val="FFFF00"/>
                </a:solidFill>
                <a:latin typeface="Consolas" panose="020B0609020204030204" pitchFamily="49" charset="0"/>
              </a:rPr>
              <a:t>mohit</a:t>
            </a:r>
            <a:endParaRPr lang="en-IN" dirty="0">
              <a:solidFill>
                <a:srgbClr val="FFFF00"/>
              </a:solidFill>
            </a:endParaRPr>
          </a:p>
        </p:txBody>
      </p:sp>
    </p:spTree>
    <p:extLst>
      <p:ext uri="{BB962C8B-B14F-4D97-AF65-F5344CB8AC3E}">
        <p14:creationId xmlns:p14="http://schemas.microsoft.com/office/powerpoint/2010/main" val="103312088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256</TotalTime>
  <Words>2202</Words>
  <Application>Microsoft Office PowerPoint</Application>
  <PresentationFormat>Widescreen</PresentationFormat>
  <Paragraphs>266</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Gothic</vt:lpstr>
      <vt:lpstr>Consolas</vt:lpstr>
      <vt:lpstr>var(--font-din)</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rajivranjancse@outlook.com</dc:creator>
  <cp:lastModifiedBy>rajivranjancse@outlook.com</cp:lastModifiedBy>
  <cp:revision>55</cp:revision>
  <dcterms:created xsi:type="dcterms:W3CDTF">2022-01-12T05:29:29Z</dcterms:created>
  <dcterms:modified xsi:type="dcterms:W3CDTF">2022-01-12T09:45:31Z</dcterms:modified>
</cp:coreProperties>
</file>