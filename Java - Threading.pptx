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F260-DE03-F856-C181-956C86143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1597-FE33-5DBF-274B-77AE6DB6D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415B8-4C7C-5382-3D14-6A78399D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FE9EF-A7CA-88AA-8241-7ADB3716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D755D-3FE9-F72B-3CDE-BE8316C2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19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F400-DEEC-E531-60CE-E81F3630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28AB-2BE2-8A84-E18B-1CDDFDF31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05169-3547-33F1-117B-3E7BF6FFD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172FD-D58F-B859-AE91-FC9F7C3B7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5B8CB-1DF2-70A7-FFBA-11BDAF82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29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93E9-46CB-2D66-338A-F3A297D7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68715-93EE-6EEB-81DE-0D06EC074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2FF31-726A-AF19-EF59-9785021E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14846-A0D7-9D4E-55BC-0A1A9984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738EB-E1C7-60E7-D515-161AD0A31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42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339C-7C60-4C8F-CD1F-3E7CCABF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B246F-4911-A3E7-8D90-C75EFD52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F94DC-E131-FE8D-BA89-3DEABF475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A029-C9D9-7C1E-033E-757A6AA05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AC734-1631-5B67-0B66-7CB206A1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E7D4B-633F-4C10-6AB8-98F924F9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9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263F-B65C-CFF6-F2F0-C64F919DF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828DB-F23B-BBAC-3E5A-D9C272B2D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8F746-5F52-8134-2ECE-F507DD5DB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15EFD-B6C9-6209-2BD3-BAA01F543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F4D02-3725-035F-081E-3FFFC0E70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CFDB4-E6D0-601F-0F9E-7F0B52575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10FC-8806-F5DA-8898-F0F425D1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F021C-E412-CCA1-1371-2BED0F6F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7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22DD-9A80-F0D2-9EA8-ABB1F5FE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79F00-13EA-77F3-9AD7-8DBB8D5A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83E1C-596D-9F1B-0746-4C8CF654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01748-3E6A-DCF9-0E5A-55274EE0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11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52BA7C-5A7D-EC1A-0819-9CFD63FC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A8E00C-85B3-EF34-B205-166D387F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AC884-F8BC-A202-FED3-F9C6D080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920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CC06-06FC-7B23-7A0A-192F7A6C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A6A62-900E-9715-48FC-CBA767B0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162C8-1329-A527-9D84-1C468AACF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FE18C-13FE-4C68-C5AB-521CAE05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2B334-6EA1-5D4D-A5F1-09582E92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FB646-C0CC-6987-9865-38FC1C52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33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5D1E-1BB8-352A-C8BF-8BD5EE442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72D12A-EF49-6204-91F2-F3D4748AB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EB515-2963-B9E2-2AE8-11541C972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6F747-D6B6-BF23-8862-AC304C65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3B459-F17A-1712-DA93-44BB7DDF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C377C-A093-341A-9319-06965E84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34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16A6-E4CB-C0B7-6FB8-381E2E5C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AEE6E-71F2-F5D4-8ED9-6C688A398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3ACEA-C75F-B292-C90B-3B2ABD29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F4232-222B-E691-8326-D24CDAF0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86466-B7E9-AF03-D0F2-A139014F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1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C933E-9372-CF75-8841-E2CF9DCB5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5CEA0-FF0C-6C7C-2AC4-56062EE77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6379C-F3AF-0426-7E09-F46161DE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A4303-5794-9D18-22D1-CECFDD8B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7657F-B830-B4FF-4AB4-EA21B32F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60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D19EA-93F1-C598-AA60-590B5C0C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BEBDF-1B27-23B2-77C0-C106409B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30A0E-DEE3-AD97-2A28-990EDFD4A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DDC2A-0AD4-4F0D-BAE9-1F729C11828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71442-1CF6-5F1D-C955-6CC61A967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4C1D6-C5A7-A666-B312-E537CC233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3B92B-DF42-457C-9A1D-58C1EF93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94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C335BD-B5C3-19AA-9529-94D476073F10}"/>
              </a:ext>
            </a:extLst>
          </p:cNvPr>
          <p:cNvSpPr txBox="1"/>
          <p:nvPr/>
        </p:nvSpPr>
        <p:spPr>
          <a:xfrm>
            <a:off x="4135900" y="2507156"/>
            <a:ext cx="4403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Platform Thread and Virtual Thread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69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6050E3-7577-1F15-6673-E369781E038A}"/>
              </a:ext>
            </a:extLst>
          </p:cNvPr>
          <p:cNvSpPr txBox="1"/>
          <p:nvPr/>
        </p:nvSpPr>
        <p:spPr>
          <a:xfrm>
            <a:off x="2194560" y="1955409"/>
            <a:ext cx="6625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Java Thread has traditionally been an object containing various methods &amp; fields that constitute its “state”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C45221-6E2D-5EFE-9448-78D0ABCC9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640" y="2809875"/>
            <a:ext cx="580072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8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CC2ACD-EE76-6967-7B49-E33E552C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7" y="1071562"/>
            <a:ext cx="919162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7862D-B34F-6075-4F4C-9BC77E5F7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1752600"/>
            <a:ext cx="88487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87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B7A85B-16CA-5CED-FFE4-D2C64242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681162"/>
            <a:ext cx="900112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5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BF3056-0DB5-0C15-D73A-149CD578E3A3}"/>
              </a:ext>
            </a:extLst>
          </p:cNvPr>
          <p:cNvSpPr txBox="1"/>
          <p:nvPr/>
        </p:nvSpPr>
        <p:spPr>
          <a:xfrm>
            <a:off x="4487594" y="3045601"/>
            <a:ext cx="4206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Virtual Thread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42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9E3694-8B63-5942-E01F-43E241A64E58}"/>
              </a:ext>
            </a:extLst>
          </p:cNvPr>
          <p:cNvSpPr txBox="1"/>
          <p:nvPr/>
        </p:nvSpPr>
        <p:spPr>
          <a:xfrm>
            <a:off x="3221501" y="1814731"/>
            <a:ext cx="597877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Virtual Thread</a:t>
            </a:r>
          </a:p>
          <a:p>
            <a:endParaRPr lang="en-US" dirty="0"/>
          </a:p>
          <a:p>
            <a:r>
              <a:rPr lang="en-US" dirty="0"/>
              <a:t>In contrast, each Java virtual thread is a “lightweight” concurrency object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32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670C28-D21F-5036-2585-13759F9A0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1604962"/>
            <a:ext cx="88487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3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7CD4D5-E205-D993-AB35-A8A1785B3091}"/>
              </a:ext>
            </a:extLst>
          </p:cNvPr>
          <p:cNvSpPr txBox="1"/>
          <p:nvPr/>
        </p:nvSpPr>
        <p:spPr>
          <a:xfrm>
            <a:off x="2082017" y="886265"/>
            <a:ext cx="64852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contrast, each Java virtual thread is a “lightweight” concurrency object</a:t>
            </a:r>
          </a:p>
          <a:p>
            <a:r>
              <a:rPr lang="en-US" dirty="0"/>
              <a:t> • It is a user thread rather than a kernel thread </a:t>
            </a:r>
          </a:p>
          <a:p>
            <a:r>
              <a:rPr lang="en-US" dirty="0"/>
              <a:t>• It is scheduled by the Java execution environment rather than the underlying OS </a:t>
            </a:r>
          </a:p>
          <a:p>
            <a:endParaRPr lang="en-US" dirty="0"/>
          </a:p>
          <a:p>
            <a:r>
              <a:rPr lang="en-US" dirty="0"/>
              <a:t>• A very large # of virtual threads can therefore be created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DBB69-C048-D92B-59B5-76869FF4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295" y="3429000"/>
            <a:ext cx="44386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75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08FA1E-03A9-F26F-88C0-84820048A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1266825"/>
            <a:ext cx="88296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9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754D07-DF4A-FD6F-EE76-DA345AE621DC}"/>
              </a:ext>
            </a:extLst>
          </p:cNvPr>
          <p:cNvSpPr txBox="1"/>
          <p:nvPr/>
        </p:nvSpPr>
        <p:spPr>
          <a:xfrm>
            <a:off x="4063218" y="2449564"/>
            <a:ext cx="4065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Creation Platform Thread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08536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70C6CD-2C40-6AFF-8C8F-958DDB7813FB}"/>
              </a:ext>
            </a:extLst>
          </p:cNvPr>
          <p:cNvSpPr txBox="1"/>
          <p:nvPr/>
        </p:nvSpPr>
        <p:spPr>
          <a:xfrm>
            <a:off x="1772530" y="323558"/>
            <a:ext cx="924247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Platform thread example</a:t>
            </a:r>
            <a:endParaRPr lang="en-IN" dirty="0"/>
          </a:p>
          <a:p>
            <a:r>
              <a:rPr lang="en-IN" b="1" dirty="0"/>
              <a:t>Example</a:t>
            </a:r>
            <a:endParaRPr lang="en-IN" dirty="0"/>
          </a:p>
          <a:p>
            <a:r>
              <a:rPr lang="en-IN" dirty="0"/>
              <a:t> class </a:t>
            </a:r>
            <a:r>
              <a:rPr lang="en-IN" dirty="0" err="1"/>
              <a:t>MyTh</a:t>
            </a:r>
            <a:r>
              <a:rPr lang="en-IN" dirty="0"/>
              <a:t> implements Runnable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public void run()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System.out.println</a:t>
            </a:r>
            <a:r>
              <a:rPr lang="en-IN" dirty="0"/>
              <a:t>("hello");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class </a:t>
            </a:r>
            <a:r>
              <a:rPr lang="en-IN" dirty="0" err="1"/>
              <a:t>MyThPl</a:t>
            </a:r>
            <a:endParaRPr lang="en-IN" dirty="0"/>
          </a:p>
          <a:p>
            <a:r>
              <a:rPr lang="en-IN" dirty="0"/>
              <a:t>{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public static void main(String </a:t>
            </a:r>
            <a:r>
              <a:rPr lang="en-IN" dirty="0" err="1"/>
              <a:t>ar</a:t>
            </a:r>
            <a:r>
              <a:rPr lang="en-IN" dirty="0"/>
              <a:t>[])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 </a:t>
            </a:r>
          </a:p>
          <a:p>
            <a:r>
              <a:rPr lang="en-IN" dirty="0" err="1"/>
              <a:t>MyTh</a:t>
            </a:r>
            <a:r>
              <a:rPr lang="en-IN" dirty="0"/>
              <a:t> r=new </a:t>
            </a:r>
            <a:r>
              <a:rPr lang="en-IN" dirty="0" err="1"/>
              <a:t>MyTh</a:t>
            </a:r>
            <a:r>
              <a:rPr lang="en-IN" dirty="0"/>
              <a:t>();</a:t>
            </a:r>
          </a:p>
          <a:p>
            <a:r>
              <a:rPr lang="en-IN" dirty="0"/>
              <a:t>Thread t= </a:t>
            </a:r>
            <a:r>
              <a:rPr lang="en-IN" dirty="0" err="1"/>
              <a:t>Thread.ofPlatform</a:t>
            </a:r>
            <a:r>
              <a:rPr lang="en-IN" dirty="0"/>
              <a:t>().start(r);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  <a:p>
            <a:r>
              <a:rPr lang="en-IN" b="1" dirty="0"/>
              <a:t>output</a:t>
            </a:r>
            <a:endParaRPr lang="en-IN" dirty="0"/>
          </a:p>
          <a:p>
            <a:r>
              <a:rPr lang="en-IN" dirty="0"/>
              <a:t>hello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02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A30F49-93BB-1A17-54F3-46BE3BDD055F}"/>
              </a:ext>
            </a:extLst>
          </p:cNvPr>
          <p:cNvSpPr txBox="1"/>
          <p:nvPr/>
        </p:nvSpPr>
        <p:spPr>
          <a:xfrm>
            <a:off x="1899139" y="394692"/>
            <a:ext cx="9242473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Platform thread example</a:t>
            </a:r>
            <a:endParaRPr lang="en-IN" dirty="0"/>
          </a:p>
          <a:p>
            <a:r>
              <a:rPr lang="en-IN" dirty="0"/>
              <a:t> </a:t>
            </a:r>
          </a:p>
          <a:p>
            <a:r>
              <a:rPr lang="en-IN" dirty="0"/>
              <a:t>class </a:t>
            </a:r>
            <a:r>
              <a:rPr lang="en-IN" dirty="0" err="1"/>
              <a:t>MyTh</a:t>
            </a:r>
            <a:r>
              <a:rPr lang="en-IN" dirty="0"/>
              <a:t> implements Runnable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public void run()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System.out.println</a:t>
            </a:r>
            <a:r>
              <a:rPr lang="en-IN" dirty="0"/>
              <a:t>("hello </a:t>
            </a:r>
            <a:r>
              <a:rPr lang="en-IN" dirty="0" err="1"/>
              <a:t>unstarted</a:t>
            </a:r>
            <a:r>
              <a:rPr lang="en-IN" dirty="0"/>
              <a:t>");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class </a:t>
            </a:r>
            <a:r>
              <a:rPr lang="en-IN" dirty="0" err="1"/>
              <a:t>MyThPlTwo</a:t>
            </a:r>
            <a:endParaRPr lang="en-IN" dirty="0"/>
          </a:p>
          <a:p>
            <a:r>
              <a:rPr lang="en-IN" dirty="0"/>
              <a:t>{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public static void main(String </a:t>
            </a:r>
            <a:r>
              <a:rPr lang="en-IN" dirty="0" err="1"/>
              <a:t>ar</a:t>
            </a:r>
            <a:r>
              <a:rPr lang="en-IN" dirty="0"/>
              <a:t>[])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 </a:t>
            </a:r>
          </a:p>
          <a:p>
            <a:r>
              <a:rPr lang="en-IN" dirty="0" err="1"/>
              <a:t>MyTh</a:t>
            </a:r>
            <a:r>
              <a:rPr lang="en-IN" dirty="0"/>
              <a:t> r=new </a:t>
            </a:r>
            <a:r>
              <a:rPr lang="en-IN" dirty="0" err="1"/>
              <a:t>MyTh</a:t>
            </a:r>
            <a:r>
              <a:rPr lang="en-IN" dirty="0"/>
              <a:t>();</a:t>
            </a:r>
          </a:p>
          <a:p>
            <a:r>
              <a:rPr lang="en-IN" dirty="0"/>
              <a:t>Thread t= </a:t>
            </a:r>
            <a:r>
              <a:rPr lang="en-IN" dirty="0" err="1"/>
              <a:t>Thread.ofPlatform</a:t>
            </a:r>
            <a:r>
              <a:rPr lang="en-IN" dirty="0"/>
              <a:t>().</a:t>
            </a:r>
            <a:r>
              <a:rPr lang="en-IN" dirty="0" err="1"/>
              <a:t>unstarted</a:t>
            </a:r>
            <a:r>
              <a:rPr lang="en-IN" dirty="0"/>
              <a:t>(r);</a:t>
            </a:r>
          </a:p>
          <a:p>
            <a:r>
              <a:rPr lang="en-IN" dirty="0" err="1"/>
              <a:t>t.start</a:t>
            </a:r>
            <a:r>
              <a:rPr lang="en-IN" dirty="0"/>
              <a:t>();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Output</a:t>
            </a:r>
          </a:p>
          <a:p>
            <a:r>
              <a:rPr lang="en-IN" dirty="0"/>
              <a:t>hello </a:t>
            </a:r>
            <a:r>
              <a:rPr lang="en-IN" dirty="0" err="1"/>
              <a:t>unstarted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604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B17269-3730-E034-D4CB-8B8AF10C7984}"/>
              </a:ext>
            </a:extLst>
          </p:cNvPr>
          <p:cNvSpPr txBox="1"/>
          <p:nvPr/>
        </p:nvSpPr>
        <p:spPr>
          <a:xfrm>
            <a:off x="3711526" y="2574388"/>
            <a:ext cx="4768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Creating virtual thread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29667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48EB0D-C2BA-9452-4DD6-EB0DA5D3B3AF}"/>
              </a:ext>
            </a:extLst>
          </p:cNvPr>
          <p:cNvSpPr txBox="1"/>
          <p:nvPr/>
        </p:nvSpPr>
        <p:spPr>
          <a:xfrm>
            <a:off x="2096086" y="1322363"/>
            <a:ext cx="73011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MyVirtual</a:t>
            </a:r>
            <a:r>
              <a:rPr lang="en-IN" dirty="0"/>
              <a:t>{</a:t>
            </a:r>
          </a:p>
          <a:p>
            <a:r>
              <a:rPr lang="en-IN" dirty="0"/>
              <a:t>public static void main(String </a:t>
            </a:r>
            <a:r>
              <a:rPr lang="en-IN" dirty="0" err="1"/>
              <a:t>ar</a:t>
            </a:r>
            <a:r>
              <a:rPr lang="en-IN" dirty="0"/>
              <a:t>[]){</a:t>
            </a:r>
          </a:p>
          <a:p>
            <a:r>
              <a:rPr lang="en-IN" dirty="0"/>
              <a:t>Thread </a:t>
            </a:r>
            <a:r>
              <a:rPr lang="en-IN" dirty="0" err="1"/>
              <a:t>thread</a:t>
            </a:r>
            <a:r>
              <a:rPr lang="en-IN" dirty="0"/>
              <a:t> = </a:t>
            </a:r>
            <a:r>
              <a:rPr lang="en-IN" dirty="0" err="1"/>
              <a:t>Thread.ofVirtual</a:t>
            </a:r>
            <a:r>
              <a:rPr lang="en-IN" dirty="0"/>
              <a:t>().start(() -&gt; </a:t>
            </a:r>
            <a:r>
              <a:rPr lang="en-IN" dirty="0" err="1"/>
              <a:t>System.out.println</a:t>
            </a:r>
            <a:r>
              <a:rPr lang="en-IN" dirty="0"/>
              <a:t>("Hello World!! I am Virtual Thread"));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try{</a:t>
            </a:r>
            <a:r>
              <a:rPr lang="en-IN" dirty="0" err="1"/>
              <a:t>thread.join</a:t>
            </a:r>
            <a:r>
              <a:rPr lang="en-IN" dirty="0"/>
              <a:t>();}catch(Exception ex){}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b="1" dirty="0"/>
              <a:t>output</a:t>
            </a:r>
          </a:p>
          <a:p>
            <a:r>
              <a:rPr lang="en-US" dirty="0"/>
              <a:t>Hello World!! I am Virtual Thread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95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E6ABF5-369E-DCF2-C430-0B1A3C3DBA7F}"/>
              </a:ext>
            </a:extLst>
          </p:cNvPr>
          <p:cNvSpPr txBox="1"/>
          <p:nvPr/>
        </p:nvSpPr>
        <p:spPr>
          <a:xfrm>
            <a:off x="1280159" y="335845"/>
            <a:ext cx="689316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MyVirtualThree</a:t>
            </a:r>
            <a:r>
              <a:rPr lang="en-IN" dirty="0"/>
              <a:t> implements Runnable</a:t>
            </a:r>
          </a:p>
          <a:p>
            <a:r>
              <a:rPr lang="en-IN" dirty="0"/>
              <a:t>{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public void run()</a:t>
            </a:r>
          </a:p>
          <a:p>
            <a:r>
              <a:rPr lang="en-IN" dirty="0"/>
              <a:t>{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("virtual thread");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static void main(String </a:t>
            </a:r>
            <a:r>
              <a:rPr lang="en-IN" dirty="0" err="1"/>
              <a:t>ar</a:t>
            </a:r>
            <a:r>
              <a:rPr lang="en-IN" dirty="0"/>
              <a:t>[])</a:t>
            </a:r>
          </a:p>
          <a:p>
            <a:r>
              <a:rPr lang="en-IN" dirty="0"/>
              <a:t>{</a:t>
            </a:r>
          </a:p>
          <a:p>
            <a:endParaRPr lang="en-IN" dirty="0"/>
          </a:p>
          <a:p>
            <a:r>
              <a:rPr lang="en-IN" dirty="0" err="1"/>
              <a:t>MyVirtualTwo</a:t>
            </a:r>
            <a:r>
              <a:rPr lang="en-IN" dirty="0"/>
              <a:t> </a:t>
            </a:r>
            <a:r>
              <a:rPr lang="en-IN" dirty="0" err="1"/>
              <a:t>obr</a:t>
            </a:r>
            <a:r>
              <a:rPr lang="en-IN" dirty="0"/>
              <a:t> = new </a:t>
            </a:r>
            <a:r>
              <a:rPr lang="en-IN" dirty="0" err="1"/>
              <a:t>MyVirtualTwo</a:t>
            </a:r>
            <a:r>
              <a:rPr lang="en-IN" dirty="0"/>
              <a:t>();</a:t>
            </a:r>
          </a:p>
          <a:p>
            <a:r>
              <a:rPr lang="en-IN" dirty="0"/>
              <a:t>Thread t=</a:t>
            </a:r>
            <a:r>
              <a:rPr lang="en-IN" dirty="0" err="1"/>
              <a:t>Thread.ofVirtual</a:t>
            </a:r>
            <a:r>
              <a:rPr lang="en-IN" dirty="0"/>
              <a:t>().start(</a:t>
            </a:r>
            <a:r>
              <a:rPr lang="en-IN" dirty="0" err="1"/>
              <a:t>obr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try{</a:t>
            </a:r>
            <a:r>
              <a:rPr lang="en-IN" dirty="0" err="1"/>
              <a:t>t.join</a:t>
            </a:r>
            <a:r>
              <a:rPr lang="en-IN" dirty="0"/>
              <a:t>();}catch(Exception ex){</a:t>
            </a:r>
            <a:r>
              <a:rPr lang="en-IN" dirty="0" err="1"/>
              <a:t>System.out.println</a:t>
            </a:r>
            <a:r>
              <a:rPr lang="en-IN" dirty="0"/>
              <a:t>(ex);}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Output</a:t>
            </a:r>
          </a:p>
          <a:p>
            <a:r>
              <a:rPr lang="en-IN"/>
              <a:t>virtual thread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249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356</Words>
  <Application>Microsoft Office PowerPoint</Application>
  <PresentationFormat>Widescreen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Rajiv Ranjan</dc:creator>
  <cp:lastModifiedBy>Rajiv Ranjan</cp:lastModifiedBy>
  <cp:revision>20</cp:revision>
  <dcterms:created xsi:type="dcterms:W3CDTF">2026-02-01T15:56:11Z</dcterms:created>
  <dcterms:modified xsi:type="dcterms:W3CDTF">2026-02-01T17:22:23Z</dcterms:modified>
</cp:coreProperties>
</file>